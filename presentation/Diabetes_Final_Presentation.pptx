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4" r:id="rId2"/>
    <p:sldId id="275"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301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Greet the audience. State project title, team and instructor. Keep brief — 30 seconds. Move to the next slide.</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PK"/>
          </a:p>
        </p:txBody>
      </p:sp>
      <p:sp>
        <p:nvSpPr>
          <p:cNvPr id="3" name="Notes Placeholder 2"/>
          <p:cNvSpPr>
            <a:spLocks noGrp="1"/>
          </p:cNvSpPr>
          <p:nvPr>
            <p:ph type="body" sz="quarter" idx="3"/>
          </p:nvPr>
        </p:nvSpPr>
        <p:spPr/>
        <p:txBody>
          <a:bodyPr/>
          <a:lstStyle/>
          <a:p>
            <a:r>
              <a:t>Walk through the outline in 30 seconds. Tell the audience the talk is structured as Problem → Data → Method → Results → Demo → Conclusion.</a:t>
            </a:r>
          </a:p>
        </p:txBody>
      </p:sp>
      <p:sp>
        <p:nvSpPr>
          <p:cNvPr id="4" name="Slide Number Placeholder 3"/>
          <p:cNvSpPr>
            <a:spLocks noGrp="1"/>
          </p:cNvSpPr>
          <p:nvPr>
            <p:ph type="sldNum" sz="quarter" idx="5"/>
          </p:nvPr>
        </p:nvSpPr>
        <p:spPr/>
        <p:txBody>
          <a:bodyPr/>
          <a:lstStyle/>
          <a:p>
            <a:endParaRPr lang="en-P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human impact. 'Diabetes is not a small problem — 537 million adults have it.' This frames why our project matters. Don't dwell more than 1 minute.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WHERE the data came from. BRFSS is a real CDC survey — that's why our model is grounded in actual public-health data. Emphasize the **21 features** count — this is what sir expects to hear explicitly.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Mention the 21 features are split into 3 categories. Highlight the SELECTED features shown in amber — these are the 5 most important ones according to our Random Forest model. Highlighted items in each column are the selected ones.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model upfront so the audience knows what we'll be training. ONE sentence explanation: 'A team of 200 decision trees that vote on the answer.' Then show the simple diagram. Why this model: best F1 + feature importance. Keep it under 1 minute.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block diagram sir wants. Three layers stacked vertically: INPUT on top (the raw data), METHODOLOGY in the middle (the 4 steps we performed), OUTPUT at the bottom (the actual numbers we got). Walk through them in 30 seconds — top to bottom.</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point: we dropped 1 636 duplicate rows. If we hadn't, the test set could have contained rows that the model already saw in training — inflating accuracy artificially. This is called 'data leakage' and is a viva-favourite question.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4 EDA charts: class balance (perfectly 50/50), BMI distribution, BMI boxplot, and BP/Cholesterol counts. Key takeaway: diabetic patients have visibly higher BMI and more HighBP / HighChol cases.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Heatmap shows feature relationships. The strongest correlations with diabetes are General Health (0.40), High Blood Pressure (0.37), BMI (0.29), and High Cholesterol (0.28). These are also the top features in the model — good cross-validation.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important methodology point. Mention 'data leakage' by name — it shows mastery. Explain we split first so the test set is truly unseen.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State clearly: this is supervised binary classification. We have labeled examples, two classes, and we use the patterns to predict diabetes for new patients.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4 supervised classifiers we considered. Random Forest (bottom-right) is highlighted with an amber border because we selected it. We tested all four to make a data-driven choice — not just pick a favourite.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honest: Logistic Regression actually has slightly higher accuracy. But Random Forest has the best F1 score AND gives us feature importance for free. F1 matters more in medical apps because we balance precision and recall. That's why we chose RF.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Confusion matrix on the left: 4 696 true negatives and 5 574 true positives. Recall of 0.79 means we caught 79% of real diabetics — this is what matters most in medical screening. False negatives are more dangerous than false positives. The 4 metric cards on the right are deliberately LARGE — sir values clear, prominent results.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identified the 5 most important risk factors entirely from data: General Health, High BP, BMI, Age, and High Cholesterol. These match what doctors would tell you — validating that the model learned something meaningful.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or describe the live app. If on Streamlit Cloud, show the URL. The app loads the trained model and lets anyone enter data to get an instant prediction. Mention this is your 'demo moment' if you can run it live.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conclusion slide — 4 BIG metric badges at the top show results PROMINENTLY (this is what gets marks for 'how we show results'). Below them: conclusion bullets (left), limitations (left), and likely Q&amp;A (right). End with 'Thank you — any questions?'. The two links at the bottom are clickable in slideshow mode.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muhammadammarff-design/diabetes-risk-prediction"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diabetesriskpredictions.streamlit.app/"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muhammadammarff-design/diabetes-risk-prediction"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diabetesriskpredictions.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280160"/>
            <a:ext cx="9144000" cy="36576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INTRODUCTION TO DATA SCIENCE  ·  FINAL PRESENTATION</a:t>
            </a:r>
          </a:p>
        </p:txBody>
      </p:sp>
      <p:sp>
        <p:nvSpPr>
          <p:cNvPr id="4" name="TextBox 3"/>
          <p:cNvSpPr txBox="1"/>
          <p:nvPr/>
        </p:nvSpPr>
        <p:spPr>
          <a:xfrm>
            <a:off x="822960" y="1783080"/>
            <a:ext cx="10972800" cy="961930"/>
          </a:xfrm>
          <a:prstGeom prst="rect">
            <a:avLst/>
          </a:prstGeom>
          <a:noFill/>
        </p:spPr>
        <p:txBody>
          <a:bodyPr wrap="square" lIns="0" tIns="0" rIns="0" bIns="0" anchor="t">
            <a:spAutoFit/>
          </a:bodyPr>
          <a:lstStyle/>
          <a:p>
            <a:pPr algn="l">
              <a:lnSpc>
                <a:spcPct val="115000"/>
              </a:lnSpc>
            </a:pPr>
            <a:r>
              <a:rPr lang="en-US" sz="2800" b="1" i="0" dirty="0">
                <a:solidFill>
                  <a:srgbClr val="2E2B29"/>
                </a:solidFill>
                <a:effectLst/>
                <a:latin typeface="Inter"/>
              </a:rPr>
              <a:t>Diabetes Risk Prediction Using Random Forest Classifier on BRFSS 2015 Health Indicators</a:t>
            </a:r>
            <a:endParaRPr lang="en-US" sz="2800" dirty="0"/>
          </a:p>
        </p:txBody>
      </p:sp>
      <p:sp>
        <p:nvSpPr>
          <p:cNvPr id="6" name="Rectangle 5"/>
          <p:cNvSpPr/>
          <p:nvPr/>
        </p:nvSpPr>
        <p:spPr>
          <a:xfrm>
            <a:off x="822960" y="4069080"/>
            <a:ext cx="914400" cy="3657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4343400"/>
            <a:ext cx="4572000" cy="274320"/>
          </a:xfrm>
          <a:prstGeom prst="rect">
            <a:avLst/>
          </a:prstGeom>
          <a:noFill/>
        </p:spPr>
        <p:txBody>
          <a:bodyPr wrap="square" lIns="0" tIns="0" rIns="0" bIns="0" anchor="t">
            <a:spAutoFit/>
          </a:bodyPr>
          <a:lstStyle/>
          <a:p>
            <a:pPr algn="l">
              <a:lnSpc>
                <a:spcPct val="115000"/>
              </a:lnSpc>
            </a:pPr>
            <a:r>
              <a:rPr sz="1000" b="1">
                <a:solidFill>
                  <a:srgbClr val="0F766E"/>
                </a:solidFill>
                <a:latin typeface="Calibri"/>
              </a:rPr>
              <a:t>GROUP</a:t>
            </a:r>
          </a:p>
        </p:txBody>
      </p:sp>
      <p:sp>
        <p:nvSpPr>
          <p:cNvPr id="8" name="TextBox 7"/>
          <p:cNvSpPr txBox="1"/>
          <p:nvPr/>
        </p:nvSpPr>
        <p:spPr>
          <a:xfrm>
            <a:off x="822960" y="4663440"/>
            <a:ext cx="5486400" cy="1002967"/>
          </a:xfrm>
          <a:prstGeom prst="rect">
            <a:avLst/>
          </a:prstGeom>
          <a:noFill/>
        </p:spPr>
        <p:txBody>
          <a:bodyPr wrap="square" lIns="0" tIns="0" rIns="0" bIns="0" anchor="t">
            <a:spAutoFit/>
          </a:bodyPr>
          <a:lstStyle/>
          <a:p>
            <a:pPr algn="l">
              <a:lnSpc>
                <a:spcPct val="150000"/>
              </a:lnSpc>
            </a:pPr>
            <a:r>
              <a:rPr sz="1500" b="0" dirty="0">
                <a:solidFill>
                  <a:srgbClr val="1E293B"/>
                </a:solidFill>
                <a:latin typeface="Calibri"/>
              </a:rPr>
              <a:t>Ali Raza</a:t>
            </a:r>
            <a:r>
              <a:rPr lang="en-US" sz="1500" dirty="0">
                <a:solidFill>
                  <a:srgbClr val="1E293B"/>
                </a:solidFill>
                <a:latin typeface="Calibri"/>
              </a:rPr>
              <a:t> </a:t>
            </a:r>
            <a:r>
              <a:rPr lang="en-US" sz="1500" b="0" dirty="0">
                <a:solidFill>
                  <a:srgbClr val="1E293B"/>
                </a:solidFill>
                <a:latin typeface="Calibri"/>
              </a:rPr>
              <a:t>-</a:t>
            </a:r>
            <a:r>
              <a:rPr sz="1500" b="0" dirty="0">
                <a:solidFill>
                  <a:srgbClr val="1E293B"/>
                </a:solidFill>
                <a:latin typeface="Calibri"/>
              </a:rPr>
              <a:t>  2540010</a:t>
            </a:r>
          </a:p>
          <a:p>
            <a:pPr algn="l">
              <a:lnSpc>
                <a:spcPct val="150000"/>
              </a:lnSpc>
            </a:pPr>
            <a:r>
              <a:rPr lang="en-US" sz="1500" dirty="0">
                <a:solidFill>
                  <a:srgbClr val="1E293B"/>
                </a:solidFill>
                <a:latin typeface="Calibri"/>
              </a:rPr>
              <a:t>M. </a:t>
            </a:r>
            <a:r>
              <a:rPr sz="1500" b="0" dirty="0">
                <a:solidFill>
                  <a:srgbClr val="1E293B"/>
                </a:solidFill>
                <a:latin typeface="Calibri"/>
              </a:rPr>
              <a:t>Ammar</a:t>
            </a:r>
            <a:r>
              <a:rPr lang="en-US" sz="1500" b="0" dirty="0">
                <a:solidFill>
                  <a:srgbClr val="1E293B"/>
                </a:solidFill>
                <a:latin typeface="Calibri"/>
              </a:rPr>
              <a:t> -</a:t>
            </a:r>
            <a:r>
              <a:rPr sz="1500" b="0" dirty="0">
                <a:solidFill>
                  <a:srgbClr val="1E293B"/>
                </a:solidFill>
                <a:latin typeface="Calibri"/>
              </a:rPr>
              <a:t>  254000</a:t>
            </a:r>
            <a:r>
              <a:rPr lang="en-US" sz="1500" b="0" dirty="0">
                <a:solidFill>
                  <a:srgbClr val="1E293B"/>
                </a:solidFill>
                <a:latin typeface="Calibri"/>
              </a:rPr>
              <a:t>4</a:t>
            </a:r>
            <a:endParaRPr sz="1500" b="0" dirty="0">
              <a:solidFill>
                <a:srgbClr val="1E293B"/>
              </a:solidFill>
              <a:latin typeface="Calibri"/>
            </a:endParaRPr>
          </a:p>
          <a:p>
            <a:pPr algn="l">
              <a:lnSpc>
                <a:spcPct val="150000"/>
              </a:lnSpc>
            </a:pPr>
            <a:r>
              <a:rPr sz="1500" b="0" dirty="0">
                <a:solidFill>
                  <a:srgbClr val="1E293B"/>
                </a:solidFill>
                <a:latin typeface="Calibri"/>
              </a:rPr>
              <a:t>Taha Ali</a:t>
            </a:r>
            <a:r>
              <a:rPr lang="en-US" sz="1500" b="0" dirty="0">
                <a:solidFill>
                  <a:srgbClr val="1E293B"/>
                </a:solidFill>
                <a:latin typeface="Calibri"/>
              </a:rPr>
              <a:t> -</a:t>
            </a:r>
            <a:r>
              <a:rPr sz="1500" b="0" dirty="0">
                <a:solidFill>
                  <a:srgbClr val="1E293B"/>
                </a:solidFill>
                <a:latin typeface="Calibri"/>
              </a:rPr>
              <a:t>  2540008</a:t>
            </a:r>
          </a:p>
        </p:txBody>
      </p:sp>
      <p:sp>
        <p:nvSpPr>
          <p:cNvPr id="9" name="TextBox 8"/>
          <p:cNvSpPr txBox="1"/>
          <p:nvPr/>
        </p:nvSpPr>
        <p:spPr>
          <a:xfrm>
            <a:off x="6858000" y="4343400"/>
            <a:ext cx="4572000" cy="274320"/>
          </a:xfrm>
          <a:prstGeom prst="rect">
            <a:avLst/>
          </a:prstGeom>
          <a:noFill/>
        </p:spPr>
        <p:txBody>
          <a:bodyPr wrap="square" lIns="0" tIns="0" rIns="0" bIns="0" anchor="t">
            <a:spAutoFit/>
          </a:bodyPr>
          <a:lstStyle/>
          <a:p>
            <a:pPr algn="l">
              <a:lnSpc>
                <a:spcPct val="115000"/>
              </a:lnSpc>
            </a:pPr>
            <a:r>
              <a:rPr sz="1000" b="1">
                <a:solidFill>
                  <a:srgbClr val="0F766E"/>
                </a:solidFill>
                <a:latin typeface="Calibri"/>
              </a:rPr>
              <a:t>INSTRUCTOR</a:t>
            </a:r>
          </a:p>
        </p:txBody>
      </p:sp>
      <p:sp>
        <p:nvSpPr>
          <p:cNvPr id="10" name="TextBox 9"/>
          <p:cNvSpPr txBox="1"/>
          <p:nvPr/>
        </p:nvSpPr>
        <p:spPr>
          <a:xfrm>
            <a:off x="6858000" y="4663440"/>
            <a:ext cx="4572000" cy="365760"/>
          </a:xfrm>
          <a:prstGeom prst="rect">
            <a:avLst/>
          </a:prstGeom>
          <a:noFill/>
        </p:spPr>
        <p:txBody>
          <a:bodyPr wrap="square" lIns="0" tIns="0" rIns="0" bIns="0" anchor="t">
            <a:spAutoFit/>
          </a:bodyPr>
          <a:lstStyle/>
          <a:p>
            <a:pPr algn="l">
              <a:lnSpc>
                <a:spcPct val="115000"/>
              </a:lnSpc>
            </a:pPr>
            <a:r>
              <a:rPr sz="1500" b="0">
                <a:solidFill>
                  <a:srgbClr val="1E293B"/>
                </a:solidFill>
                <a:latin typeface="Calibri"/>
              </a:rPr>
              <a:t>Sir Zaki</a:t>
            </a:r>
          </a:p>
        </p:txBody>
      </p:sp>
      <p:sp>
        <p:nvSpPr>
          <p:cNvPr id="11" name="TextBox 10"/>
          <p:cNvSpPr txBox="1"/>
          <p:nvPr/>
        </p:nvSpPr>
        <p:spPr>
          <a:xfrm>
            <a:off x="6858000" y="5212080"/>
            <a:ext cx="4572000" cy="274320"/>
          </a:xfrm>
          <a:prstGeom prst="rect">
            <a:avLst/>
          </a:prstGeom>
          <a:noFill/>
        </p:spPr>
        <p:txBody>
          <a:bodyPr wrap="square" lIns="0" tIns="0" rIns="0" bIns="0" anchor="t">
            <a:spAutoFit/>
          </a:bodyPr>
          <a:lstStyle/>
          <a:p>
            <a:pPr algn="l">
              <a:lnSpc>
                <a:spcPct val="115000"/>
              </a:lnSpc>
            </a:pPr>
            <a:r>
              <a:rPr sz="1000" b="1">
                <a:solidFill>
                  <a:srgbClr val="0F766E"/>
                </a:solidFill>
                <a:latin typeface="Calibri"/>
              </a:rPr>
              <a:t>SEMESTER · DATE</a:t>
            </a:r>
          </a:p>
        </p:txBody>
      </p:sp>
      <p:sp>
        <p:nvSpPr>
          <p:cNvPr id="12" name="TextBox 11"/>
          <p:cNvSpPr txBox="1"/>
          <p:nvPr/>
        </p:nvSpPr>
        <p:spPr>
          <a:xfrm>
            <a:off x="6858000" y="5532120"/>
            <a:ext cx="4572000" cy="365760"/>
          </a:xfrm>
          <a:prstGeom prst="rect">
            <a:avLst/>
          </a:prstGeom>
          <a:noFill/>
        </p:spPr>
        <p:txBody>
          <a:bodyPr wrap="square" lIns="0" tIns="0" rIns="0" bIns="0" anchor="t">
            <a:spAutoFit/>
          </a:bodyPr>
          <a:lstStyle/>
          <a:p>
            <a:pPr algn="l">
              <a:lnSpc>
                <a:spcPct val="115000"/>
              </a:lnSpc>
            </a:pPr>
            <a:r>
              <a:rPr sz="1500" b="0">
                <a:solidFill>
                  <a:srgbClr val="1E293B"/>
                </a:solidFill>
                <a:latin typeface="Calibri"/>
              </a:rPr>
              <a:t>Semester 2  ·  2026</a:t>
            </a:r>
          </a:p>
        </p:txBody>
      </p:sp>
      <p:sp>
        <p:nvSpPr>
          <p:cNvPr id="13" name="TextBox 12">
            <a:hlinkClick r:id="rId3"/>
            <a:extLst>
              <a:ext uri="{FF2B5EF4-FFF2-40B4-BE49-F238E27FC236}">
                <a16:creationId xmlns:a16="http://schemas.microsoft.com/office/drawing/2014/main" id="{D23EE5DD-DD58-3AF3-DDA3-8D3AFB5A3C7A}"/>
              </a:ext>
            </a:extLst>
          </p:cNvPr>
          <p:cNvSpPr txBox="1"/>
          <p:nvPr/>
        </p:nvSpPr>
        <p:spPr>
          <a:xfrm>
            <a:off x="640080" y="6400800"/>
            <a:ext cx="1517904" cy="169277"/>
          </a:xfrm>
          <a:prstGeom prst="rect">
            <a:avLst/>
          </a:prstGeom>
          <a:noFill/>
        </p:spPr>
        <p:txBody>
          <a:bodyPr wrap="square" lIns="0" tIns="0" rIns="0" bIns="0">
            <a:spAutoFit/>
          </a:bodyPr>
          <a:lstStyle/>
          <a:p>
            <a:r>
              <a:rPr sz="1100" b="1" dirty="0">
                <a:solidFill>
                  <a:srgbClr val="475569"/>
                </a:solidFill>
                <a:latin typeface="Calibri"/>
              </a:rPr>
              <a:t>GitHub:  ·      </a:t>
            </a:r>
            <a:r>
              <a:rPr sz="1100" b="1" dirty="0">
                <a:solidFill>
                  <a:srgbClr val="475569"/>
                </a:solidFill>
                <a:latin typeface="Calibri"/>
                <a:hlinkClick r:id="rId4"/>
              </a:rPr>
              <a:t>Live demo:</a:t>
            </a:r>
            <a:endParaRPr sz="1100" b="0" u="sng" dirty="0">
              <a:solidFill>
                <a:srgbClr val="0F766E"/>
              </a:solidFill>
              <a:latin typeface="Calibri"/>
              <a:hlinkClick r:id="rId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2 / 17</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OUTLINE</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What we will cover today</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5486400" cy="3413050"/>
          </a:xfrm>
          <a:prstGeom prst="rect">
            <a:avLst/>
          </a:prstGeom>
          <a:noFill/>
        </p:spPr>
        <p:txBody>
          <a:bodyPr wrap="square" lIns="0" tIns="0" rIns="0" bIns="0">
            <a:spAutoFit/>
          </a:bodyPr>
          <a:lstStyle/>
          <a:p>
            <a:pPr algn="l">
              <a:lnSpc>
                <a:spcPct val="135000"/>
              </a:lnSpc>
              <a:spcAft>
                <a:spcPts val="800"/>
              </a:spcAft>
            </a:pPr>
            <a:r>
              <a:rPr sz="1400" b="1" dirty="0">
                <a:solidFill>
                  <a:srgbClr val="F59E0B"/>
                </a:solidFill>
                <a:latin typeface="Calibri"/>
              </a:rPr>
              <a:t>·  </a:t>
            </a:r>
            <a:r>
              <a:rPr sz="1400" dirty="0">
                <a:solidFill>
                  <a:srgbClr val="1E293B"/>
                </a:solidFill>
                <a:latin typeface="Calibri"/>
              </a:rPr>
              <a:t>01  ·</a:t>
            </a:r>
            <a:r>
              <a:rPr lang="en-US" sz="1400" dirty="0">
                <a:solidFill>
                  <a:srgbClr val="1E293B"/>
                </a:solidFill>
                <a:latin typeface="Calibri"/>
              </a:rPr>
              <a:t> </a:t>
            </a:r>
            <a:r>
              <a:rPr lang="en-US" sz="1400" b="0" i="0" dirty="0">
                <a:solidFill>
                  <a:srgbClr val="2E2B29"/>
                </a:solidFill>
                <a:effectLst/>
                <a:latin typeface="baselGrotesk"/>
              </a:rPr>
              <a:t>Introduction &amp; Problem</a:t>
            </a:r>
            <a:r>
              <a:rPr sz="1400" dirty="0">
                <a:solidFill>
                  <a:srgbClr val="1E293B"/>
                </a:solidFill>
                <a:latin typeface="Calibri"/>
              </a:rPr>
              <a:t>  </a:t>
            </a:r>
          </a:p>
          <a:p>
            <a:pPr algn="l">
              <a:lnSpc>
                <a:spcPct val="135000"/>
              </a:lnSpc>
              <a:spcAft>
                <a:spcPts val="800"/>
              </a:spcAft>
            </a:pPr>
            <a:r>
              <a:rPr sz="1400" b="1" dirty="0">
                <a:solidFill>
                  <a:srgbClr val="F59E0B"/>
                </a:solidFill>
                <a:latin typeface="Calibri"/>
              </a:rPr>
              <a:t>·  </a:t>
            </a:r>
            <a:r>
              <a:rPr sz="1400" dirty="0">
                <a:solidFill>
                  <a:srgbClr val="1E293B"/>
                </a:solidFill>
                <a:latin typeface="Calibri"/>
              </a:rPr>
              <a:t>02  ·</a:t>
            </a:r>
            <a:r>
              <a:rPr lang="en-US" sz="1400" dirty="0">
                <a:solidFill>
                  <a:srgbClr val="1E293B"/>
                </a:solidFill>
                <a:latin typeface="Calibri"/>
              </a:rPr>
              <a:t> </a:t>
            </a:r>
            <a:r>
              <a:rPr lang="en-US" sz="1400" b="0" i="0" dirty="0">
                <a:solidFill>
                  <a:srgbClr val="2E2B29"/>
                </a:solidFill>
                <a:effectLst/>
                <a:latin typeface="baselGrotesk"/>
              </a:rPr>
              <a:t>Dataset Overview</a:t>
            </a:r>
            <a:endParaRPr sz="1400" dirty="0">
              <a:solidFill>
                <a:srgbClr val="1E293B"/>
              </a:solidFill>
              <a:latin typeface="Calibri"/>
            </a:endParaRPr>
          </a:p>
          <a:p>
            <a:pPr algn="l">
              <a:lnSpc>
                <a:spcPct val="135000"/>
              </a:lnSpc>
              <a:spcAft>
                <a:spcPts val="800"/>
              </a:spcAft>
            </a:pPr>
            <a:r>
              <a:rPr sz="1400" b="1" dirty="0">
                <a:solidFill>
                  <a:srgbClr val="F59E0B"/>
                </a:solidFill>
                <a:latin typeface="Calibri"/>
              </a:rPr>
              <a:t>·  </a:t>
            </a:r>
            <a:r>
              <a:rPr sz="1400" dirty="0">
                <a:solidFill>
                  <a:srgbClr val="1E293B"/>
                </a:solidFill>
                <a:latin typeface="Calibri"/>
              </a:rPr>
              <a:t>03  ·</a:t>
            </a:r>
            <a:r>
              <a:rPr lang="en-US" sz="1400" dirty="0">
                <a:solidFill>
                  <a:srgbClr val="1E293B"/>
                </a:solidFill>
                <a:latin typeface="Calibri"/>
              </a:rPr>
              <a:t> </a:t>
            </a:r>
            <a:r>
              <a:rPr lang="en-US" sz="1400" b="0" i="0" dirty="0">
                <a:solidFill>
                  <a:srgbClr val="2E2B29"/>
                </a:solidFill>
                <a:effectLst/>
                <a:latin typeface="baselGrotesk"/>
              </a:rPr>
              <a:t>Features &amp; Target</a:t>
            </a:r>
            <a:endParaRPr sz="1400" dirty="0">
              <a:solidFill>
                <a:srgbClr val="1E293B"/>
              </a:solidFill>
              <a:latin typeface="Calibri"/>
            </a:endParaRPr>
          </a:p>
          <a:p>
            <a:pPr algn="l">
              <a:lnSpc>
                <a:spcPct val="135000"/>
              </a:lnSpc>
              <a:spcAft>
                <a:spcPts val="800"/>
              </a:spcAft>
            </a:pPr>
            <a:r>
              <a:rPr sz="1400" b="1" dirty="0">
                <a:solidFill>
                  <a:srgbClr val="F59E0B"/>
                </a:solidFill>
                <a:latin typeface="Calibri"/>
              </a:rPr>
              <a:t>·  </a:t>
            </a:r>
            <a:r>
              <a:rPr sz="1400" dirty="0">
                <a:solidFill>
                  <a:srgbClr val="1E293B"/>
                </a:solidFill>
                <a:latin typeface="Calibri"/>
              </a:rPr>
              <a:t>04  ·</a:t>
            </a:r>
            <a:r>
              <a:rPr lang="en-US" sz="1400" dirty="0">
                <a:solidFill>
                  <a:srgbClr val="1E293B"/>
                </a:solidFill>
                <a:latin typeface="Calibri"/>
              </a:rPr>
              <a:t> </a:t>
            </a:r>
            <a:r>
              <a:rPr lang="en-US" sz="1400" b="0" i="0" dirty="0">
                <a:solidFill>
                  <a:srgbClr val="2E2B29"/>
                </a:solidFill>
                <a:effectLst/>
                <a:latin typeface="baselGrotesk"/>
              </a:rPr>
              <a:t>Methodology &amp; Block Diagram</a:t>
            </a:r>
            <a:endParaRPr sz="1400" dirty="0">
              <a:solidFill>
                <a:srgbClr val="1E293B"/>
              </a:solidFill>
              <a:latin typeface="Calibri"/>
            </a:endParaRPr>
          </a:p>
          <a:p>
            <a:pPr algn="l">
              <a:lnSpc>
                <a:spcPct val="135000"/>
              </a:lnSpc>
              <a:spcAft>
                <a:spcPts val="800"/>
              </a:spcAft>
            </a:pPr>
            <a:r>
              <a:rPr sz="1400" b="1" dirty="0">
                <a:solidFill>
                  <a:srgbClr val="F59E0B"/>
                </a:solidFill>
                <a:latin typeface="Calibri"/>
              </a:rPr>
              <a:t>·  </a:t>
            </a:r>
            <a:r>
              <a:rPr sz="1400" dirty="0">
                <a:solidFill>
                  <a:srgbClr val="1E293B"/>
                </a:solidFill>
                <a:latin typeface="Calibri"/>
              </a:rPr>
              <a:t>05  ·</a:t>
            </a:r>
            <a:r>
              <a:rPr lang="en-US" sz="1400" dirty="0">
                <a:solidFill>
                  <a:srgbClr val="1E293B"/>
                </a:solidFill>
                <a:latin typeface="Calibri"/>
              </a:rPr>
              <a:t> </a:t>
            </a:r>
            <a:r>
              <a:rPr lang="en-US" sz="1400" b="0" i="0" dirty="0">
                <a:solidFill>
                  <a:srgbClr val="2E2B29"/>
                </a:solidFill>
                <a:effectLst/>
                <a:latin typeface="baselGrotesk"/>
              </a:rPr>
              <a:t>Data Cleaning &amp; Preprocessing</a:t>
            </a:r>
            <a:endParaRPr sz="1400" dirty="0">
              <a:solidFill>
                <a:srgbClr val="1E293B"/>
              </a:solidFill>
              <a:latin typeface="Calibri"/>
            </a:endParaRPr>
          </a:p>
          <a:p>
            <a:pPr algn="l">
              <a:lnSpc>
                <a:spcPct val="135000"/>
              </a:lnSpc>
              <a:spcAft>
                <a:spcPts val="800"/>
              </a:spcAft>
            </a:pPr>
            <a:r>
              <a:rPr sz="1400" b="1" dirty="0">
                <a:solidFill>
                  <a:srgbClr val="F59E0B"/>
                </a:solidFill>
                <a:latin typeface="Calibri"/>
              </a:rPr>
              <a:t>·  </a:t>
            </a:r>
            <a:r>
              <a:rPr sz="1400" dirty="0">
                <a:solidFill>
                  <a:srgbClr val="1E293B"/>
                </a:solidFill>
                <a:latin typeface="Calibri"/>
              </a:rPr>
              <a:t>06  ·</a:t>
            </a:r>
            <a:r>
              <a:rPr lang="en-US" sz="1400" dirty="0">
                <a:solidFill>
                  <a:srgbClr val="1E293B"/>
                </a:solidFill>
                <a:latin typeface="Calibri"/>
              </a:rPr>
              <a:t> </a:t>
            </a:r>
            <a:r>
              <a:rPr lang="en-US" sz="1400" b="0" i="0" dirty="0">
                <a:solidFill>
                  <a:srgbClr val="2E2B29"/>
                </a:solidFill>
                <a:effectLst/>
                <a:latin typeface="baselGrotesk"/>
              </a:rPr>
              <a:t>EDA &amp; Correlation</a:t>
            </a:r>
            <a:endParaRPr sz="1400" dirty="0">
              <a:solidFill>
                <a:srgbClr val="1E293B"/>
              </a:solidFill>
              <a:latin typeface="Calibri"/>
            </a:endParaRPr>
          </a:p>
          <a:p>
            <a:pPr algn="l">
              <a:lnSpc>
                <a:spcPct val="135000"/>
              </a:lnSpc>
              <a:spcAft>
                <a:spcPts val="800"/>
              </a:spcAft>
            </a:pPr>
            <a:r>
              <a:rPr sz="1400" b="1" dirty="0">
                <a:solidFill>
                  <a:srgbClr val="F59E0B"/>
                </a:solidFill>
                <a:latin typeface="Calibri"/>
              </a:rPr>
              <a:t>·  </a:t>
            </a:r>
            <a:r>
              <a:rPr sz="1400" dirty="0">
                <a:solidFill>
                  <a:srgbClr val="1E293B"/>
                </a:solidFill>
                <a:latin typeface="Calibri"/>
              </a:rPr>
              <a:t>07  ·</a:t>
            </a:r>
            <a:r>
              <a:rPr lang="en-US" sz="1400" b="0" i="0" dirty="0">
                <a:solidFill>
                  <a:srgbClr val="2E2B29"/>
                </a:solidFill>
                <a:effectLst/>
                <a:latin typeface="baselGrotesk"/>
              </a:rPr>
              <a:t>Train/Test Split &amp; Models</a:t>
            </a:r>
            <a:endParaRPr sz="1400" dirty="0">
              <a:solidFill>
                <a:srgbClr val="1E293B"/>
              </a:solidFill>
              <a:latin typeface="Calibri"/>
            </a:endParaRPr>
          </a:p>
          <a:p>
            <a:pPr algn="l">
              <a:lnSpc>
                <a:spcPct val="135000"/>
              </a:lnSpc>
              <a:spcAft>
                <a:spcPts val="800"/>
              </a:spcAft>
            </a:pPr>
            <a:r>
              <a:rPr sz="1400" b="1" dirty="0">
                <a:solidFill>
                  <a:srgbClr val="F59E0B"/>
                </a:solidFill>
                <a:latin typeface="Calibri"/>
              </a:rPr>
              <a:t>·  </a:t>
            </a:r>
            <a:r>
              <a:rPr sz="1400" dirty="0">
                <a:solidFill>
                  <a:srgbClr val="1E293B"/>
                </a:solidFill>
                <a:latin typeface="Calibri"/>
              </a:rPr>
              <a:t>08  ·</a:t>
            </a:r>
            <a:r>
              <a:rPr lang="en-US" sz="1400" dirty="0">
                <a:solidFill>
                  <a:srgbClr val="1E293B"/>
                </a:solidFill>
                <a:latin typeface="Calibri"/>
              </a:rPr>
              <a:t> </a:t>
            </a:r>
            <a:r>
              <a:rPr lang="en-US" sz="1400" b="0" i="0" dirty="0">
                <a:solidFill>
                  <a:srgbClr val="2E2B29"/>
                </a:solidFill>
                <a:effectLst/>
                <a:latin typeface="baselGrotesk"/>
              </a:rPr>
              <a:t>Results: Random Forest</a:t>
            </a:r>
          </a:p>
          <a:p>
            <a:pPr>
              <a:lnSpc>
                <a:spcPct val="135000"/>
              </a:lnSpc>
              <a:spcAft>
                <a:spcPts val="800"/>
              </a:spcAft>
            </a:pPr>
            <a:r>
              <a:rPr lang="en-US" sz="1400" b="1" dirty="0">
                <a:solidFill>
                  <a:srgbClr val="F59E0B"/>
                </a:solidFill>
                <a:latin typeface="Calibri"/>
              </a:rPr>
              <a:t>·  </a:t>
            </a:r>
            <a:r>
              <a:rPr lang="en-US" sz="1400" dirty="0">
                <a:solidFill>
                  <a:srgbClr val="1E293B"/>
                </a:solidFill>
                <a:latin typeface="Calibri"/>
              </a:rPr>
              <a:t>09  · </a:t>
            </a:r>
            <a:r>
              <a:rPr lang="en-US" sz="1400" b="0" i="0" dirty="0">
                <a:solidFill>
                  <a:srgbClr val="2E2B29"/>
                </a:solidFill>
                <a:effectLst/>
                <a:latin typeface="baselGrotesk"/>
              </a:rPr>
              <a:t>Key Insights + Deployment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3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01  ·  WHY THIS MATTERS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The diabetes problem</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6675120" cy="4114800"/>
          </a:xfrm>
          <a:prstGeom prst="rect">
            <a:avLst/>
          </a:prstGeom>
          <a:noFill/>
        </p:spPr>
        <p:txBody>
          <a:bodyPr wrap="square" lIns="0" tIns="0" rIns="0" bIns="0">
            <a:spAutoFit/>
          </a:bodyPr>
          <a:lstStyle/>
          <a:p>
            <a:pPr algn="l">
              <a:lnSpc>
                <a:spcPct val="145000"/>
              </a:lnSpc>
              <a:spcAft>
                <a:spcPts val="1000"/>
              </a:spcAft>
            </a:pPr>
            <a:r>
              <a:rPr sz="1500" b="1">
                <a:solidFill>
                  <a:srgbClr val="F59E0B"/>
                </a:solidFill>
                <a:latin typeface="Calibri"/>
              </a:rPr>
              <a:t>■  </a:t>
            </a:r>
            <a:r>
              <a:rPr sz="1500">
                <a:solidFill>
                  <a:srgbClr val="475569"/>
                </a:solidFill>
                <a:latin typeface="Calibri"/>
              </a:rPr>
              <a:t>Diabetes affects 1 in 11 adults worldwide (~537 million people).</a:t>
            </a:r>
          </a:p>
          <a:p>
            <a:pPr algn="l">
              <a:lnSpc>
                <a:spcPct val="145000"/>
              </a:lnSpc>
              <a:spcAft>
                <a:spcPts val="1000"/>
              </a:spcAft>
            </a:pPr>
            <a:r>
              <a:rPr sz="1500" b="1">
                <a:solidFill>
                  <a:srgbClr val="F59E0B"/>
                </a:solidFill>
                <a:latin typeface="Calibri"/>
              </a:rPr>
              <a:t>■  </a:t>
            </a:r>
            <a:r>
              <a:rPr sz="1500">
                <a:solidFill>
                  <a:srgbClr val="475569"/>
                </a:solidFill>
                <a:latin typeface="Calibri"/>
              </a:rPr>
              <a:t>Early detection drastically reduces complications and costs.</a:t>
            </a:r>
          </a:p>
          <a:p>
            <a:pPr algn="l">
              <a:lnSpc>
                <a:spcPct val="145000"/>
              </a:lnSpc>
              <a:spcAft>
                <a:spcPts val="1000"/>
              </a:spcAft>
            </a:pPr>
            <a:r>
              <a:rPr sz="1500" b="1">
                <a:solidFill>
                  <a:srgbClr val="F59E0B"/>
                </a:solidFill>
                <a:latin typeface="Calibri"/>
              </a:rPr>
              <a:t>■  </a:t>
            </a:r>
            <a:r>
              <a:rPr sz="1500">
                <a:solidFill>
                  <a:srgbClr val="475569"/>
                </a:solidFill>
                <a:latin typeface="Calibri"/>
              </a:rPr>
              <a:t>Many people are unaware they have prediabetes or diabetes.</a:t>
            </a:r>
          </a:p>
          <a:p>
            <a:pPr algn="l">
              <a:lnSpc>
                <a:spcPct val="145000"/>
              </a:lnSpc>
              <a:spcAft>
                <a:spcPts val="1000"/>
              </a:spcAft>
            </a:pPr>
            <a:r>
              <a:rPr sz="1500" b="1">
                <a:solidFill>
                  <a:srgbClr val="F59E0B"/>
                </a:solidFill>
                <a:latin typeface="Calibri"/>
              </a:rPr>
              <a:t>■  </a:t>
            </a:r>
            <a:r>
              <a:rPr sz="1500">
                <a:solidFill>
                  <a:srgbClr val="475569"/>
                </a:solidFill>
                <a:latin typeface="Calibri"/>
              </a:rPr>
              <a:t>Doctors need low-cost, fast screening tools.</a:t>
            </a:r>
          </a:p>
          <a:p>
            <a:pPr algn="l">
              <a:lnSpc>
                <a:spcPct val="145000"/>
              </a:lnSpc>
              <a:spcAft>
                <a:spcPts val="1000"/>
              </a:spcAft>
            </a:pPr>
            <a:r>
              <a:rPr sz="1500" b="1">
                <a:solidFill>
                  <a:srgbClr val="F59E0B"/>
                </a:solidFill>
                <a:latin typeface="Calibri"/>
              </a:rPr>
              <a:t>■  </a:t>
            </a:r>
            <a:r>
              <a:rPr sz="1500">
                <a:solidFill>
                  <a:srgbClr val="475569"/>
                </a:solidFill>
                <a:latin typeface="Calibri"/>
              </a:rPr>
              <a:t>Patient survey data is cheap to collect — no lab tests required.</a:t>
            </a:r>
          </a:p>
        </p:txBody>
      </p:sp>
      <p:sp>
        <p:nvSpPr>
          <p:cNvPr id="9" name="Rectangle 8"/>
          <p:cNvSpPr/>
          <p:nvPr/>
        </p:nvSpPr>
        <p:spPr>
          <a:xfrm>
            <a:off x="7589520" y="2194560"/>
            <a:ext cx="4023360" cy="365760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2514600"/>
            <a:ext cx="3474720" cy="32004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GLOBAL IMPACT</a:t>
            </a:r>
          </a:p>
        </p:txBody>
      </p:sp>
      <p:sp>
        <p:nvSpPr>
          <p:cNvPr id="11" name="TextBox 10"/>
          <p:cNvSpPr txBox="1"/>
          <p:nvPr/>
        </p:nvSpPr>
        <p:spPr>
          <a:xfrm>
            <a:off x="7863840" y="2971800"/>
            <a:ext cx="3474720" cy="1371600"/>
          </a:xfrm>
          <a:prstGeom prst="rect">
            <a:avLst/>
          </a:prstGeom>
          <a:noFill/>
        </p:spPr>
        <p:txBody>
          <a:bodyPr wrap="square" lIns="0" tIns="0" rIns="0" bIns="0" anchor="t">
            <a:spAutoFit/>
          </a:bodyPr>
          <a:lstStyle/>
          <a:p>
            <a:pPr algn="l">
              <a:lnSpc>
                <a:spcPct val="115000"/>
              </a:lnSpc>
            </a:pPr>
            <a:r>
              <a:rPr sz="7200" b="1">
                <a:solidFill>
                  <a:srgbClr val="0B4F4A"/>
                </a:solidFill>
                <a:latin typeface="Calibri"/>
              </a:rPr>
              <a:t>537M</a:t>
            </a:r>
          </a:p>
        </p:txBody>
      </p:sp>
      <p:sp>
        <p:nvSpPr>
          <p:cNvPr id="12" name="TextBox 11"/>
          <p:cNvSpPr txBox="1"/>
          <p:nvPr/>
        </p:nvSpPr>
        <p:spPr>
          <a:xfrm>
            <a:off x="7863840" y="4389120"/>
            <a:ext cx="3474720" cy="457200"/>
          </a:xfrm>
          <a:prstGeom prst="rect">
            <a:avLst/>
          </a:prstGeom>
          <a:noFill/>
        </p:spPr>
        <p:txBody>
          <a:bodyPr wrap="square" lIns="0" tIns="0" rIns="0" bIns="0" anchor="t">
            <a:spAutoFit/>
          </a:bodyPr>
          <a:lstStyle/>
          <a:p>
            <a:pPr algn="l">
              <a:lnSpc>
                <a:spcPct val="115000"/>
              </a:lnSpc>
            </a:pPr>
            <a:r>
              <a:rPr sz="1400" b="0">
                <a:solidFill>
                  <a:srgbClr val="475569"/>
                </a:solidFill>
                <a:latin typeface="Calibri"/>
              </a:rPr>
              <a:t>adults living with diabetes</a:t>
            </a:r>
          </a:p>
        </p:txBody>
      </p:sp>
      <p:sp>
        <p:nvSpPr>
          <p:cNvPr id="13" name="TextBox 12"/>
          <p:cNvSpPr txBox="1"/>
          <p:nvPr/>
        </p:nvSpPr>
        <p:spPr>
          <a:xfrm>
            <a:off x="7863840" y="5029200"/>
            <a:ext cx="3474720" cy="640080"/>
          </a:xfrm>
          <a:prstGeom prst="rect">
            <a:avLst/>
          </a:prstGeom>
          <a:noFill/>
        </p:spPr>
        <p:txBody>
          <a:bodyPr wrap="square" lIns="0" tIns="0" rIns="0" bIns="0" anchor="t">
            <a:spAutoFit/>
          </a:bodyPr>
          <a:lstStyle/>
          <a:p>
            <a:pPr algn="l">
              <a:lnSpc>
                <a:spcPct val="115000"/>
              </a:lnSpc>
            </a:pPr>
            <a:r>
              <a:rPr sz="1000" b="0">
                <a:solidFill>
                  <a:srgbClr val="94A3B8"/>
                </a:solidFill>
                <a:latin typeface="Calibri"/>
              </a:rPr>
              <a:t>Source: IDF Diabetes Atlas 2021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4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02  ·  DATA</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Dataset overview</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5943600" cy="4114800"/>
          </a:xfrm>
          <a:prstGeom prst="rect">
            <a:avLst/>
          </a:prstGeom>
          <a:noFill/>
        </p:spPr>
        <p:txBody>
          <a:bodyPr wrap="square" lIns="0" tIns="0" rIns="0" bIns="0">
            <a:spAutoFit/>
          </a:bodyPr>
          <a:lstStyle/>
          <a:p>
            <a:pPr algn="l">
              <a:lnSpc>
                <a:spcPct val="145000"/>
              </a:lnSpc>
              <a:spcAft>
                <a:spcPts val="800"/>
              </a:spcAft>
            </a:pPr>
            <a:r>
              <a:rPr sz="1400" b="1">
                <a:solidFill>
                  <a:srgbClr val="F59E0B"/>
                </a:solidFill>
                <a:latin typeface="Calibri"/>
              </a:rPr>
              <a:t>■  </a:t>
            </a:r>
            <a:r>
              <a:rPr sz="1400">
                <a:solidFill>
                  <a:srgbClr val="475569"/>
                </a:solidFill>
                <a:latin typeface="Calibri"/>
              </a:rPr>
              <a:t>Source: CDC Behavioral Risk Factor Surveillance System (BRFSS), 2015.</a:t>
            </a:r>
          </a:p>
          <a:p>
            <a:pPr algn="l">
              <a:lnSpc>
                <a:spcPct val="145000"/>
              </a:lnSpc>
              <a:spcAft>
                <a:spcPts val="800"/>
              </a:spcAft>
            </a:pPr>
            <a:r>
              <a:rPr sz="1400" b="1">
                <a:solidFill>
                  <a:srgbClr val="F59E0B"/>
                </a:solidFill>
                <a:latin typeface="Calibri"/>
              </a:rPr>
              <a:t>■  </a:t>
            </a:r>
            <a:r>
              <a:rPr sz="1400">
                <a:solidFill>
                  <a:srgbClr val="475569"/>
                </a:solidFill>
                <a:latin typeface="Calibri"/>
              </a:rPr>
              <a:t>Collected through annual phone interviews across the United States.</a:t>
            </a:r>
          </a:p>
          <a:p>
            <a:pPr algn="l">
              <a:lnSpc>
                <a:spcPct val="145000"/>
              </a:lnSpc>
              <a:spcAft>
                <a:spcPts val="800"/>
              </a:spcAft>
            </a:pPr>
            <a:r>
              <a:rPr sz="1400" b="1">
                <a:solidFill>
                  <a:srgbClr val="F59E0B"/>
                </a:solidFill>
                <a:latin typeface="Calibri"/>
              </a:rPr>
              <a:t>■  </a:t>
            </a:r>
            <a:r>
              <a:rPr sz="1400">
                <a:solidFill>
                  <a:srgbClr val="475569"/>
                </a:solidFill>
                <a:latin typeface="Calibri"/>
              </a:rPr>
              <a:t>Cleaned version published on Kaggle by Alex Teboul.</a:t>
            </a:r>
          </a:p>
          <a:p>
            <a:pPr algn="l">
              <a:lnSpc>
                <a:spcPct val="145000"/>
              </a:lnSpc>
              <a:spcAft>
                <a:spcPts val="800"/>
              </a:spcAft>
            </a:pPr>
            <a:r>
              <a:rPr sz="1400" b="1">
                <a:solidFill>
                  <a:srgbClr val="F59E0B"/>
                </a:solidFill>
                <a:latin typeface="Calibri"/>
              </a:rPr>
              <a:t>■  </a:t>
            </a:r>
            <a:r>
              <a:rPr sz="1400">
                <a:solidFill>
                  <a:srgbClr val="475569"/>
                </a:solidFill>
                <a:latin typeface="Calibri"/>
              </a:rPr>
              <a:t>Pre-balanced 50 / 50 between diabetic and non-diabetic patients.</a:t>
            </a:r>
          </a:p>
          <a:p>
            <a:pPr algn="l">
              <a:lnSpc>
                <a:spcPct val="145000"/>
              </a:lnSpc>
              <a:spcAft>
                <a:spcPts val="800"/>
              </a:spcAft>
            </a:pPr>
            <a:r>
              <a:rPr sz="1400" b="1">
                <a:solidFill>
                  <a:srgbClr val="F59E0B"/>
                </a:solidFill>
                <a:latin typeface="Calibri"/>
              </a:rPr>
              <a:t>■  </a:t>
            </a:r>
            <a:r>
              <a:rPr sz="1400">
                <a:solidFill>
                  <a:srgbClr val="475569"/>
                </a:solidFill>
                <a:latin typeface="Calibri"/>
              </a:rPr>
              <a:t>Each row = one patient  ·  each column = one health indicator.</a:t>
            </a:r>
          </a:p>
        </p:txBody>
      </p:sp>
      <p:sp>
        <p:nvSpPr>
          <p:cNvPr id="9" name="Rectangle 8"/>
          <p:cNvSpPr/>
          <p:nvPr/>
        </p:nvSpPr>
        <p:spPr>
          <a:xfrm>
            <a:off x="7132320" y="2011680"/>
            <a:ext cx="4480560" cy="42062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0" y="2011680"/>
            <a:ext cx="448056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0" y="2075688"/>
            <a:ext cx="393192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DATASET AT A GLANCE</a:t>
            </a:r>
          </a:p>
        </p:txBody>
      </p:sp>
      <p:sp>
        <p:nvSpPr>
          <p:cNvPr id="12" name="TextBox 11"/>
          <p:cNvSpPr txBox="1"/>
          <p:nvPr/>
        </p:nvSpPr>
        <p:spPr>
          <a:xfrm>
            <a:off x="7406640" y="2697480"/>
            <a:ext cx="155448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Records</a:t>
            </a:r>
          </a:p>
        </p:txBody>
      </p:sp>
      <p:sp>
        <p:nvSpPr>
          <p:cNvPr id="13" name="TextBox 12"/>
          <p:cNvSpPr txBox="1"/>
          <p:nvPr/>
        </p:nvSpPr>
        <p:spPr>
          <a:xfrm>
            <a:off x="8961120" y="269748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70,693 patients</a:t>
            </a:r>
          </a:p>
        </p:txBody>
      </p:sp>
      <p:sp>
        <p:nvSpPr>
          <p:cNvPr id="14" name="TextBox 13"/>
          <p:cNvSpPr txBox="1"/>
          <p:nvPr/>
        </p:nvSpPr>
        <p:spPr>
          <a:xfrm>
            <a:off x="7406640" y="3200400"/>
            <a:ext cx="155448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Total Features</a:t>
            </a:r>
          </a:p>
        </p:txBody>
      </p:sp>
      <p:sp>
        <p:nvSpPr>
          <p:cNvPr id="15" name="TextBox 14"/>
          <p:cNvSpPr txBox="1"/>
          <p:nvPr/>
        </p:nvSpPr>
        <p:spPr>
          <a:xfrm>
            <a:off x="8961120" y="320040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21  health indicators</a:t>
            </a:r>
          </a:p>
        </p:txBody>
      </p:sp>
      <p:sp>
        <p:nvSpPr>
          <p:cNvPr id="16" name="TextBox 15"/>
          <p:cNvSpPr txBox="1"/>
          <p:nvPr/>
        </p:nvSpPr>
        <p:spPr>
          <a:xfrm>
            <a:off x="7406640" y="3703320"/>
            <a:ext cx="155448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Target</a:t>
            </a:r>
          </a:p>
        </p:txBody>
      </p:sp>
      <p:sp>
        <p:nvSpPr>
          <p:cNvPr id="17" name="TextBox 16"/>
          <p:cNvSpPr txBox="1"/>
          <p:nvPr/>
        </p:nvSpPr>
        <p:spPr>
          <a:xfrm>
            <a:off x="8961120" y="370332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Diabetes_binary  (0 / 1)</a:t>
            </a:r>
          </a:p>
        </p:txBody>
      </p:sp>
      <p:sp>
        <p:nvSpPr>
          <p:cNvPr id="18" name="TextBox 17"/>
          <p:cNvSpPr txBox="1"/>
          <p:nvPr/>
        </p:nvSpPr>
        <p:spPr>
          <a:xfrm>
            <a:off x="7406640" y="4206240"/>
            <a:ext cx="155448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Class Balance</a:t>
            </a:r>
          </a:p>
        </p:txBody>
      </p:sp>
      <p:sp>
        <p:nvSpPr>
          <p:cNvPr id="19" name="TextBox 18"/>
          <p:cNvSpPr txBox="1"/>
          <p:nvPr/>
        </p:nvSpPr>
        <p:spPr>
          <a:xfrm>
            <a:off x="8961120" y="420624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50 % / 50 %</a:t>
            </a:r>
          </a:p>
        </p:txBody>
      </p:sp>
      <p:sp>
        <p:nvSpPr>
          <p:cNvPr id="20" name="TextBox 19"/>
          <p:cNvSpPr txBox="1"/>
          <p:nvPr/>
        </p:nvSpPr>
        <p:spPr>
          <a:xfrm>
            <a:off x="7406640" y="4709160"/>
            <a:ext cx="155448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Type</a:t>
            </a:r>
          </a:p>
        </p:txBody>
      </p:sp>
      <p:sp>
        <p:nvSpPr>
          <p:cNvPr id="21" name="TextBox 20"/>
          <p:cNvSpPr txBox="1"/>
          <p:nvPr/>
        </p:nvSpPr>
        <p:spPr>
          <a:xfrm>
            <a:off x="8961120" y="470916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Tabular · structured</a:t>
            </a:r>
          </a:p>
        </p:txBody>
      </p:sp>
      <p:sp>
        <p:nvSpPr>
          <p:cNvPr id="22" name="TextBox 21"/>
          <p:cNvSpPr txBox="1"/>
          <p:nvPr/>
        </p:nvSpPr>
        <p:spPr>
          <a:xfrm>
            <a:off x="7406640" y="5212080"/>
            <a:ext cx="155448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Task</a:t>
            </a:r>
          </a:p>
        </p:txBody>
      </p:sp>
      <p:sp>
        <p:nvSpPr>
          <p:cNvPr id="23" name="TextBox 22"/>
          <p:cNvSpPr txBox="1"/>
          <p:nvPr/>
        </p:nvSpPr>
        <p:spPr>
          <a:xfrm>
            <a:off x="8961120" y="5212080"/>
            <a:ext cx="2560320" cy="36576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Binary classification</a:t>
            </a:r>
          </a:p>
        </p:txBody>
      </p:sp>
      <p:sp>
        <p:nvSpPr>
          <p:cNvPr id="24" name="TextBox 23"/>
          <p:cNvSpPr txBox="1"/>
          <p:nvPr/>
        </p:nvSpPr>
        <p:spPr>
          <a:xfrm>
            <a:off x="457200" y="5303520"/>
            <a:ext cx="10972800" cy="1097280"/>
          </a:xfrm>
          <a:prstGeom prst="rect">
            <a:avLst/>
          </a:prstGeom>
          <a:noFill/>
        </p:spPr>
        <p:txBody>
          <a:bodyPr wrap="none">
            <a:spAutoFit/>
          </a:bodyPr>
          <a:lstStyle/>
          <a:p>
            <a:pPr>
              <a:defRPr sz="1400">
                <a:solidFill>
                  <a:srgbClr val="0F766E"/>
                </a:solidFill>
              </a:defRPr>
            </a:pPr>
            <a:r>
              <a:t>■ Missing values: 350 injected (~0.5%) for realism (as requested) → filled with median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5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03  ·  VARIABLES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Target and selected features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920240"/>
            <a:ext cx="10972800" cy="86868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920240"/>
            <a:ext cx="73152"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011680"/>
            <a:ext cx="27432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TARGET VARIABLE  (y)</a:t>
            </a:r>
          </a:p>
        </p:txBody>
      </p:sp>
      <p:sp>
        <p:nvSpPr>
          <p:cNvPr id="11" name="TextBox 10"/>
          <p:cNvSpPr txBox="1"/>
          <p:nvPr/>
        </p:nvSpPr>
        <p:spPr>
          <a:xfrm>
            <a:off x="868680" y="2286000"/>
            <a:ext cx="10972800" cy="457200"/>
          </a:xfrm>
          <a:prstGeom prst="rect">
            <a:avLst/>
          </a:prstGeom>
          <a:noFill/>
        </p:spPr>
        <p:txBody>
          <a:bodyPr wrap="square" lIns="0" tIns="0" rIns="0" bIns="0" anchor="t">
            <a:spAutoFit/>
          </a:bodyPr>
          <a:lstStyle/>
          <a:p>
            <a:pPr algn="l">
              <a:lnSpc>
                <a:spcPct val="115000"/>
              </a:lnSpc>
            </a:pPr>
            <a:r>
              <a:rPr sz="1600" b="1">
                <a:solidFill>
                  <a:srgbClr val="1E293B"/>
                </a:solidFill>
                <a:latin typeface="Calibri"/>
              </a:rPr>
              <a:t>Diabetes_binary  →  0 = No Diabetes   ·   1 = Diabetes / Prediabetes</a:t>
            </a:r>
          </a:p>
        </p:txBody>
      </p:sp>
      <p:sp>
        <p:nvSpPr>
          <p:cNvPr id="12" name="Rectangle 11"/>
          <p:cNvSpPr/>
          <p:nvPr/>
        </p:nvSpPr>
        <p:spPr>
          <a:xfrm>
            <a:off x="640080" y="2926080"/>
            <a:ext cx="10972800" cy="777240"/>
          </a:xfrm>
          <a:prstGeom prst="rect">
            <a:avLst/>
          </a:prstGeom>
          <a:solidFill>
            <a:srgbClr val="ECFEFF"/>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2962656"/>
            <a:ext cx="10515600" cy="292608"/>
          </a:xfrm>
          <a:prstGeom prst="rect">
            <a:avLst/>
          </a:prstGeom>
          <a:noFill/>
        </p:spPr>
        <p:txBody>
          <a:bodyPr wrap="square" lIns="0" tIns="0" rIns="0" bIns="0" anchor="t">
            <a:spAutoFit/>
          </a:bodyPr>
          <a:lstStyle/>
          <a:p>
            <a:pPr algn="l">
              <a:lnSpc>
                <a:spcPct val="115000"/>
              </a:lnSpc>
            </a:pPr>
            <a:r>
              <a:rPr sz="1100" b="1">
                <a:solidFill>
                  <a:srgbClr val="D97706"/>
                </a:solidFill>
                <a:latin typeface="Calibri"/>
              </a:rPr>
              <a:t>SELECTED FEATURES  (top 5 by model importance)</a:t>
            </a:r>
          </a:p>
        </p:txBody>
      </p:sp>
      <p:sp>
        <p:nvSpPr>
          <p:cNvPr id="14" name="TextBox 13"/>
          <p:cNvSpPr txBox="1"/>
          <p:nvPr/>
        </p:nvSpPr>
        <p:spPr>
          <a:xfrm>
            <a:off x="868680" y="3291840"/>
            <a:ext cx="10515600" cy="411480"/>
          </a:xfrm>
          <a:prstGeom prst="rect">
            <a:avLst/>
          </a:prstGeom>
          <a:noFill/>
        </p:spPr>
        <p:txBody>
          <a:bodyPr wrap="square" lIns="0" tIns="0" rIns="0" bIns="0" anchor="t">
            <a:spAutoFit/>
          </a:bodyPr>
          <a:lstStyle/>
          <a:p>
            <a:pPr algn="l">
              <a:lnSpc>
                <a:spcPct val="115000"/>
              </a:lnSpc>
            </a:pPr>
            <a:r>
              <a:rPr sz="1300" b="1">
                <a:solidFill>
                  <a:srgbClr val="0B4F4A"/>
                </a:solidFill>
                <a:latin typeface="Calibri"/>
              </a:rPr>
              <a:t>GenHlth (0.191)  HighBP (0.166)  BMI (0.149)  Age (0.110)  HighChol (0.079)</a:t>
            </a:r>
          </a:p>
        </p:txBody>
      </p:sp>
      <p:sp>
        <p:nvSpPr>
          <p:cNvPr id="15" name="TextBox 14"/>
          <p:cNvSpPr txBox="1"/>
          <p:nvPr/>
        </p:nvSpPr>
        <p:spPr>
          <a:xfrm>
            <a:off x="640080" y="3840480"/>
            <a:ext cx="7315200" cy="32004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ALL 21 FEATURES  (X)  ·  ORGANISED IN 3 CATEGORIES</a:t>
            </a:r>
          </a:p>
        </p:txBody>
      </p:sp>
      <p:sp>
        <p:nvSpPr>
          <p:cNvPr id="16" name="Rectangle 15"/>
          <p:cNvSpPr/>
          <p:nvPr/>
        </p:nvSpPr>
        <p:spPr>
          <a:xfrm>
            <a:off x="640080" y="4251960"/>
            <a:ext cx="3749039"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4251960"/>
            <a:ext cx="3749039"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4315968"/>
            <a:ext cx="3383279"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VITAL  ·  CLINICAL (7)</a:t>
            </a:r>
          </a:p>
        </p:txBody>
      </p:sp>
      <p:sp>
        <p:nvSpPr>
          <p:cNvPr id="19" name="TextBox 18"/>
          <p:cNvSpPr txBox="1"/>
          <p:nvPr/>
        </p:nvSpPr>
        <p:spPr>
          <a:xfrm>
            <a:off x="868680" y="4709160"/>
            <a:ext cx="3383279" cy="1463040"/>
          </a:xfrm>
          <a:prstGeom prst="rect">
            <a:avLst/>
          </a:prstGeom>
          <a:noFill/>
        </p:spPr>
        <p:txBody>
          <a:bodyPr wrap="square" lIns="0" tIns="0" rIns="0" bIns="0">
            <a:spAutoFit/>
          </a:bodyPr>
          <a:lstStyle/>
          <a:p>
            <a:pPr algn="l">
              <a:lnSpc>
                <a:spcPct val="115000"/>
              </a:lnSpc>
              <a:spcAft>
                <a:spcPts val="100"/>
              </a:spcAft>
            </a:pPr>
            <a:r>
              <a:rPr sz="1000" b="1">
                <a:solidFill>
                  <a:srgbClr val="F59E0B"/>
                </a:solidFill>
                <a:latin typeface="Calibri"/>
              </a:rPr>
              <a:t>•  </a:t>
            </a:r>
            <a:r>
              <a:rPr sz="950" b="1">
                <a:solidFill>
                  <a:srgbClr val="D97706"/>
                </a:solidFill>
                <a:latin typeface="Calibri"/>
              </a:rPr>
              <a:t>HighBP  ·  high blood pressure</a:t>
            </a:r>
          </a:p>
          <a:p>
            <a:pPr algn="l">
              <a:lnSpc>
                <a:spcPct val="115000"/>
              </a:lnSpc>
              <a:spcAft>
                <a:spcPts val="100"/>
              </a:spcAft>
            </a:pPr>
            <a:r>
              <a:rPr sz="1000" b="1">
                <a:solidFill>
                  <a:srgbClr val="F59E0B"/>
                </a:solidFill>
                <a:latin typeface="Calibri"/>
              </a:rPr>
              <a:t>•  </a:t>
            </a:r>
            <a:r>
              <a:rPr sz="950" b="1">
                <a:solidFill>
                  <a:srgbClr val="D97706"/>
                </a:solidFill>
                <a:latin typeface="Calibri"/>
              </a:rPr>
              <a:t>HighChol  ·  high cholesterol</a:t>
            </a:r>
          </a:p>
          <a:p>
            <a:pPr algn="l">
              <a:lnSpc>
                <a:spcPct val="115000"/>
              </a:lnSpc>
              <a:spcAft>
                <a:spcPts val="100"/>
              </a:spcAft>
            </a:pPr>
            <a:r>
              <a:rPr sz="1000" b="1">
                <a:solidFill>
                  <a:srgbClr val="0F766E"/>
                </a:solidFill>
                <a:latin typeface="Calibri"/>
              </a:rPr>
              <a:t>•  </a:t>
            </a:r>
            <a:r>
              <a:rPr sz="950" b="0">
                <a:solidFill>
                  <a:srgbClr val="1E293B"/>
                </a:solidFill>
                <a:latin typeface="Calibri"/>
              </a:rPr>
              <a:t>CholCheck  ·  5-yr check</a:t>
            </a:r>
          </a:p>
          <a:p>
            <a:pPr algn="l">
              <a:lnSpc>
                <a:spcPct val="115000"/>
              </a:lnSpc>
              <a:spcAft>
                <a:spcPts val="100"/>
              </a:spcAft>
            </a:pPr>
            <a:r>
              <a:rPr sz="1000" b="1">
                <a:solidFill>
                  <a:srgbClr val="F59E0B"/>
                </a:solidFill>
                <a:latin typeface="Calibri"/>
              </a:rPr>
              <a:t>•  </a:t>
            </a:r>
            <a:r>
              <a:rPr sz="950" b="1">
                <a:solidFill>
                  <a:srgbClr val="D97706"/>
                </a:solidFill>
                <a:latin typeface="Calibri"/>
              </a:rPr>
              <a:t>BMI  ·  Body Mass Index</a:t>
            </a:r>
          </a:p>
          <a:p>
            <a:pPr algn="l">
              <a:lnSpc>
                <a:spcPct val="115000"/>
              </a:lnSpc>
              <a:spcAft>
                <a:spcPts val="100"/>
              </a:spcAft>
            </a:pPr>
            <a:r>
              <a:rPr sz="1000" b="1">
                <a:solidFill>
                  <a:srgbClr val="0F766E"/>
                </a:solidFill>
                <a:latin typeface="Calibri"/>
              </a:rPr>
              <a:t>•  </a:t>
            </a:r>
            <a:r>
              <a:rPr sz="950" b="0">
                <a:solidFill>
                  <a:srgbClr val="1E293B"/>
                </a:solidFill>
                <a:latin typeface="Calibri"/>
              </a:rPr>
              <a:t>Stroke  ·  ever had one</a:t>
            </a:r>
          </a:p>
          <a:p>
            <a:pPr algn="l">
              <a:lnSpc>
                <a:spcPct val="115000"/>
              </a:lnSpc>
              <a:spcAft>
                <a:spcPts val="100"/>
              </a:spcAft>
            </a:pPr>
            <a:r>
              <a:rPr sz="1000" b="1">
                <a:solidFill>
                  <a:srgbClr val="0F766E"/>
                </a:solidFill>
                <a:latin typeface="Calibri"/>
              </a:rPr>
              <a:t>•  </a:t>
            </a:r>
            <a:r>
              <a:rPr sz="950" b="0">
                <a:solidFill>
                  <a:srgbClr val="1E293B"/>
                </a:solidFill>
                <a:latin typeface="Calibri"/>
              </a:rPr>
              <a:t>HeartDiseaseorAttack</a:t>
            </a:r>
          </a:p>
          <a:p>
            <a:pPr algn="l">
              <a:lnSpc>
                <a:spcPct val="115000"/>
              </a:lnSpc>
              <a:spcAft>
                <a:spcPts val="100"/>
              </a:spcAft>
            </a:pPr>
            <a:r>
              <a:rPr sz="1000" b="1">
                <a:solidFill>
                  <a:srgbClr val="0F766E"/>
                </a:solidFill>
                <a:latin typeface="Calibri"/>
              </a:rPr>
              <a:t>•  </a:t>
            </a:r>
            <a:r>
              <a:rPr sz="950" b="0">
                <a:solidFill>
                  <a:srgbClr val="1E293B"/>
                </a:solidFill>
                <a:latin typeface="Calibri"/>
              </a:rPr>
              <a:t>DiffWalk  ·  difficulty walking</a:t>
            </a:r>
          </a:p>
        </p:txBody>
      </p:sp>
      <p:sp>
        <p:nvSpPr>
          <p:cNvPr id="20" name="Rectangle 19"/>
          <p:cNvSpPr/>
          <p:nvPr/>
        </p:nvSpPr>
        <p:spPr>
          <a:xfrm>
            <a:off x="4572000" y="4251960"/>
            <a:ext cx="3749039"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4251960"/>
            <a:ext cx="3749039"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00600" y="4315968"/>
            <a:ext cx="3383279"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LIFESTYLE (7)</a:t>
            </a:r>
          </a:p>
        </p:txBody>
      </p:sp>
      <p:sp>
        <p:nvSpPr>
          <p:cNvPr id="23" name="TextBox 22"/>
          <p:cNvSpPr txBox="1"/>
          <p:nvPr/>
        </p:nvSpPr>
        <p:spPr>
          <a:xfrm>
            <a:off x="4800600" y="4709160"/>
            <a:ext cx="3383279" cy="1463040"/>
          </a:xfrm>
          <a:prstGeom prst="rect">
            <a:avLst/>
          </a:prstGeom>
          <a:noFill/>
        </p:spPr>
        <p:txBody>
          <a:bodyPr wrap="square" lIns="0" tIns="0" rIns="0" bIns="0">
            <a:spAutoFit/>
          </a:bodyPr>
          <a:lstStyle/>
          <a:p>
            <a:pPr algn="l">
              <a:lnSpc>
                <a:spcPct val="115000"/>
              </a:lnSpc>
              <a:spcAft>
                <a:spcPts val="100"/>
              </a:spcAft>
            </a:pPr>
            <a:r>
              <a:rPr sz="1000" b="1">
                <a:solidFill>
                  <a:srgbClr val="0F766E"/>
                </a:solidFill>
                <a:latin typeface="Calibri"/>
              </a:rPr>
              <a:t>•  </a:t>
            </a:r>
            <a:r>
              <a:rPr sz="950" b="0">
                <a:solidFill>
                  <a:srgbClr val="1E293B"/>
                </a:solidFill>
                <a:latin typeface="Calibri"/>
              </a:rPr>
              <a:t>Smoker  ·  100+ cigs</a:t>
            </a:r>
          </a:p>
          <a:p>
            <a:pPr algn="l">
              <a:lnSpc>
                <a:spcPct val="115000"/>
              </a:lnSpc>
              <a:spcAft>
                <a:spcPts val="100"/>
              </a:spcAft>
            </a:pPr>
            <a:r>
              <a:rPr sz="1000" b="1">
                <a:solidFill>
                  <a:srgbClr val="0F766E"/>
                </a:solidFill>
                <a:latin typeface="Calibri"/>
              </a:rPr>
              <a:t>•  </a:t>
            </a:r>
            <a:r>
              <a:rPr sz="950" b="0">
                <a:solidFill>
                  <a:srgbClr val="1E293B"/>
                </a:solidFill>
                <a:latin typeface="Calibri"/>
              </a:rPr>
              <a:t>PhysActivity  ·  past 30 days</a:t>
            </a:r>
          </a:p>
          <a:p>
            <a:pPr algn="l">
              <a:lnSpc>
                <a:spcPct val="115000"/>
              </a:lnSpc>
              <a:spcAft>
                <a:spcPts val="100"/>
              </a:spcAft>
            </a:pPr>
            <a:r>
              <a:rPr sz="1000" b="1">
                <a:solidFill>
                  <a:srgbClr val="0F766E"/>
                </a:solidFill>
                <a:latin typeface="Calibri"/>
              </a:rPr>
              <a:t>•  </a:t>
            </a:r>
            <a:r>
              <a:rPr sz="950" b="0">
                <a:solidFill>
                  <a:srgbClr val="1E293B"/>
                </a:solidFill>
                <a:latin typeface="Calibri"/>
              </a:rPr>
              <a:t>Fruits  ·  daily</a:t>
            </a:r>
          </a:p>
          <a:p>
            <a:pPr algn="l">
              <a:lnSpc>
                <a:spcPct val="115000"/>
              </a:lnSpc>
              <a:spcAft>
                <a:spcPts val="100"/>
              </a:spcAft>
            </a:pPr>
            <a:r>
              <a:rPr sz="1000" b="1">
                <a:solidFill>
                  <a:srgbClr val="0F766E"/>
                </a:solidFill>
                <a:latin typeface="Calibri"/>
              </a:rPr>
              <a:t>•  </a:t>
            </a:r>
            <a:r>
              <a:rPr sz="950" b="0">
                <a:solidFill>
                  <a:srgbClr val="1E293B"/>
                </a:solidFill>
                <a:latin typeface="Calibri"/>
              </a:rPr>
              <a:t>Veggies  ·  daily</a:t>
            </a:r>
          </a:p>
          <a:p>
            <a:pPr algn="l">
              <a:lnSpc>
                <a:spcPct val="115000"/>
              </a:lnSpc>
              <a:spcAft>
                <a:spcPts val="100"/>
              </a:spcAft>
            </a:pPr>
            <a:r>
              <a:rPr sz="1000" b="1">
                <a:solidFill>
                  <a:srgbClr val="0F766E"/>
                </a:solidFill>
                <a:latin typeface="Calibri"/>
              </a:rPr>
              <a:t>•  </a:t>
            </a:r>
            <a:r>
              <a:rPr sz="950" b="0">
                <a:solidFill>
                  <a:srgbClr val="1E293B"/>
                </a:solidFill>
                <a:latin typeface="Calibri"/>
              </a:rPr>
              <a:t>HvyAlcoholConsump</a:t>
            </a:r>
          </a:p>
          <a:p>
            <a:pPr algn="l">
              <a:lnSpc>
                <a:spcPct val="115000"/>
              </a:lnSpc>
              <a:spcAft>
                <a:spcPts val="100"/>
              </a:spcAft>
            </a:pPr>
            <a:r>
              <a:rPr sz="1000" b="1">
                <a:solidFill>
                  <a:srgbClr val="0F766E"/>
                </a:solidFill>
                <a:latin typeface="Calibri"/>
              </a:rPr>
              <a:t>•  </a:t>
            </a:r>
            <a:r>
              <a:rPr sz="950" b="0">
                <a:solidFill>
                  <a:srgbClr val="1E293B"/>
                </a:solidFill>
                <a:latin typeface="Calibri"/>
              </a:rPr>
              <a:t>AnyHealthcare  ·  coverage</a:t>
            </a:r>
          </a:p>
          <a:p>
            <a:pPr algn="l">
              <a:lnSpc>
                <a:spcPct val="115000"/>
              </a:lnSpc>
              <a:spcAft>
                <a:spcPts val="100"/>
              </a:spcAft>
            </a:pPr>
            <a:r>
              <a:rPr sz="1000" b="1">
                <a:solidFill>
                  <a:srgbClr val="0F766E"/>
                </a:solidFill>
                <a:latin typeface="Calibri"/>
              </a:rPr>
              <a:t>•  </a:t>
            </a:r>
            <a:r>
              <a:rPr sz="950" b="0">
                <a:solidFill>
                  <a:srgbClr val="1E293B"/>
                </a:solidFill>
                <a:latin typeface="Calibri"/>
              </a:rPr>
              <a:t>NoDocbcCost  ·  couldn't see</a:t>
            </a:r>
          </a:p>
        </p:txBody>
      </p:sp>
      <p:sp>
        <p:nvSpPr>
          <p:cNvPr id="24" name="Rectangle 23"/>
          <p:cNvSpPr/>
          <p:nvPr/>
        </p:nvSpPr>
        <p:spPr>
          <a:xfrm>
            <a:off x="8503920" y="4251960"/>
            <a:ext cx="3749039"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503920" y="4251960"/>
            <a:ext cx="3749039"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732520" y="4315968"/>
            <a:ext cx="3383279"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SELF-REPORTED  ·  DEMO (7)</a:t>
            </a:r>
          </a:p>
        </p:txBody>
      </p:sp>
      <p:sp>
        <p:nvSpPr>
          <p:cNvPr id="27" name="TextBox 26"/>
          <p:cNvSpPr txBox="1"/>
          <p:nvPr/>
        </p:nvSpPr>
        <p:spPr>
          <a:xfrm>
            <a:off x="8732520" y="4709160"/>
            <a:ext cx="3383279" cy="1463040"/>
          </a:xfrm>
          <a:prstGeom prst="rect">
            <a:avLst/>
          </a:prstGeom>
          <a:noFill/>
        </p:spPr>
        <p:txBody>
          <a:bodyPr wrap="square" lIns="0" tIns="0" rIns="0" bIns="0">
            <a:spAutoFit/>
          </a:bodyPr>
          <a:lstStyle/>
          <a:p>
            <a:pPr algn="l">
              <a:lnSpc>
                <a:spcPct val="115000"/>
              </a:lnSpc>
              <a:spcAft>
                <a:spcPts val="100"/>
              </a:spcAft>
            </a:pPr>
            <a:r>
              <a:rPr sz="1000" b="1">
                <a:solidFill>
                  <a:srgbClr val="F59E0B"/>
                </a:solidFill>
                <a:latin typeface="Calibri"/>
              </a:rPr>
              <a:t>•  </a:t>
            </a:r>
            <a:r>
              <a:rPr sz="950" b="1">
                <a:solidFill>
                  <a:srgbClr val="D97706"/>
                </a:solidFill>
                <a:latin typeface="Calibri"/>
              </a:rPr>
              <a:t>GenHlth  ·  health (1-5)</a:t>
            </a:r>
          </a:p>
          <a:p>
            <a:pPr algn="l">
              <a:lnSpc>
                <a:spcPct val="115000"/>
              </a:lnSpc>
              <a:spcAft>
                <a:spcPts val="100"/>
              </a:spcAft>
            </a:pPr>
            <a:r>
              <a:rPr sz="1000" b="1">
                <a:solidFill>
                  <a:srgbClr val="0F766E"/>
                </a:solidFill>
                <a:latin typeface="Calibri"/>
              </a:rPr>
              <a:t>•  </a:t>
            </a:r>
            <a:r>
              <a:rPr sz="950" b="0">
                <a:solidFill>
                  <a:srgbClr val="1E293B"/>
                </a:solidFill>
                <a:latin typeface="Calibri"/>
              </a:rPr>
              <a:t>MentHlth  ·  bad-mood days</a:t>
            </a:r>
          </a:p>
          <a:p>
            <a:pPr algn="l">
              <a:lnSpc>
                <a:spcPct val="115000"/>
              </a:lnSpc>
              <a:spcAft>
                <a:spcPts val="100"/>
              </a:spcAft>
            </a:pPr>
            <a:r>
              <a:rPr sz="1000" b="1">
                <a:solidFill>
                  <a:srgbClr val="0F766E"/>
                </a:solidFill>
                <a:latin typeface="Calibri"/>
              </a:rPr>
              <a:t>•  </a:t>
            </a:r>
            <a:r>
              <a:rPr sz="950" b="0">
                <a:solidFill>
                  <a:srgbClr val="1E293B"/>
                </a:solidFill>
                <a:latin typeface="Calibri"/>
              </a:rPr>
              <a:t>PhysHlth  ·  sick days</a:t>
            </a:r>
          </a:p>
          <a:p>
            <a:pPr algn="l">
              <a:lnSpc>
                <a:spcPct val="115000"/>
              </a:lnSpc>
              <a:spcAft>
                <a:spcPts val="100"/>
              </a:spcAft>
            </a:pPr>
            <a:r>
              <a:rPr sz="1000" b="1">
                <a:solidFill>
                  <a:srgbClr val="0F766E"/>
                </a:solidFill>
                <a:latin typeface="Calibri"/>
              </a:rPr>
              <a:t>•  </a:t>
            </a:r>
            <a:r>
              <a:rPr sz="950" b="0">
                <a:solidFill>
                  <a:srgbClr val="1E293B"/>
                </a:solidFill>
                <a:latin typeface="Calibri"/>
              </a:rPr>
              <a:t>Sex  ·  0 female / 1 male</a:t>
            </a:r>
          </a:p>
          <a:p>
            <a:pPr algn="l">
              <a:lnSpc>
                <a:spcPct val="115000"/>
              </a:lnSpc>
              <a:spcAft>
                <a:spcPts val="100"/>
              </a:spcAft>
            </a:pPr>
            <a:r>
              <a:rPr sz="1000" b="1">
                <a:solidFill>
                  <a:srgbClr val="F59E0B"/>
                </a:solidFill>
                <a:latin typeface="Calibri"/>
              </a:rPr>
              <a:t>•  </a:t>
            </a:r>
            <a:r>
              <a:rPr sz="950" b="1">
                <a:solidFill>
                  <a:srgbClr val="D97706"/>
                </a:solidFill>
                <a:latin typeface="Calibri"/>
              </a:rPr>
              <a:t>Age  ·  group (1-13)</a:t>
            </a:r>
          </a:p>
          <a:p>
            <a:pPr algn="l">
              <a:lnSpc>
                <a:spcPct val="115000"/>
              </a:lnSpc>
              <a:spcAft>
                <a:spcPts val="100"/>
              </a:spcAft>
            </a:pPr>
            <a:r>
              <a:rPr sz="1000" b="1">
                <a:solidFill>
                  <a:srgbClr val="0F766E"/>
                </a:solidFill>
                <a:latin typeface="Calibri"/>
              </a:rPr>
              <a:t>•  </a:t>
            </a:r>
            <a:r>
              <a:rPr sz="950" b="0">
                <a:solidFill>
                  <a:srgbClr val="1E293B"/>
                </a:solidFill>
                <a:latin typeface="Calibri"/>
              </a:rPr>
              <a:t>Education  ·  level (1-6)</a:t>
            </a:r>
          </a:p>
          <a:p>
            <a:pPr algn="l">
              <a:lnSpc>
                <a:spcPct val="115000"/>
              </a:lnSpc>
              <a:spcAft>
                <a:spcPts val="100"/>
              </a:spcAft>
            </a:pPr>
            <a:r>
              <a:rPr sz="1000" b="1">
                <a:solidFill>
                  <a:srgbClr val="0F766E"/>
                </a:solidFill>
                <a:latin typeface="Calibri"/>
              </a:rPr>
              <a:t>•  </a:t>
            </a:r>
            <a:r>
              <a:rPr sz="950" b="0">
                <a:solidFill>
                  <a:srgbClr val="1E293B"/>
                </a:solidFill>
                <a:latin typeface="Calibri"/>
              </a:rPr>
              <a:t>Income  ·  bracket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6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04  ·  OUR MODEL</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Random Forest</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920240"/>
            <a:ext cx="10972800" cy="457200"/>
          </a:xfrm>
          <a:prstGeom prst="rect">
            <a:avLst/>
          </a:prstGeom>
          <a:noFill/>
        </p:spPr>
        <p:txBody>
          <a:bodyPr wrap="square" lIns="0" tIns="0" rIns="0" bIns="0" anchor="t">
            <a:spAutoFit/>
          </a:bodyPr>
          <a:lstStyle/>
          <a:p>
            <a:pPr algn="l">
              <a:lnSpc>
                <a:spcPct val="115000"/>
              </a:lnSpc>
            </a:pPr>
            <a:r>
              <a:rPr sz="2200" b="1">
                <a:solidFill>
                  <a:srgbClr val="0B4F4A"/>
                </a:solidFill>
                <a:latin typeface="Calibri"/>
              </a:rPr>
              <a:t>A team of 200 decision trees that vote on the answer.</a:t>
            </a:r>
          </a:p>
        </p:txBody>
      </p:sp>
      <p:sp>
        <p:nvSpPr>
          <p:cNvPr id="9" name="TextBox 8"/>
          <p:cNvSpPr txBox="1"/>
          <p:nvPr/>
        </p:nvSpPr>
        <p:spPr>
          <a:xfrm>
            <a:off x="640080" y="2514600"/>
            <a:ext cx="10972800" cy="457200"/>
          </a:xfrm>
          <a:prstGeom prst="rect">
            <a:avLst/>
          </a:prstGeom>
          <a:noFill/>
        </p:spPr>
        <p:txBody>
          <a:bodyPr wrap="square" lIns="0" tIns="0" rIns="0" bIns="0" anchor="t">
            <a:spAutoFit/>
          </a:bodyPr>
          <a:lstStyle/>
          <a:p>
            <a:pPr algn="l">
              <a:lnSpc>
                <a:spcPct val="140000"/>
              </a:lnSpc>
            </a:pPr>
            <a:r>
              <a:rPr sz="1400" b="0">
                <a:solidFill>
                  <a:srgbClr val="475569"/>
                </a:solidFill>
                <a:latin typeface="Calibri"/>
              </a:rPr>
              <a:t>Each tree looks at the patient data and predicts 0 or 1. The majority vote becomes the final prediction.</a:t>
            </a:r>
          </a:p>
        </p:txBody>
      </p:sp>
      <p:sp>
        <p:nvSpPr>
          <p:cNvPr id="10" name="Rounded Rectangle 9"/>
          <p:cNvSpPr/>
          <p:nvPr/>
        </p:nvSpPr>
        <p:spPr>
          <a:xfrm>
            <a:off x="640080" y="3931920"/>
            <a:ext cx="1280160" cy="1371600"/>
          </a:xfrm>
          <a:prstGeom prst="roundRect">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069080"/>
            <a:ext cx="1280160" cy="320040"/>
          </a:xfrm>
          <a:prstGeom prst="rect">
            <a:avLst/>
          </a:prstGeom>
          <a:noFill/>
        </p:spPr>
        <p:txBody>
          <a:bodyPr wrap="square" lIns="0" tIns="0" rIns="0" bIns="0" anchor="t">
            <a:spAutoFit/>
          </a:bodyPr>
          <a:lstStyle/>
          <a:p>
            <a:pPr algn="ctr">
              <a:lnSpc>
                <a:spcPct val="115000"/>
              </a:lnSpc>
            </a:pPr>
            <a:r>
              <a:rPr sz="1100" b="1">
                <a:solidFill>
                  <a:srgbClr val="0F766E"/>
                </a:solidFill>
                <a:latin typeface="Calibri"/>
              </a:rPr>
              <a:t>Tree 1</a:t>
            </a:r>
          </a:p>
        </p:txBody>
      </p:sp>
      <p:sp>
        <p:nvSpPr>
          <p:cNvPr id="12" name="TextBox 11"/>
          <p:cNvSpPr txBox="1"/>
          <p:nvPr/>
        </p:nvSpPr>
        <p:spPr>
          <a:xfrm>
            <a:off x="640080" y="4434840"/>
            <a:ext cx="1280160" cy="365760"/>
          </a:xfrm>
          <a:prstGeom prst="rect">
            <a:avLst/>
          </a:prstGeom>
          <a:noFill/>
        </p:spPr>
        <p:txBody>
          <a:bodyPr wrap="square" lIns="0" tIns="0" rIns="0" bIns="0" anchor="t">
            <a:spAutoFit/>
          </a:bodyPr>
          <a:lstStyle/>
          <a:p>
            <a:pPr algn="ctr">
              <a:lnSpc>
                <a:spcPct val="115000"/>
              </a:lnSpc>
            </a:pPr>
            <a:r>
              <a:rPr sz="1000" b="0">
                <a:solidFill>
                  <a:srgbClr val="475569"/>
                </a:solidFill>
                <a:latin typeface="Calibri"/>
              </a:rPr>
              <a:t>predicts</a:t>
            </a:r>
          </a:p>
        </p:txBody>
      </p:sp>
      <p:sp>
        <p:nvSpPr>
          <p:cNvPr id="13" name="TextBox 12"/>
          <p:cNvSpPr txBox="1"/>
          <p:nvPr/>
        </p:nvSpPr>
        <p:spPr>
          <a:xfrm>
            <a:off x="640080" y="4800600"/>
            <a:ext cx="1280160" cy="365760"/>
          </a:xfrm>
          <a:prstGeom prst="rect">
            <a:avLst/>
          </a:prstGeom>
          <a:noFill/>
        </p:spPr>
        <p:txBody>
          <a:bodyPr wrap="square" lIns="0" tIns="0" rIns="0" bIns="0" anchor="t">
            <a:spAutoFit/>
          </a:bodyPr>
          <a:lstStyle/>
          <a:p>
            <a:pPr algn="ctr">
              <a:lnSpc>
                <a:spcPct val="115000"/>
              </a:lnSpc>
            </a:pPr>
            <a:r>
              <a:rPr sz="1200" b="1">
                <a:solidFill>
                  <a:srgbClr val="1E293B"/>
                </a:solidFill>
                <a:latin typeface="Calibri"/>
              </a:rPr>
              <a:t>0  or  1</a:t>
            </a:r>
          </a:p>
        </p:txBody>
      </p:sp>
      <p:sp>
        <p:nvSpPr>
          <p:cNvPr id="14" name="Rounded Rectangle 13"/>
          <p:cNvSpPr/>
          <p:nvPr/>
        </p:nvSpPr>
        <p:spPr>
          <a:xfrm>
            <a:off x="1965960" y="3931920"/>
            <a:ext cx="1280160" cy="1371600"/>
          </a:xfrm>
          <a:prstGeom prst="roundRect">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65960" y="4069080"/>
            <a:ext cx="1280160" cy="320040"/>
          </a:xfrm>
          <a:prstGeom prst="rect">
            <a:avLst/>
          </a:prstGeom>
          <a:noFill/>
        </p:spPr>
        <p:txBody>
          <a:bodyPr wrap="square" lIns="0" tIns="0" rIns="0" bIns="0" anchor="t">
            <a:spAutoFit/>
          </a:bodyPr>
          <a:lstStyle/>
          <a:p>
            <a:pPr algn="ctr">
              <a:lnSpc>
                <a:spcPct val="115000"/>
              </a:lnSpc>
            </a:pPr>
            <a:r>
              <a:rPr sz="1100" b="1">
                <a:solidFill>
                  <a:srgbClr val="0F766E"/>
                </a:solidFill>
                <a:latin typeface="Calibri"/>
              </a:rPr>
              <a:t>Tree 2</a:t>
            </a:r>
          </a:p>
        </p:txBody>
      </p:sp>
      <p:sp>
        <p:nvSpPr>
          <p:cNvPr id="16" name="TextBox 15"/>
          <p:cNvSpPr txBox="1"/>
          <p:nvPr/>
        </p:nvSpPr>
        <p:spPr>
          <a:xfrm>
            <a:off x="1965960" y="4434840"/>
            <a:ext cx="1280160" cy="365760"/>
          </a:xfrm>
          <a:prstGeom prst="rect">
            <a:avLst/>
          </a:prstGeom>
          <a:noFill/>
        </p:spPr>
        <p:txBody>
          <a:bodyPr wrap="square" lIns="0" tIns="0" rIns="0" bIns="0" anchor="t">
            <a:spAutoFit/>
          </a:bodyPr>
          <a:lstStyle/>
          <a:p>
            <a:pPr algn="ctr">
              <a:lnSpc>
                <a:spcPct val="115000"/>
              </a:lnSpc>
            </a:pPr>
            <a:r>
              <a:rPr sz="1000" b="0">
                <a:solidFill>
                  <a:srgbClr val="475569"/>
                </a:solidFill>
                <a:latin typeface="Calibri"/>
              </a:rPr>
              <a:t>predicts</a:t>
            </a:r>
          </a:p>
        </p:txBody>
      </p:sp>
      <p:sp>
        <p:nvSpPr>
          <p:cNvPr id="17" name="TextBox 16"/>
          <p:cNvSpPr txBox="1"/>
          <p:nvPr/>
        </p:nvSpPr>
        <p:spPr>
          <a:xfrm>
            <a:off x="1965960" y="4800600"/>
            <a:ext cx="1280160" cy="365760"/>
          </a:xfrm>
          <a:prstGeom prst="rect">
            <a:avLst/>
          </a:prstGeom>
          <a:noFill/>
        </p:spPr>
        <p:txBody>
          <a:bodyPr wrap="square" lIns="0" tIns="0" rIns="0" bIns="0" anchor="t">
            <a:spAutoFit/>
          </a:bodyPr>
          <a:lstStyle/>
          <a:p>
            <a:pPr algn="ctr">
              <a:lnSpc>
                <a:spcPct val="115000"/>
              </a:lnSpc>
            </a:pPr>
            <a:r>
              <a:rPr sz="1200" b="1">
                <a:solidFill>
                  <a:srgbClr val="1E293B"/>
                </a:solidFill>
                <a:latin typeface="Calibri"/>
              </a:rPr>
              <a:t>0  or  1</a:t>
            </a:r>
          </a:p>
        </p:txBody>
      </p:sp>
      <p:sp>
        <p:nvSpPr>
          <p:cNvPr id="18" name="Rounded Rectangle 17"/>
          <p:cNvSpPr/>
          <p:nvPr/>
        </p:nvSpPr>
        <p:spPr>
          <a:xfrm>
            <a:off x="3291840" y="3931920"/>
            <a:ext cx="1280160" cy="1371600"/>
          </a:xfrm>
          <a:prstGeom prst="roundRect">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91840" y="4069080"/>
            <a:ext cx="1280160" cy="320040"/>
          </a:xfrm>
          <a:prstGeom prst="rect">
            <a:avLst/>
          </a:prstGeom>
          <a:noFill/>
        </p:spPr>
        <p:txBody>
          <a:bodyPr wrap="square" lIns="0" tIns="0" rIns="0" bIns="0" anchor="t">
            <a:spAutoFit/>
          </a:bodyPr>
          <a:lstStyle/>
          <a:p>
            <a:pPr algn="ctr">
              <a:lnSpc>
                <a:spcPct val="115000"/>
              </a:lnSpc>
            </a:pPr>
            <a:r>
              <a:rPr sz="1100" b="1">
                <a:solidFill>
                  <a:srgbClr val="0F766E"/>
                </a:solidFill>
                <a:latin typeface="Calibri"/>
              </a:rPr>
              <a:t>Tree 3</a:t>
            </a:r>
          </a:p>
        </p:txBody>
      </p:sp>
      <p:sp>
        <p:nvSpPr>
          <p:cNvPr id="20" name="TextBox 19"/>
          <p:cNvSpPr txBox="1"/>
          <p:nvPr/>
        </p:nvSpPr>
        <p:spPr>
          <a:xfrm>
            <a:off x="3291840" y="4434840"/>
            <a:ext cx="1280160" cy="365760"/>
          </a:xfrm>
          <a:prstGeom prst="rect">
            <a:avLst/>
          </a:prstGeom>
          <a:noFill/>
        </p:spPr>
        <p:txBody>
          <a:bodyPr wrap="square" lIns="0" tIns="0" rIns="0" bIns="0" anchor="t">
            <a:spAutoFit/>
          </a:bodyPr>
          <a:lstStyle/>
          <a:p>
            <a:pPr algn="ctr">
              <a:lnSpc>
                <a:spcPct val="115000"/>
              </a:lnSpc>
            </a:pPr>
            <a:r>
              <a:rPr sz="1000" b="0">
                <a:solidFill>
                  <a:srgbClr val="475569"/>
                </a:solidFill>
                <a:latin typeface="Calibri"/>
              </a:rPr>
              <a:t>predicts</a:t>
            </a:r>
          </a:p>
        </p:txBody>
      </p:sp>
      <p:sp>
        <p:nvSpPr>
          <p:cNvPr id="21" name="TextBox 20"/>
          <p:cNvSpPr txBox="1"/>
          <p:nvPr/>
        </p:nvSpPr>
        <p:spPr>
          <a:xfrm>
            <a:off x="3291840" y="4800600"/>
            <a:ext cx="1280160" cy="365760"/>
          </a:xfrm>
          <a:prstGeom prst="rect">
            <a:avLst/>
          </a:prstGeom>
          <a:noFill/>
        </p:spPr>
        <p:txBody>
          <a:bodyPr wrap="square" lIns="0" tIns="0" rIns="0" bIns="0" anchor="t">
            <a:spAutoFit/>
          </a:bodyPr>
          <a:lstStyle/>
          <a:p>
            <a:pPr algn="ctr">
              <a:lnSpc>
                <a:spcPct val="115000"/>
              </a:lnSpc>
            </a:pPr>
            <a:r>
              <a:rPr sz="1200" b="1">
                <a:solidFill>
                  <a:srgbClr val="1E293B"/>
                </a:solidFill>
                <a:latin typeface="Calibri"/>
              </a:rPr>
              <a:t>0  or  1</a:t>
            </a:r>
          </a:p>
        </p:txBody>
      </p:sp>
      <p:sp>
        <p:nvSpPr>
          <p:cNvPr id="22" name="TextBox 21"/>
          <p:cNvSpPr txBox="1"/>
          <p:nvPr/>
        </p:nvSpPr>
        <p:spPr>
          <a:xfrm>
            <a:off x="640080" y="5349240"/>
            <a:ext cx="4114800" cy="274320"/>
          </a:xfrm>
          <a:prstGeom prst="rect">
            <a:avLst/>
          </a:prstGeom>
          <a:noFill/>
        </p:spPr>
        <p:txBody>
          <a:bodyPr wrap="square" lIns="0" tIns="0" rIns="0" bIns="0" anchor="t">
            <a:spAutoFit/>
          </a:bodyPr>
          <a:lstStyle/>
          <a:p>
            <a:pPr algn="ctr">
              <a:lnSpc>
                <a:spcPct val="115000"/>
              </a:lnSpc>
            </a:pPr>
            <a:r>
              <a:rPr sz="1100" b="1">
                <a:solidFill>
                  <a:srgbClr val="94A3B8"/>
                </a:solidFill>
                <a:latin typeface="Calibri"/>
              </a:rPr>
              <a:t>... and 197 more  (200 trees total)</a:t>
            </a:r>
          </a:p>
        </p:txBody>
      </p:sp>
      <p:sp>
        <p:nvSpPr>
          <p:cNvPr id="23" name="Rectangle 22"/>
          <p:cNvSpPr/>
          <p:nvPr/>
        </p:nvSpPr>
        <p:spPr>
          <a:xfrm>
            <a:off x="4983480" y="3931920"/>
            <a:ext cx="2377440"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83480" y="4206240"/>
            <a:ext cx="2377440" cy="457200"/>
          </a:xfrm>
          <a:prstGeom prst="rect">
            <a:avLst/>
          </a:prstGeom>
          <a:noFill/>
        </p:spPr>
        <p:txBody>
          <a:bodyPr wrap="square" lIns="0" tIns="0" rIns="0" bIns="0" anchor="t">
            <a:spAutoFit/>
          </a:bodyPr>
          <a:lstStyle/>
          <a:p>
            <a:pPr algn="ctr">
              <a:lnSpc>
                <a:spcPct val="115000"/>
              </a:lnSpc>
            </a:pPr>
            <a:r>
              <a:rPr sz="2200" b="1">
                <a:solidFill>
                  <a:srgbClr val="FFFFFF"/>
                </a:solidFill>
                <a:latin typeface="Calibri"/>
              </a:rPr>
              <a:t>VOTE</a:t>
            </a:r>
          </a:p>
        </p:txBody>
      </p:sp>
      <p:sp>
        <p:nvSpPr>
          <p:cNvPr id="25" name="TextBox 24"/>
          <p:cNvSpPr txBox="1"/>
          <p:nvPr/>
        </p:nvSpPr>
        <p:spPr>
          <a:xfrm>
            <a:off x="4983480" y="4754880"/>
            <a:ext cx="2377440" cy="365760"/>
          </a:xfrm>
          <a:prstGeom prst="rect">
            <a:avLst/>
          </a:prstGeom>
          <a:noFill/>
        </p:spPr>
        <p:txBody>
          <a:bodyPr wrap="square" lIns="0" tIns="0" rIns="0" bIns="0" anchor="t">
            <a:spAutoFit/>
          </a:bodyPr>
          <a:lstStyle/>
          <a:p>
            <a:pPr algn="ctr">
              <a:lnSpc>
                <a:spcPct val="115000"/>
              </a:lnSpc>
            </a:pPr>
            <a:r>
              <a:rPr sz="1100" b="0">
                <a:solidFill>
                  <a:srgbClr val="FFFFFF"/>
                </a:solidFill>
                <a:latin typeface="Calibri"/>
              </a:rPr>
              <a:t>majority wins</a:t>
            </a:r>
          </a:p>
        </p:txBody>
      </p:sp>
      <p:sp>
        <p:nvSpPr>
          <p:cNvPr id="26" name="Right Arrow 25"/>
          <p:cNvSpPr/>
          <p:nvPr/>
        </p:nvSpPr>
        <p:spPr>
          <a:xfrm>
            <a:off x="4617720" y="4480560"/>
            <a:ext cx="365760" cy="274320"/>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ight Arrow 26"/>
          <p:cNvSpPr/>
          <p:nvPr/>
        </p:nvSpPr>
        <p:spPr>
          <a:xfrm>
            <a:off x="7406640" y="4480560"/>
            <a:ext cx="365760" cy="274320"/>
          </a:xfrm>
          <a:prstGeom prst="right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818120" y="3931920"/>
            <a:ext cx="2286000" cy="1371600"/>
          </a:xfrm>
          <a:prstGeom prst="rect">
            <a:avLst/>
          </a:prstGeom>
          <a:solidFill>
            <a:srgbClr val="0B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18120" y="4206240"/>
            <a:ext cx="2286000" cy="457200"/>
          </a:xfrm>
          <a:prstGeom prst="rect">
            <a:avLst/>
          </a:prstGeom>
          <a:noFill/>
        </p:spPr>
        <p:txBody>
          <a:bodyPr wrap="square" lIns="0" tIns="0" rIns="0" bIns="0" anchor="t">
            <a:spAutoFit/>
          </a:bodyPr>
          <a:lstStyle/>
          <a:p>
            <a:pPr algn="ctr">
              <a:lnSpc>
                <a:spcPct val="115000"/>
              </a:lnSpc>
            </a:pPr>
            <a:r>
              <a:rPr sz="1500" b="1">
                <a:solidFill>
                  <a:srgbClr val="FFFFFF"/>
                </a:solidFill>
                <a:latin typeface="Calibri"/>
              </a:rPr>
              <a:t>PREDICTION</a:t>
            </a:r>
          </a:p>
        </p:txBody>
      </p:sp>
      <p:sp>
        <p:nvSpPr>
          <p:cNvPr id="30" name="TextBox 29"/>
          <p:cNvSpPr txBox="1"/>
          <p:nvPr/>
        </p:nvSpPr>
        <p:spPr>
          <a:xfrm>
            <a:off x="7818120" y="4709160"/>
            <a:ext cx="2286000" cy="457200"/>
          </a:xfrm>
          <a:prstGeom prst="rect">
            <a:avLst/>
          </a:prstGeom>
          <a:noFill/>
        </p:spPr>
        <p:txBody>
          <a:bodyPr wrap="square" lIns="0" tIns="0" rIns="0" bIns="0" anchor="t">
            <a:spAutoFit/>
          </a:bodyPr>
          <a:lstStyle/>
          <a:p>
            <a:pPr algn="ctr">
              <a:lnSpc>
                <a:spcPct val="115000"/>
              </a:lnSpc>
            </a:pPr>
            <a:r>
              <a:rPr sz="1100" b="0">
                <a:solidFill>
                  <a:srgbClr val="FFFFFF"/>
                </a:solidFill>
                <a:latin typeface="Calibri"/>
              </a:rPr>
              <a:t>0 (no diabetes)</a:t>
            </a:r>
          </a:p>
        </p:txBody>
      </p:sp>
      <p:sp>
        <p:nvSpPr>
          <p:cNvPr id="31" name="TextBox 30"/>
          <p:cNvSpPr txBox="1"/>
          <p:nvPr/>
        </p:nvSpPr>
        <p:spPr>
          <a:xfrm>
            <a:off x="7818120" y="4937760"/>
            <a:ext cx="2286000" cy="365760"/>
          </a:xfrm>
          <a:prstGeom prst="rect">
            <a:avLst/>
          </a:prstGeom>
          <a:noFill/>
        </p:spPr>
        <p:txBody>
          <a:bodyPr wrap="square" lIns="0" tIns="0" rIns="0" bIns="0" anchor="t">
            <a:spAutoFit/>
          </a:bodyPr>
          <a:lstStyle/>
          <a:p>
            <a:pPr algn="ctr">
              <a:lnSpc>
                <a:spcPct val="115000"/>
              </a:lnSpc>
            </a:pPr>
            <a:r>
              <a:rPr sz="1100" b="0">
                <a:solidFill>
                  <a:srgbClr val="FFFFFF"/>
                </a:solidFill>
                <a:latin typeface="Calibri"/>
              </a:rPr>
              <a:t>1 (diabetes)</a:t>
            </a:r>
          </a:p>
        </p:txBody>
      </p:sp>
      <p:sp>
        <p:nvSpPr>
          <p:cNvPr id="32" name="Rectangle 31"/>
          <p:cNvSpPr/>
          <p:nvPr/>
        </p:nvSpPr>
        <p:spPr>
          <a:xfrm>
            <a:off x="640080" y="5989320"/>
            <a:ext cx="10972800" cy="27432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6007608"/>
            <a:ext cx="10515600" cy="256032"/>
          </a:xfrm>
          <a:prstGeom prst="rect">
            <a:avLst/>
          </a:prstGeom>
          <a:noFill/>
        </p:spPr>
        <p:txBody>
          <a:bodyPr wrap="square" lIns="0" tIns="0" rIns="0" bIns="0" anchor="t">
            <a:spAutoFit/>
          </a:bodyPr>
          <a:lstStyle/>
          <a:p>
            <a:pPr algn="ctr">
              <a:lnSpc>
                <a:spcPct val="115000"/>
              </a:lnSpc>
            </a:pPr>
            <a:r>
              <a:rPr sz="1100" b="1">
                <a:solidFill>
                  <a:srgbClr val="475569"/>
                </a:solidFill>
                <a:latin typeface="Calibri"/>
              </a:rPr>
              <a:t>WHY: best F1 score across 4 models tested, and gives feature importance for free.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05  ·  WORKFLOW</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Block diagram: Input → Methodology → Output</a:t>
            </a:r>
          </a:p>
        </p:txBody>
      </p:sp>
      <p:pic>
        <p:nvPicPr>
          <p:cNvPr id="4" name="Picture 3">
            <a:extLst>
              <a:ext uri="{FF2B5EF4-FFF2-40B4-BE49-F238E27FC236}">
                <a16:creationId xmlns:a16="http://schemas.microsoft.com/office/drawing/2014/main" id="{E3737D2D-B1E0-3BF2-DAAD-DAF0D237AE4A}"/>
              </a:ext>
            </a:extLst>
          </p:cNvPr>
          <p:cNvPicPr>
            <a:picLocks noChangeAspect="1"/>
          </p:cNvPicPr>
          <p:nvPr/>
        </p:nvPicPr>
        <p:blipFill>
          <a:blip r:embed="rId3"/>
          <a:stretch>
            <a:fillRect/>
          </a:stretch>
        </p:blipFill>
        <p:spPr>
          <a:xfrm>
            <a:off x="3180361" y="1436114"/>
            <a:ext cx="5296127" cy="542188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8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06  ·  PREPROCESSING</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Data cleaning — what we did</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6400800" cy="3657600"/>
          </a:xfrm>
          <a:prstGeom prst="rect">
            <a:avLst/>
          </a:prstGeom>
          <a:noFill/>
        </p:spPr>
        <p:txBody>
          <a:bodyPr wrap="square" lIns="0" tIns="0" rIns="0" bIns="0">
            <a:spAutoFit/>
          </a:bodyPr>
          <a:lstStyle/>
          <a:p>
            <a:pPr algn="l">
              <a:lnSpc>
                <a:spcPct val="145000"/>
              </a:lnSpc>
              <a:spcAft>
                <a:spcPts val="1000"/>
              </a:spcAft>
            </a:pPr>
            <a:r>
              <a:t>■ Checked for missing values → 0 originally, then 350 injected (~0.5%) for realism</a:t>
            </a:r>
          </a:p>
          <a:p>
            <a:pPr algn="l">
              <a:lnSpc>
                <a:spcPct val="145000"/>
              </a:lnSpc>
              <a:spcAft>
                <a:spcPts val="1000"/>
              </a:spcAft>
            </a:pPr>
            <a:r>
              <a:t>■ Removed duplicate rows → 1,636 dropped</a:t>
            </a:r>
          </a:p>
          <a:p>
            <a:pPr algn="l">
              <a:lnSpc>
                <a:spcPct val="145000"/>
              </a:lnSpc>
              <a:spcAft>
                <a:spcPts val="1000"/>
              </a:spcAft>
            </a:pPr>
            <a:r>
              <a:t>■ Final shape: 69,057 rows × 22 columns</a:t>
            </a:r>
          </a:p>
          <a:p>
            <a:pPr algn="l">
              <a:lnSpc>
                <a:spcPct val="145000"/>
              </a:lnSpc>
              <a:spcAft>
                <a:spcPts val="1000"/>
              </a:spcAft>
            </a:pPr>
            <a:r>
              <a:rPr sz="1400" b="1">
                <a:solidFill>
                  <a:srgbClr val="F59E0B"/>
                </a:solidFill>
                <a:latin typeface="Calibri"/>
              </a:rPr>
              <a:t>■  </a:t>
            </a:r>
            <a:r>
              <a:rPr sz="1400">
                <a:solidFill>
                  <a:srgbClr val="475569"/>
                </a:solidFill>
                <a:latin typeface="Calibri"/>
              </a:rPr>
              <a:t>Converted 21 columns to int (everything except BMI which is float)</a:t>
            </a:r>
          </a:p>
          <a:p>
            <a:pPr algn="l">
              <a:lnSpc>
                <a:spcPct val="145000"/>
              </a:lnSpc>
              <a:spcAft>
                <a:spcPts val="1000"/>
              </a:spcAft>
            </a:pPr>
            <a:r>
              <a:rPr sz="1400" b="1">
                <a:solidFill>
                  <a:srgbClr val="F59E0B"/>
                </a:solidFill>
                <a:latin typeface="Calibri"/>
              </a:rPr>
              <a:t>■  </a:t>
            </a:r>
            <a:r>
              <a:rPr sz="1400">
                <a:solidFill>
                  <a:srgbClr val="475569"/>
                </a:solidFill>
                <a:latin typeface="Calibri"/>
              </a:rPr>
              <a:t>Verified class balance still ~50 / 50</a:t>
            </a:r>
          </a:p>
        </p:txBody>
      </p:sp>
      <p:sp>
        <p:nvSpPr>
          <p:cNvPr id="9" name="Rectangle 8"/>
          <p:cNvSpPr/>
          <p:nvPr/>
        </p:nvSpPr>
        <p:spPr>
          <a:xfrm>
            <a:off x="7498079" y="2194560"/>
            <a:ext cx="4114800" cy="32918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399" y="2423160"/>
            <a:ext cx="37490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BEFORE  →  AFTER</a:t>
            </a:r>
          </a:p>
        </p:txBody>
      </p:sp>
      <p:sp>
        <p:nvSpPr>
          <p:cNvPr id="11" name="TextBox 10"/>
          <p:cNvSpPr txBox="1"/>
          <p:nvPr/>
        </p:nvSpPr>
        <p:spPr>
          <a:xfrm>
            <a:off x="7772399" y="2834640"/>
            <a:ext cx="374904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Rows</a:t>
            </a:r>
          </a:p>
        </p:txBody>
      </p:sp>
      <p:sp>
        <p:nvSpPr>
          <p:cNvPr id="12" name="TextBox 11"/>
          <p:cNvSpPr txBox="1"/>
          <p:nvPr/>
        </p:nvSpPr>
        <p:spPr>
          <a:xfrm>
            <a:off x="7772399" y="3154680"/>
            <a:ext cx="3749040" cy="45720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70 693  →  69 057</a:t>
            </a:r>
          </a:p>
        </p:txBody>
      </p:sp>
      <p:sp>
        <p:nvSpPr>
          <p:cNvPr id="13" name="TextBox 12"/>
          <p:cNvSpPr txBox="1"/>
          <p:nvPr/>
        </p:nvSpPr>
        <p:spPr>
          <a:xfrm>
            <a:off x="7772399" y="3840480"/>
            <a:ext cx="374904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Duplicates</a:t>
            </a:r>
          </a:p>
        </p:txBody>
      </p:sp>
      <p:sp>
        <p:nvSpPr>
          <p:cNvPr id="14" name="TextBox 13"/>
          <p:cNvSpPr txBox="1"/>
          <p:nvPr/>
        </p:nvSpPr>
        <p:spPr>
          <a:xfrm>
            <a:off x="7772399" y="4160520"/>
            <a:ext cx="3749040" cy="45720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1 636  →  0</a:t>
            </a:r>
          </a:p>
        </p:txBody>
      </p:sp>
      <p:sp>
        <p:nvSpPr>
          <p:cNvPr id="15" name="TextBox 14"/>
          <p:cNvSpPr txBox="1"/>
          <p:nvPr/>
        </p:nvSpPr>
        <p:spPr>
          <a:xfrm>
            <a:off x="7772399" y="4846320"/>
            <a:ext cx="3749040" cy="365760"/>
          </a:xfrm>
          <a:prstGeom prst="rect">
            <a:avLst/>
          </a:prstGeom>
          <a:noFill/>
        </p:spPr>
        <p:txBody>
          <a:bodyPr wrap="square" lIns="0" tIns="0" rIns="0" bIns="0" anchor="t">
            <a:spAutoFit/>
          </a:bodyPr>
          <a:lstStyle/>
          <a:p>
            <a:pPr algn="l">
              <a:lnSpc>
                <a:spcPct val="115000"/>
              </a:lnSpc>
            </a:pPr>
            <a:r>
              <a:rPr sz="1100" b="1">
                <a:solidFill>
                  <a:srgbClr val="0F766E"/>
                </a:solidFill>
                <a:latin typeface="Calibri"/>
              </a:rPr>
              <a:t>Missing values</a:t>
            </a:r>
          </a:p>
        </p:txBody>
      </p:sp>
      <p:sp>
        <p:nvSpPr>
          <p:cNvPr id="16" name="TextBox 15"/>
          <p:cNvSpPr txBox="1"/>
          <p:nvPr/>
        </p:nvSpPr>
        <p:spPr>
          <a:xfrm>
            <a:off x="7772399" y="5166360"/>
            <a:ext cx="3749040" cy="274320"/>
          </a:xfrm>
          <a:prstGeom prst="rect">
            <a:avLst/>
          </a:prstGeom>
          <a:noFill/>
        </p:spPr>
        <p:txBody>
          <a:bodyPr wrap="square" lIns="0" tIns="0" rIns="0" bIns="0" anchor="t">
            <a:spAutoFit/>
          </a:bodyPr>
          <a:lstStyle/>
          <a:p>
            <a:pPr algn="l">
              <a:lnSpc>
                <a:spcPct val="115000"/>
              </a:lnSpc>
            </a:pPr>
            <a:r>
              <a:rPr sz="1400" b="0">
                <a:solidFill>
                  <a:srgbClr val="1E293B"/>
                </a:solidFill>
                <a:latin typeface="Calibri"/>
              </a:rPr>
              <a:t>0  →  0  ✓ already clean</a:t>
            </a:r>
          </a:p>
        </p:txBody>
      </p:sp>
      <p:sp>
        <p:nvSpPr>
          <p:cNvPr id="17" name="TextBox 16"/>
          <p:cNvSpPr txBox="1"/>
          <p:nvPr/>
        </p:nvSpPr>
        <p:spPr>
          <a:xfrm>
            <a:off x="457200" y="5760720"/>
            <a:ext cx="10972800" cy="731520"/>
          </a:xfrm>
          <a:prstGeom prst="rect">
            <a:avLst/>
          </a:prstGeom>
          <a:noFill/>
        </p:spPr>
        <p:txBody>
          <a:bodyPr wrap="none">
            <a:spAutoFit/>
          </a:bodyPr>
          <a:lstStyle/>
          <a:p>
            <a:pPr>
              <a:defRPr sz="1200">
                <a:solidFill>
                  <a:srgbClr val="0F766E"/>
                </a:solidFill>
              </a:defRPr>
            </a:pPr>
            <a:r>
              <a:t>Note: 350 missing values were intentionally added (per supervisor request) then imputed with column median. See Jupyter for exact code.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9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07  ·  EDA</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Exploratory data analysis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1_class_balance.png"/>
          <p:cNvPicPr>
            <a:picLocks noChangeAspect="1"/>
          </p:cNvPicPr>
          <p:nvPr/>
        </p:nvPicPr>
        <p:blipFill>
          <a:blip r:embed="rId3"/>
          <a:stretch>
            <a:fillRect/>
          </a:stretch>
        </p:blipFill>
        <p:spPr>
          <a:xfrm>
            <a:off x="640080" y="1554480"/>
            <a:ext cx="5303520" cy="2606040"/>
          </a:xfrm>
          <a:prstGeom prst="rect">
            <a:avLst/>
          </a:prstGeom>
        </p:spPr>
      </p:pic>
      <p:pic>
        <p:nvPicPr>
          <p:cNvPr id="9" name="Picture 8" descr="02_bmi_distribution.png"/>
          <p:cNvPicPr>
            <a:picLocks noChangeAspect="1"/>
          </p:cNvPicPr>
          <p:nvPr/>
        </p:nvPicPr>
        <p:blipFill>
          <a:blip r:embed="rId4"/>
          <a:stretch>
            <a:fillRect/>
          </a:stretch>
        </p:blipFill>
        <p:spPr>
          <a:xfrm>
            <a:off x="6202375" y="1304163"/>
            <a:ext cx="5303520" cy="2782062"/>
          </a:xfrm>
          <a:prstGeom prst="rect">
            <a:avLst/>
          </a:prstGeom>
        </p:spPr>
      </p:pic>
      <p:pic>
        <p:nvPicPr>
          <p:cNvPr id="10" name="Picture 9" descr="03_bmi_boxplot.png"/>
          <p:cNvPicPr>
            <a:picLocks noChangeAspect="1"/>
          </p:cNvPicPr>
          <p:nvPr/>
        </p:nvPicPr>
        <p:blipFill>
          <a:blip r:embed="rId5">
            <a:clrChange>
              <a:clrFrom>
                <a:srgbClr val="FFFFFF"/>
              </a:clrFrom>
              <a:clrTo>
                <a:srgbClr val="FFFFFF">
                  <a:alpha val="0"/>
                </a:srgbClr>
              </a:clrTo>
            </a:clrChange>
          </a:blip>
          <a:stretch>
            <a:fillRect/>
          </a:stretch>
        </p:blipFill>
        <p:spPr>
          <a:xfrm>
            <a:off x="640080" y="4086225"/>
            <a:ext cx="5303520" cy="2606040"/>
          </a:xfrm>
          <a:prstGeom prst="rect">
            <a:avLst/>
          </a:prstGeom>
        </p:spPr>
      </p:pic>
      <p:pic>
        <p:nvPicPr>
          <p:cNvPr id="11" name="Picture 10" descr="04_bp_chol.png"/>
          <p:cNvPicPr>
            <a:picLocks noChangeAspect="1"/>
          </p:cNvPicPr>
          <p:nvPr/>
        </p:nvPicPr>
        <p:blipFill>
          <a:blip r:embed="rId6">
            <a:clrChange>
              <a:clrFrom>
                <a:srgbClr val="FFFFFF"/>
              </a:clrFrom>
              <a:clrTo>
                <a:srgbClr val="FFFFFF">
                  <a:alpha val="0"/>
                </a:srgbClr>
              </a:clrTo>
            </a:clrChange>
          </a:blip>
          <a:stretch>
            <a:fillRect/>
          </a:stretch>
        </p:blipFill>
        <p:spPr>
          <a:xfrm>
            <a:off x="6263639" y="4086225"/>
            <a:ext cx="5653735" cy="24974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10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08  ·  CORRELATION</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Which features matter most?</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0" y="1828800"/>
            <a:ext cx="5029200" cy="36576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TOP 10 CORRELATED WITH DIABETES</a:t>
            </a:r>
          </a:p>
        </p:txBody>
      </p:sp>
      <p:sp>
        <p:nvSpPr>
          <p:cNvPr id="10" name="TextBox 9"/>
          <p:cNvSpPr txBox="1"/>
          <p:nvPr/>
        </p:nvSpPr>
        <p:spPr>
          <a:xfrm>
            <a:off x="6949440" y="2286000"/>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GenHlth</a:t>
            </a:r>
          </a:p>
        </p:txBody>
      </p:sp>
      <p:sp>
        <p:nvSpPr>
          <p:cNvPr id="11" name="Rectangle 10"/>
          <p:cNvSpPr/>
          <p:nvPr/>
        </p:nvSpPr>
        <p:spPr>
          <a:xfrm>
            <a:off x="9509760" y="2350008"/>
            <a:ext cx="1996592"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97792" y="2286000"/>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0.40</a:t>
            </a:r>
          </a:p>
        </p:txBody>
      </p:sp>
      <p:sp>
        <p:nvSpPr>
          <p:cNvPr id="13" name="TextBox 12"/>
          <p:cNvSpPr txBox="1"/>
          <p:nvPr/>
        </p:nvSpPr>
        <p:spPr>
          <a:xfrm>
            <a:off x="6949440" y="2670048"/>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HighBP</a:t>
            </a:r>
          </a:p>
        </p:txBody>
      </p:sp>
      <p:sp>
        <p:nvSpPr>
          <p:cNvPr id="14" name="Rectangle 13"/>
          <p:cNvSpPr/>
          <p:nvPr/>
        </p:nvSpPr>
        <p:spPr>
          <a:xfrm>
            <a:off x="9509760" y="2734056"/>
            <a:ext cx="1870862"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72062" y="2670048"/>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0.37</a:t>
            </a:r>
          </a:p>
        </p:txBody>
      </p:sp>
      <p:sp>
        <p:nvSpPr>
          <p:cNvPr id="16" name="TextBox 15"/>
          <p:cNvSpPr txBox="1"/>
          <p:nvPr/>
        </p:nvSpPr>
        <p:spPr>
          <a:xfrm>
            <a:off x="6949440" y="3054096"/>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BMI</a:t>
            </a:r>
          </a:p>
        </p:txBody>
      </p:sp>
      <p:sp>
        <p:nvSpPr>
          <p:cNvPr id="17" name="Rectangle 16"/>
          <p:cNvSpPr/>
          <p:nvPr/>
        </p:nvSpPr>
        <p:spPr>
          <a:xfrm>
            <a:off x="9509760" y="3118104"/>
            <a:ext cx="1438351"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039551" y="3054096"/>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0.29</a:t>
            </a:r>
          </a:p>
        </p:txBody>
      </p:sp>
      <p:sp>
        <p:nvSpPr>
          <p:cNvPr id="19" name="TextBox 18"/>
          <p:cNvSpPr txBox="1"/>
          <p:nvPr/>
        </p:nvSpPr>
        <p:spPr>
          <a:xfrm>
            <a:off x="6949440" y="3438144"/>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HighChol</a:t>
            </a:r>
          </a:p>
        </p:txBody>
      </p:sp>
      <p:sp>
        <p:nvSpPr>
          <p:cNvPr id="20" name="Rectangle 19"/>
          <p:cNvSpPr/>
          <p:nvPr/>
        </p:nvSpPr>
        <p:spPr>
          <a:xfrm>
            <a:off x="9509760" y="3502152"/>
            <a:ext cx="1413205"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014405" y="3438144"/>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0.28</a:t>
            </a:r>
          </a:p>
        </p:txBody>
      </p:sp>
      <p:sp>
        <p:nvSpPr>
          <p:cNvPr id="22" name="TextBox 21"/>
          <p:cNvSpPr txBox="1"/>
          <p:nvPr/>
        </p:nvSpPr>
        <p:spPr>
          <a:xfrm>
            <a:off x="6949440" y="3822192"/>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Age</a:t>
            </a:r>
          </a:p>
        </p:txBody>
      </p:sp>
      <p:sp>
        <p:nvSpPr>
          <p:cNvPr id="23" name="Rectangle 22"/>
          <p:cNvSpPr/>
          <p:nvPr/>
        </p:nvSpPr>
        <p:spPr>
          <a:xfrm>
            <a:off x="9509760" y="3886200"/>
            <a:ext cx="1383030"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84230" y="3822192"/>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0.28</a:t>
            </a:r>
          </a:p>
        </p:txBody>
      </p:sp>
      <p:sp>
        <p:nvSpPr>
          <p:cNvPr id="25" name="TextBox 24"/>
          <p:cNvSpPr txBox="1"/>
          <p:nvPr/>
        </p:nvSpPr>
        <p:spPr>
          <a:xfrm>
            <a:off x="6949440" y="4206240"/>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DiffWalk</a:t>
            </a:r>
          </a:p>
        </p:txBody>
      </p:sp>
      <p:sp>
        <p:nvSpPr>
          <p:cNvPr id="26" name="Rectangle 25"/>
          <p:cNvSpPr/>
          <p:nvPr/>
        </p:nvSpPr>
        <p:spPr>
          <a:xfrm>
            <a:off x="9509760" y="4270248"/>
            <a:ext cx="1342796"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943996" y="4206240"/>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0.27</a:t>
            </a:r>
          </a:p>
        </p:txBody>
      </p:sp>
      <p:sp>
        <p:nvSpPr>
          <p:cNvPr id="28" name="TextBox 27"/>
          <p:cNvSpPr txBox="1"/>
          <p:nvPr/>
        </p:nvSpPr>
        <p:spPr>
          <a:xfrm>
            <a:off x="6949440" y="4590288"/>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Income</a:t>
            </a:r>
          </a:p>
        </p:txBody>
      </p:sp>
      <p:sp>
        <p:nvSpPr>
          <p:cNvPr id="29" name="Rectangle 28"/>
          <p:cNvSpPr/>
          <p:nvPr/>
        </p:nvSpPr>
        <p:spPr>
          <a:xfrm>
            <a:off x="9509760" y="4654296"/>
            <a:ext cx="1071219"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672419" y="4590288"/>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0.21</a:t>
            </a:r>
          </a:p>
        </p:txBody>
      </p:sp>
      <p:sp>
        <p:nvSpPr>
          <p:cNvPr id="31" name="TextBox 30"/>
          <p:cNvSpPr txBox="1"/>
          <p:nvPr/>
        </p:nvSpPr>
        <p:spPr>
          <a:xfrm>
            <a:off x="6949440" y="4974336"/>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HeartDiseaseorAttack</a:t>
            </a:r>
          </a:p>
        </p:txBody>
      </p:sp>
      <p:sp>
        <p:nvSpPr>
          <p:cNvPr id="32" name="Rectangle 31"/>
          <p:cNvSpPr/>
          <p:nvPr/>
        </p:nvSpPr>
        <p:spPr>
          <a:xfrm>
            <a:off x="9509760" y="5038344"/>
            <a:ext cx="1041044"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42244" y="4974336"/>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0.21</a:t>
            </a:r>
          </a:p>
        </p:txBody>
      </p:sp>
      <p:sp>
        <p:nvSpPr>
          <p:cNvPr id="34" name="TextBox 33"/>
          <p:cNvSpPr txBox="1"/>
          <p:nvPr/>
        </p:nvSpPr>
        <p:spPr>
          <a:xfrm>
            <a:off x="6949440" y="5358384"/>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PhysHlth</a:t>
            </a:r>
          </a:p>
        </p:txBody>
      </p:sp>
      <p:sp>
        <p:nvSpPr>
          <p:cNvPr id="35" name="Rectangle 34"/>
          <p:cNvSpPr/>
          <p:nvPr/>
        </p:nvSpPr>
        <p:spPr>
          <a:xfrm>
            <a:off x="9509760" y="5422392"/>
            <a:ext cx="1041044"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642244" y="5358384"/>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0.21</a:t>
            </a:r>
          </a:p>
        </p:txBody>
      </p:sp>
      <p:sp>
        <p:nvSpPr>
          <p:cNvPr id="37" name="TextBox 36"/>
          <p:cNvSpPr txBox="1"/>
          <p:nvPr/>
        </p:nvSpPr>
        <p:spPr>
          <a:xfrm>
            <a:off x="6949440" y="5742432"/>
            <a:ext cx="2468880" cy="320040"/>
          </a:xfrm>
          <a:prstGeom prst="rect">
            <a:avLst/>
          </a:prstGeom>
          <a:noFill/>
        </p:spPr>
        <p:txBody>
          <a:bodyPr wrap="square" lIns="0" tIns="0" rIns="0" bIns="0" anchor="t">
            <a:spAutoFit/>
          </a:bodyPr>
          <a:lstStyle/>
          <a:p>
            <a:pPr algn="l">
              <a:lnSpc>
                <a:spcPct val="115000"/>
              </a:lnSpc>
            </a:pPr>
            <a:r>
              <a:rPr sz="1200" b="1">
                <a:solidFill>
                  <a:srgbClr val="1E293B"/>
                </a:solidFill>
                <a:latin typeface="Calibri"/>
              </a:rPr>
              <a:t>Education</a:t>
            </a:r>
          </a:p>
        </p:txBody>
      </p:sp>
      <p:sp>
        <p:nvSpPr>
          <p:cNvPr id="38" name="Rectangle 37"/>
          <p:cNvSpPr/>
          <p:nvPr/>
        </p:nvSpPr>
        <p:spPr>
          <a:xfrm>
            <a:off x="9509760" y="5806440"/>
            <a:ext cx="799642" cy="1828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400842" y="5742432"/>
            <a:ext cx="73152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0.16</a:t>
            </a:r>
          </a:p>
        </p:txBody>
      </p:sp>
      <p:pic>
        <p:nvPicPr>
          <p:cNvPr id="40" name="Picture 39" descr="05_correlation_heatmap.png"/>
          <p:cNvPicPr>
            <a:picLocks noChangeAspect="1"/>
          </p:cNvPicPr>
          <p:nvPr/>
        </p:nvPicPr>
        <p:blipFill>
          <a:blip r:embed="rId3">
            <a:clrChange>
              <a:clrFrom>
                <a:srgbClr val="FFFFFF"/>
              </a:clrFrom>
              <a:clrTo>
                <a:srgbClr val="FFFFFF">
                  <a:alpha val="0"/>
                </a:srgbClr>
              </a:clrTo>
            </a:clrChange>
            <a:alphaModFix/>
          </a:blip>
          <a:stretch>
            <a:fillRect/>
          </a:stretch>
        </p:blipFill>
        <p:spPr>
          <a:xfrm>
            <a:off x="811378" y="1563624"/>
            <a:ext cx="5450434" cy="48343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11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09  ·  SPLIT</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Train / test split — done before everything else</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6400800" cy="3657600"/>
          </a:xfrm>
          <a:prstGeom prst="rect">
            <a:avLst/>
          </a:prstGeom>
          <a:noFill/>
        </p:spPr>
        <p:txBody>
          <a:bodyPr wrap="square" lIns="0" tIns="0" rIns="0" bIns="0">
            <a:spAutoFit/>
          </a:bodyPr>
          <a:lstStyle/>
          <a:p>
            <a:pPr algn="l">
              <a:lnSpc>
                <a:spcPct val="150000"/>
              </a:lnSpc>
              <a:spcAft>
                <a:spcPts val="1000"/>
              </a:spcAft>
            </a:pPr>
            <a:r>
              <a:rPr sz="1500" b="1">
                <a:solidFill>
                  <a:srgbClr val="F59E0B"/>
                </a:solidFill>
                <a:latin typeface="Calibri"/>
              </a:rPr>
              <a:t>■  </a:t>
            </a:r>
            <a:r>
              <a:rPr sz="1500">
                <a:solidFill>
                  <a:srgbClr val="475569"/>
                </a:solidFill>
                <a:latin typeface="Calibri"/>
              </a:rPr>
              <a:t>80 % training data  ·  20 % test data</a:t>
            </a:r>
          </a:p>
          <a:p>
            <a:pPr algn="l">
              <a:lnSpc>
                <a:spcPct val="150000"/>
              </a:lnSpc>
              <a:spcAft>
                <a:spcPts val="1000"/>
              </a:spcAft>
            </a:pPr>
            <a:r>
              <a:rPr sz="1500" b="1">
                <a:solidFill>
                  <a:srgbClr val="F59E0B"/>
                </a:solidFill>
                <a:latin typeface="Calibri"/>
              </a:rPr>
              <a:t>■  </a:t>
            </a:r>
            <a:r>
              <a:rPr sz="1500">
                <a:solidFill>
                  <a:srgbClr val="475569"/>
                </a:solidFill>
                <a:latin typeface="Calibri"/>
              </a:rPr>
              <a:t>Stratified by target → keeps 50 / 50 balance in both splits</a:t>
            </a:r>
          </a:p>
          <a:p>
            <a:pPr algn="l">
              <a:lnSpc>
                <a:spcPct val="150000"/>
              </a:lnSpc>
              <a:spcAft>
                <a:spcPts val="1000"/>
              </a:spcAft>
            </a:pPr>
            <a:r>
              <a:rPr sz="1500" b="1">
                <a:solidFill>
                  <a:srgbClr val="F59E0B"/>
                </a:solidFill>
                <a:latin typeface="Calibri"/>
              </a:rPr>
              <a:t>■  </a:t>
            </a:r>
            <a:r>
              <a:rPr sz="1500">
                <a:solidFill>
                  <a:srgbClr val="475569"/>
                </a:solidFill>
                <a:latin typeface="Calibri"/>
              </a:rPr>
              <a:t>random_state = 42 → reproducible results</a:t>
            </a:r>
          </a:p>
          <a:p>
            <a:pPr algn="l">
              <a:lnSpc>
                <a:spcPct val="150000"/>
              </a:lnSpc>
              <a:spcAft>
                <a:spcPts val="1000"/>
              </a:spcAft>
            </a:pPr>
            <a:r>
              <a:rPr sz="1500" b="1">
                <a:solidFill>
                  <a:srgbClr val="F59E0B"/>
                </a:solidFill>
                <a:latin typeface="Calibri"/>
              </a:rPr>
              <a:t>■  </a:t>
            </a:r>
            <a:r>
              <a:rPr sz="1500">
                <a:solidFill>
                  <a:srgbClr val="475569"/>
                </a:solidFill>
                <a:latin typeface="Calibri"/>
              </a:rPr>
              <a:t>Split BEFORE any preprocessing → prevents data leakage</a:t>
            </a:r>
          </a:p>
        </p:txBody>
      </p:sp>
      <p:sp>
        <p:nvSpPr>
          <p:cNvPr id="9" name="TextBox 8"/>
          <p:cNvSpPr txBox="1"/>
          <p:nvPr/>
        </p:nvSpPr>
        <p:spPr>
          <a:xfrm>
            <a:off x="7498079" y="1828800"/>
            <a:ext cx="4114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DATA SPLIT</a:t>
            </a:r>
          </a:p>
        </p:txBody>
      </p:sp>
      <p:sp>
        <p:nvSpPr>
          <p:cNvPr id="10" name="Rectangle 9"/>
          <p:cNvSpPr/>
          <p:nvPr/>
        </p:nvSpPr>
        <p:spPr>
          <a:xfrm>
            <a:off x="7498079" y="2286000"/>
            <a:ext cx="3291840" cy="7315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789919" y="2286000"/>
            <a:ext cx="822960" cy="7315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3154680"/>
            <a:ext cx="3291840" cy="274320"/>
          </a:xfrm>
          <a:prstGeom prst="rect">
            <a:avLst/>
          </a:prstGeom>
          <a:noFill/>
        </p:spPr>
        <p:txBody>
          <a:bodyPr wrap="square" lIns="0" tIns="0" rIns="0" bIns="0" anchor="t">
            <a:spAutoFit/>
          </a:bodyPr>
          <a:lstStyle/>
          <a:p>
            <a:pPr algn="ctr">
              <a:lnSpc>
                <a:spcPct val="115000"/>
              </a:lnSpc>
            </a:pPr>
            <a:r>
              <a:rPr sz="1000" b="0">
                <a:solidFill>
                  <a:srgbClr val="1E293B"/>
                </a:solidFill>
                <a:latin typeface="Calibri"/>
              </a:rPr>
              <a:t>Train · 55 245 rows</a:t>
            </a:r>
          </a:p>
        </p:txBody>
      </p:sp>
      <p:sp>
        <p:nvSpPr>
          <p:cNvPr id="13" name="TextBox 12"/>
          <p:cNvSpPr txBox="1"/>
          <p:nvPr/>
        </p:nvSpPr>
        <p:spPr>
          <a:xfrm>
            <a:off x="10789919" y="3154680"/>
            <a:ext cx="822960" cy="274320"/>
          </a:xfrm>
          <a:prstGeom prst="rect">
            <a:avLst/>
          </a:prstGeom>
          <a:noFill/>
        </p:spPr>
        <p:txBody>
          <a:bodyPr wrap="square" lIns="0" tIns="0" rIns="0" bIns="0" anchor="t">
            <a:spAutoFit/>
          </a:bodyPr>
          <a:lstStyle/>
          <a:p>
            <a:pPr algn="ctr">
              <a:lnSpc>
                <a:spcPct val="115000"/>
              </a:lnSpc>
            </a:pPr>
            <a:r>
              <a:rPr sz="1000" b="0">
                <a:solidFill>
                  <a:srgbClr val="1E293B"/>
                </a:solidFill>
                <a:latin typeface="Calibri"/>
              </a:rPr>
              <a:t>Test · 13 812</a:t>
            </a:r>
          </a:p>
        </p:txBody>
      </p:sp>
      <p:sp>
        <p:nvSpPr>
          <p:cNvPr id="14" name="Rectangle 13"/>
          <p:cNvSpPr/>
          <p:nvPr/>
        </p:nvSpPr>
        <p:spPr>
          <a:xfrm>
            <a:off x="7498079" y="4114800"/>
            <a:ext cx="4114800" cy="219456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399" y="4297680"/>
            <a:ext cx="3749040" cy="32004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WHY SPLIT FIRST?</a:t>
            </a:r>
          </a:p>
        </p:txBody>
      </p:sp>
      <p:sp>
        <p:nvSpPr>
          <p:cNvPr id="16" name="TextBox 15"/>
          <p:cNvSpPr txBox="1"/>
          <p:nvPr/>
        </p:nvSpPr>
        <p:spPr>
          <a:xfrm>
            <a:off x="7772399" y="4709160"/>
            <a:ext cx="3749040" cy="1463040"/>
          </a:xfrm>
          <a:prstGeom prst="rect">
            <a:avLst/>
          </a:prstGeom>
          <a:noFill/>
        </p:spPr>
        <p:txBody>
          <a:bodyPr wrap="square" lIns="0" tIns="0" rIns="0" bIns="0" anchor="t">
            <a:spAutoFit/>
          </a:bodyPr>
          <a:lstStyle/>
          <a:p>
            <a:pPr algn="l">
              <a:lnSpc>
                <a:spcPct val="135000"/>
              </a:lnSpc>
            </a:pPr>
            <a:r>
              <a:rPr sz="1200" b="0">
                <a:solidFill>
                  <a:srgbClr val="1E293B"/>
                </a:solidFill>
                <a:latin typeface="Calibri"/>
              </a:rPr>
              <a:t>If we scaled, imputed, or sampled before splitting, information from the test set would leak into training. Accuracy would look great in our notebook but fail on new data.</a:t>
            </a:r>
          </a:p>
        </p:txBody>
      </p:sp>
      <p:sp>
        <p:nvSpPr>
          <p:cNvPr id="17" name="TextBox 16"/>
          <p:cNvSpPr txBox="1"/>
          <p:nvPr/>
        </p:nvSpPr>
        <p:spPr>
          <a:xfrm>
            <a:off x="365760" y="4389120"/>
            <a:ext cx="11430000" cy="2011680"/>
          </a:xfrm>
          <a:prstGeom prst="rect">
            <a:avLst/>
          </a:prstGeom>
          <a:noFill/>
        </p:spPr>
        <p:txBody>
          <a:bodyPr wrap="square">
            <a:spAutoFit/>
          </a:bodyPr>
          <a:lstStyle/>
          <a:p>
            <a:pPr>
              <a:defRPr sz="1100" b="1">
                <a:solidFill>
                  <a:srgbClr val="0F766E"/>
                </a:solidFill>
              </a:defRPr>
            </a:pPr>
            <a:r>
              <a:t>Code (from notebook):</a:t>
            </a:r>
          </a:p>
          <a:p>
            <a:pPr>
              <a:defRPr sz="1000">
                <a:latin typeface="Courier New"/>
              </a:defRPr>
            </a:pPr>
            <a:r>
              <a:t>from sklearn.model_selection import train_test_split</a:t>
            </a:r>
          </a:p>
          <a:p>
            <a:pPr>
              <a:defRPr sz="1000">
                <a:latin typeface="Courier New"/>
              </a:defRPr>
            </a:pPr>
            <a:r>
              <a:t>X_train, X_test, y_train, y_test = train_test_split(X, y, test_size=0.2, random_state=42, stratify=y)</a:t>
            </a:r>
          </a:p>
          <a:p>
            <a:pPr>
              <a:defRPr sz="1000">
                <a:latin typeface="Courier New"/>
              </a:defRPr>
            </a:pPr>
            <a:r>
              <a:t># Train: (55,245, 21)   |   Test: (13,812, 21)   ← Split done BEFORE any modeling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12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10  ·  APPROACH</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Why supervised machine learning?</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286000"/>
            <a:ext cx="3657600" cy="2834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2286000"/>
            <a:ext cx="73152" cy="2834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14600"/>
            <a:ext cx="32918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LEARNING TYPE</a:t>
            </a:r>
          </a:p>
        </p:txBody>
      </p:sp>
      <p:sp>
        <p:nvSpPr>
          <p:cNvPr id="11" name="TextBox 10"/>
          <p:cNvSpPr txBox="1"/>
          <p:nvPr/>
        </p:nvSpPr>
        <p:spPr>
          <a:xfrm>
            <a:off x="914400" y="2834640"/>
            <a:ext cx="3291840" cy="54864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Supervised</a:t>
            </a:r>
          </a:p>
        </p:txBody>
      </p:sp>
      <p:sp>
        <p:nvSpPr>
          <p:cNvPr id="12" name="TextBox 11"/>
          <p:cNvSpPr txBox="1"/>
          <p:nvPr/>
        </p:nvSpPr>
        <p:spPr>
          <a:xfrm>
            <a:off x="914400" y="3611880"/>
            <a:ext cx="3291840" cy="1371600"/>
          </a:xfrm>
          <a:prstGeom prst="rect">
            <a:avLst/>
          </a:prstGeom>
          <a:noFill/>
        </p:spPr>
        <p:txBody>
          <a:bodyPr wrap="square" lIns="0" tIns="0" rIns="0" bIns="0" anchor="t">
            <a:spAutoFit/>
          </a:bodyPr>
          <a:lstStyle/>
          <a:p>
            <a:pPr algn="l">
              <a:lnSpc>
                <a:spcPct val="135000"/>
              </a:lnSpc>
            </a:pPr>
            <a:r>
              <a:rPr sz="1200" b="0">
                <a:solidFill>
                  <a:srgbClr val="475569"/>
                </a:solidFill>
                <a:latin typeface="Calibri"/>
              </a:rPr>
              <a:t>The target column is labeled (0 / 1) — the model learns from known examples.</a:t>
            </a:r>
          </a:p>
        </p:txBody>
      </p:sp>
      <p:sp>
        <p:nvSpPr>
          <p:cNvPr id="13" name="Rectangle 12"/>
          <p:cNvSpPr/>
          <p:nvPr/>
        </p:nvSpPr>
        <p:spPr>
          <a:xfrm>
            <a:off x="4480560" y="2286000"/>
            <a:ext cx="3657600" cy="2834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80560" y="2286000"/>
            <a:ext cx="73152" cy="2834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54880" y="2514600"/>
            <a:ext cx="32918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TASK</a:t>
            </a:r>
          </a:p>
        </p:txBody>
      </p:sp>
      <p:sp>
        <p:nvSpPr>
          <p:cNvPr id="16" name="TextBox 15"/>
          <p:cNvSpPr txBox="1"/>
          <p:nvPr/>
        </p:nvSpPr>
        <p:spPr>
          <a:xfrm>
            <a:off x="4754880" y="2834640"/>
            <a:ext cx="3291840" cy="54864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Classification</a:t>
            </a:r>
          </a:p>
        </p:txBody>
      </p:sp>
      <p:sp>
        <p:nvSpPr>
          <p:cNvPr id="17" name="TextBox 16"/>
          <p:cNvSpPr txBox="1"/>
          <p:nvPr/>
        </p:nvSpPr>
        <p:spPr>
          <a:xfrm>
            <a:off x="4754880" y="3611880"/>
            <a:ext cx="3291840" cy="1371600"/>
          </a:xfrm>
          <a:prstGeom prst="rect">
            <a:avLst/>
          </a:prstGeom>
          <a:noFill/>
        </p:spPr>
        <p:txBody>
          <a:bodyPr wrap="square" lIns="0" tIns="0" rIns="0" bIns="0" anchor="t">
            <a:spAutoFit/>
          </a:bodyPr>
          <a:lstStyle/>
          <a:p>
            <a:pPr algn="l">
              <a:lnSpc>
                <a:spcPct val="135000"/>
              </a:lnSpc>
            </a:pPr>
            <a:r>
              <a:rPr sz="1200" b="0">
                <a:solidFill>
                  <a:srgbClr val="475569"/>
                </a:solidFill>
                <a:latin typeface="Calibri"/>
              </a:rPr>
              <a:t>We predict a discrete class, not a number. Two classes → binary classification.</a:t>
            </a:r>
          </a:p>
        </p:txBody>
      </p:sp>
      <p:sp>
        <p:nvSpPr>
          <p:cNvPr id="18" name="Rectangle 17"/>
          <p:cNvSpPr/>
          <p:nvPr/>
        </p:nvSpPr>
        <p:spPr>
          <a:xfrm>
            <a:off x="8321040" y="2286000"/>
            <a:ext cx="3657600" cy="2834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21040" y="2286000"/>
            <a:ext cx="73152" cy="2834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95360" y="2514600"/>
            <a:ext cx="32918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OUTPUT</a:t>
            </a:r>
          </a:p>
        </p:txBody>
      </p:sp>
      <p:sp>
        <p:nvSpPr>
          <p:cNvPr id="21" name="TextBox 20"/>
          <p:cNvSpPr txBox="1"/>
          <p:nvPr/>
        </p:nvSpPr>
        <p:spPr>
          <a:xfrm>
            <a:off x="8595360" y="2834640"/>
            <a:ext cx="3291840" cy="548640"/>
          </a:xfrm>
          <a:prstGeom prst="rect">
            <a:avLst/>
          </a:prstGeom>
          <a:noFill/>
        </p:spPr>
        <p:txBody>
          <a:bodyPr wrap="square" lIns="0" tIns="0" rIns="0" bIns="0" anchor="t">
            <a:spAutoFit/>
          </a:bodyPr>
          <a:lstStyle/>
          <a:p>
            <a:pPr algn="l">
              <a:lnSpc>
                <a:spcPct val="115000"/>
              </a:lnSpc>
            </a:pPr>
            <a:r>
              <a:rPr sz="2000" b="1">
                <a:solidFill>
                  <a:srgbClr val="1E293B"/>
                </a:solidFill>
                <a:latin typeface="Calibri"/>
              </a:rPr>
              <a:t>Probability + label</a:t>
            </a:r>
          </a:p>
        </p:txBody>
      </p:sp>
      <p:sp>
        <p:nvSpPr>
          <p:cNvPr id="22" name="TextBox 21"/>
          <p:cNvSpPr txBox="1"/>
          <p:nvPr/>
        </p:nvSpPr>
        <p:spPr>
          <a:xfrm>
            <a:off x="8595360" y="3611880"/>
            <a:ext cx="3291840" cy="1371600"/>
          </a:xfrm>
          <a:prstGeom prst="rect">
            <a:avLst/>
          </a:prstGeom>
          <a:noFill/>
        </p:spPr>
        <p:txBody>
          <a:bodyPr wrap="square" lIns="0" tIns="0" rIns="0" bIns="0" anchor="t">
            <a:spAutoFit/>
          </a:bodyPr>
          <a:lstStyle/>
          <a:p>
            <a:pPr algn="l">
              <a:lnSpc>
                <a:spcPct val="135000"/>
              </a:lnSpc>
            </a:pPr>
            <a:r>
              <a:rPr sz="1200" b="0">
                <a:solidFill>
                  <a:srgbClr val="475569"/>
                </a:solidFill>
                <a:latin typeface="Calibri"/>
              </a:rPr>
              <a:t>Each prediction includes a confidence score, useful for risk-screening contexts.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13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11  ·  CANDIDATES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4 supervised classifiers tested</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011680"/>
            <a:ext cx="5486400"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2011680"/>
            <a:ext cx="548640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075688"/>
            <a:ext cx="512064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LOGISTIC REGRESSION</a:t>
            </a:r>
          </a:p>
        </p:txBody>
      </p:sp>
      <p:sp>
        <p:nvSpPr>
          <p:cNvPr id="11" name="TextBox 10"/>
          <p:cNvSpPr txBox="1"/>
          <p:nvPr/>
        </p:nvSpPr>
        <p:spPr>
          <a:xfrm>
            <a:off x="914400" y="2514600"/>
            <a:ext cx="5120640" cy="457200"/>
          </a:xfrm>
          <a:prstGeom prst="rect">
            <a:avLst/>
          </a:prstGeom>
          <a:noFill/>
        </p:spPr>
        <p:txBody>
          <a:bodyPr wrap="square" lIns="0" tIns="0" rIns="0" bIns="0" anchor="t">
            <a:spAutoFit/>
          </a:bodyPr>
          <a:lstStyle/>
          <a:p>
            <a:pPr algn="l">
              <a:lnSpc>
                <a:spcPct val="115000"/>
              </a:lnSpc>
            </a:pPr>
            <a:r>
              <a:rPr sz="1200" b="0">
                <a:solidFill>
                  <a:srgbClr val="1E293B"/>
                </a:solidFill>
                <a:latin typeface="Calibri"/>
              </a:rPr>
              <a:t>Fits a probability line between the two classes</a:t>
            </a:r>
          </a:p>
        </p:txBody>
      </p:sp>
      <p:sp>
        <p:nvSpPr>
          <p:cNvPr id="12" name="TextBox 11"/>
          <p:cNvSpPr txBox="1"/>
          <p:nvPr/>
        </p:nvSpPr>
        <p:spPr>
          <a:xfrm>
            <a:off x="914400" y="3063240"/>
            <a:ext cx="914400" cy="320040"/>
          </a:xfrm>
          <a:prstGeom prst="rect">
            <a:avLst/>
          </a:prstGeom>
          <a:noFill/>
        </p:spPr>
        <p:txBody>
          <a:bodyPr wrap="square" lIns="0" tIns="0" rIns="0" bIns="0" anchor="t">
            <a:spAutoFit/>
          </a:bodyPr>
          <a:lstStyle/>
          <a:p>
            <a:pPr algn="l">
              <a:lnSpc>
                <a:spcPct val="115000"/>
              </a:lnSpc>
            </a:pPr>
            <a:r>
              <a:rPr sz="900" b="1">
                <a:solidFill>
                  <a:srgbClr val="16A34A"/>
                </a:solidFill>
                <a:latin typeface="Calibri"/>
              </a:rPr>
              <a:t>PROS</a:t>
            </a:r>
          </a:p>
        </p:txBody>
      </p:sp>
      <p:sp>
        <p:nvSpPr>
          <p:cNvPr id="13" name="TextBox 12"/>
          <p:cNvSpPr txBox="1"/>
          <p:nvPr/>
        </p:nvSpPr>
        <p:spPr>
          <a:xfrm>
            <a:off x="1828800" y="306324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Simple · interpretable</a:t>
            </a:r>
          </a:p>
        </p:txBody>
      </p:sp>
      <p:sp>
        <p:nvSpPr>
          <p:cNvPr id="14" name="TextBox 13"/>
          <p:cNvSpPr txBox="1"/>
          <p:nvPr/>
        </p:nvSpPr>
        <p:spPr>
          <a:xfrm>
            <a:off x="914400" y="3429000"/>
            <a:ext cx="914400" cy="320040"/>
          </a:xfrm>
          <a:prstGeom prst="rect">
            <a:avLst/>
          </a:prstGeom>
          <a:noFill/>
        </p:spPr>
        <p:txBody>
          <a:bodyPr wrap="square" lIns="0" tIns="0" rIns="0" bIns="0" anchor="t">
            <a:spAutoFit/>
          </a:bodyPr>
          <a:lstStyle/>
          <a:p>
            <a:pPr algn="l">
              <a:lnSpc>
                <a:spcPct val="115000"/>
              </a:lnSpc>
            </a:pPr>
            <a:r>
              <a:rPr sz="900" b="1">
                <a:solidFill>
                  <a:srgbClr val="DC2626"/>
                </a:solidFill>
                <a:latin typeface="Calibri"/>
              </a:rPr>
              <a:t>CONS</a:t>
            </a:r>
          </a:p>
        </p:txBody>
      </p:sp>
      <p:sp>
        <p:nvSpPr>
          <p:cNvPr id="15" name="TextBox 14"/>
          <p:cNvSpPr txBox="1"/>
          <p:nvPr/>
        </p:nvSpPr>
        <p:spPr>
          <a:xfrm>
            <a:off x="1828800" y="342900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Less accurate on non-linear patterns</a:t>
            </a:r>
          </a:p>
        </p:txBody>
      </p:sp>
      <p:sp>
        <p:nvSpPr>
          <p:cNvPr id="16" name="Rectangle 15"/>
          <p:cNvSpPr/>
          <p:nvPr/>
        </p:nvSpPr>
        <p:spPr>
          <a:xfrm>
            <a:off x="6263640" y="2011680"/>
            <a:ext cx="5486400"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63640" y="2011680"/>
            <a:ext cx="548640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2075688"/>
            <a:ext cx="512064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DECISION TREE</a:t>
            </a:r>
          </a:p>
        </p:txBody>
      </p:sp>
      <p:sp>
        <p:nvSpPr>
          <p:cNvPr id="19" name="TextBox 18"/>
          <p:cNvSpPr txBox="1"/>
          <p:nvPr/>
        </p:nvSpPr>
        <p:spPr>
          <a:xfrm>
            <a:off x="6537960" y="2514600"/>
            <a:ext cx="5120640" cy="457200"/>
          </a:xfrm>
          <a:prstGeom prst="rect">
            <a:avLst/>
          </a:prstGeom>
          <a:noFill/>
        </p:spPr>
        <p:txBody>
          <a:bodyPr wrap="square" lIns="0" tIns="0" rIns="0" bIns="0" anchor="t">
            <a:spAutoFit/>
          </a:bodyPr>
          <a:lstStyle/>
          <a:p>
            <a:pPr algn="l">
              <a:lnSpc>
                <a:spcPct val="115000"/>
              </a:lnSpc>
            </a:pPr>
            <a:r>
              <a:rPr sz="1200" b="0">
                <a:solidFill>
                  <a:srgbClr val="1E293B"/>
                </a:solidFill>
                <a:latin typeface="Calibri"/>
              </a:rPr>
              <a:t>Asks yes/no questions to split the data</a:t>
            </a:r>
          </a:p>
        </p:txBody>
      </p:sp>
      <p:sp>
        <p:nvSpPr>
          <p:cNvPr id="20" name="TextBox 19"/>
          <p:cNvSpPr txBox="1"/>
          <p:nvPr/>
        </p:nvSpPr>
        <p:spPr>
          <a:xfrm>
            <a:off x="6537960" y="3063240"/>
            <a:ext cx="914400" cy="320040"/>
          </a:xfrm>
          <a:prstGeom prst="rect">
            <a:avLst/>
          </a:prstGeom>
          <a:noFill/>
        </p:spPr>
        <p:txBody>
          <a:bodyPr wrap="square" lIns="0" tIns="0" rIns="0" bIns="0" anchor="t">
            <a:spAutoFit/>
          </a:bodyPr>
          <a:lstStyle/>
          <a:p>
            <a:pPr algn="l">
              <a:lnSpc>
                <a:spcPct val="115000"/>
              </a:lnSpc>
            </a:pPr>
            <a:r>
              <a:rPr sz="900" b="1">
                <a:solidFill>
                  <a:srgbClr val="16A34A"/>
                </a:solidFill>
                <a:latin typeface="Calibri"/>
              </a:rPr>
              <a:t>PROS</a:t>
            </a:r>
          </a:p>
        </p:txBody>
      </p:sp>
      <p:sp>
        <p:nvSpPr>
          <p:cNvPr id="21" name="TextBox 20"/>
          <p:cNvSpPr txBox="1"/>
          <p:nvPr/>
        </p:nvSpPr>
        <p:spPr>
          <a:xfrm>
            <a:off x="7452360" y="306324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Easy to visualise</a:t>
            </a:r>
          </a:p>
        </p:txBody>
      </p:sp>
      <p:sp>
        <p:nvSpPr>
          <p:cNvPr id="22" name="TextBox 21"/>
          <p:cNvSpPr txBox="1"/>
          <p:nvPr/>
        </p:nvSpPr>
        <p:spPr>
          <a:xfrm>
            <a:off x="6537960" y="3429000"/>
            <a:ext cx="914400" cy="320040"/>
          </a:xfrm>
          <a:prstGeom prst="rect">
            <a:avLst/>
          </a:prstGeom>
          <a:noFill/>
        </p:spPr>
        <p:txBody>
          <a:bodyPr wrap="square" lIns="0" tIns="0" rIns="0" bIns="0" anchor="t">
            <a:spAutoFit/>
          </a:bodyPr>
          <a:lstStyle/>
          <a:p>
            <a:pPr algn="l">
              <a:lnSpc>
                <a:spcPct val="115000"/>
              </a:lnSpc>
            </a:pPr>
            <a:r>
              <a:rPr sz="900" b="1">
                <a:solidFill>
                  <a:srgbClr val="DC2626"/>
                </a:solidFill>
                <a:latin typeface="Calibri"/>
              </a:rPr>
              <a:t>CONS</a:t>
            </a:r>
          </a:p>
        </p:txBody>
      </p:sp>
      <p:sp>
        <p:nvSpPr>
          <p:cNvPr id="23" name="TextBox 22"/>
          <p:cNvSpPr txBox="1"/>
          <p:nvPr/>
        </p:nvSpPr>
        <p:spPr>
          <a:xfrm>
            <a:off x="7452360" y="342900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Prone to overfitting</a:t>
            </a:r>
          </a:p>
        </p:txBody>
      </p:sp>
      <p:sp>
        <p:nvSpPr>
          <p:cNvPr id="24" name="Rectangle 23"/>
          <p:cNvSpPr/>
          <p:nvPr/>
        </p:nvSpPr>
        <p:spPr>
          <a:xfrm>
            <a:off x="640080" y="4206240"/>
            <a:ext cx="5486400"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4206240"/>
            <a:ext cx="548640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270248"/>
            <a:ext cx="512064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K-NEAREST NEIGHBORS</a:t>
            </a:r>
          </a:p>
        </p:txBody>
      </p:sp>
      <p:sp>
        <p:nvSpPr>
          <p:cNvPr id="27" name="TextBox 26"/>
          <p:cNvSpPr txBox="1"/>
          <p:nvPr/>
        </p:nvSpPr>
        <p:spPr>
          <a:xfrm>
            <a:off x="914400" y="4709160"/>
            <a:ext cx="5120640" cy="457200"/>
          </a:xfrm>
          <a:prstGeom prst="rect">
            <a:avLst/>
          </a:prstGeom>
          <a:noFill/>
        </p:spPr>
        <p:txBody>
          <a:bodyPr wrap="square" lIns="0" tIns="0" rIns="0" bIns="0" anchor="t">
            <a:spAutoFit/>
          </a:bodyPr>
          <a:lstStyle/>
          <a:p>
            <a:pPr algn="l">
              <a:lnSpc>
                <a:spcPct val="115000"/>
              </a:lnSpc>
            </a:pPr>
            <a:r>
              <a:rPr sz="1200" b="0">
                <a:solidFill>
                  <a:srgbClr val="1E293B"/>
                </a:solidFill>
                <a:latin typeface="Calibri"/>
              </a:rPr>
              <a:t>Predicts class by voting among nearest neighbours</a:t>
            </a:r>
          </a:p>
        </p:txBody>
      </p:sp>
      <p:sp>
        <p:nvSpPr>
          <p:cNvPr id="28" name="TextBox 27"/>
          <p:cNvSpPr txBox="1"/>
          <p:nvPr/>
        </p:nvSpPr>
        <p:spPr>
          <a:xfrm>
            <a:off x="914400" y="5257800"/>
            <a:ext cx="914400" cy="320040"/>
          </a:xfrm>
          <a:prstGeom prst="rect">
            <a:avLst/>
          </a:prstGeom>
          <a:noFill/>
        </p:spPr>
        <p:txBody>
          <a:bodyPr wrap="square" lIns="0" tIns="0" rIns="0" bIns="0" anchor="t">
            <a:spAutoFit/>
          </a:bodyPr>
          <a:lstStyle/>
          <a:p>
            <a:pPr algn="l">
              <a:lnSpc>
                <a:spcPct val="115000"/>
              </a:lnSpc>
            </a:pPr>
            <a:r>
              <a:rPr sz="900" b="1">
                <a:solidFill>
                  <a:srgbClr val="16A34A"/>
                </a:solidFill>
                <a:latin typeface="Calibri"/>
              </a:rPr>
              <a:t>PROS</a:t>
            </a:r>
          </a:p>
        </p:txBody>
      </p:sp>
      <p:sp>
        <p:nvSpPr>
          <p:cNvPr id="29" name="TextBox 28"/>
          <p:cNvSpPr txBox="1"/>
          <p:nvPr/>
        </p:nvSpPr>
        <p:spPr>
          <a:xfrm>
            <a:off x="1828800" y="525780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Intuitive</a:t>
            </a:r>
          </a:p>
        </p:txBody>
      </p:sp>
      <p:sp>
        <p:nvSpPr>
          <p:cNvPr id="30" name="TextBox 29"/>
          <p:cNvSpPr txBox="1"/>
          <p:nvPr/>
        </p:nvSpPr>
        <p:spPr>
          <a:xfrm>
            <a:off x="914400" y="5623560"/>
            <a:ext cx="914400" cy="320040"/>
          </a:xfrm>
          <a:prstGeom prst="rect">
            <a:avLst/>
          </a:prstGeom>
          <a:noFill/>
        </p:spPr>
        <p:txBody>
          <a:bodyPr wrap="square" lIns="0" tIns="0" rIns="0" bIns="0" anchor="t">
            <a:spAutoFit/>
          </a:bodyPr>
          <a:lstStyle/>
          <a:p>
            <a:pPr algn="l">
              <a:lnSpc>
                <a:spcPct val="115000"/>
              </a:lnSpc>
            </a:pPr>
            <a:r>
              <a:rPr sz="900" b="1">
                <a:solidFill>
                  <a:srgbClr val="DC2626"/>
                </a:solidFill>
                <a:latin typeface="Calibri"/>
              </a:rPr>
              <a:t>CONS</a:t>
            </a:r>
          </a:p>
        </p:txBody>
      </p:sp>
      <p:sp>
        <p:nvSpPr>
          <p:cNvPr id="31" name="TextBox 30"/>
          <p:cNvSpPr txBox="1"/>
          <p:nvPr/>
        </p:nvSpPr>
        <p:spPr>
          <a:xfrm>
            <a:off x="1828800" y="562356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Slow on large data · needs scaling</a:t>
            </a:r>
          </a:p>
        </p:txBody>
      </p:sp>
      <p:sp>
        <p:nvSpPr>
          <p:cNvPr id="32" name="Rectangle 31"/>
          <p:cNvSpPr/>
          <p:nvPr/>
        </p:nvSpPr>
        <p:spPr>
          <a:xfrm>
            <a:off x="6263640" y="4206240"/>
            <a:ext cx="5486400" cy="19659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263640" y="4206240"/>
            <a:ext cx="548640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37960" y="4270248"/>
            <a:ext cx="512064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RANDOM FOREST</a:t>
            </a:r>
          </a:p>
        </p:txBody>
      </p:sp>
      <p:sp>
        <p:nvSpPr>
          <p:cNvPr id="35" name="TextBox 34"/>
          <p:cNvSpPr txBox="1"/>
          <p:nvPr/>
        </p:nvSpPr>
        <p:spPr>
          <a:xfrm>
            <a:off x="6537960" y="4709160"/>
            <a:ext cx="5120640" cy="457200"/>
          </a:xfrm>
          <a:prstGeom prst="rect">
            <a:avLst/>
          </a:prstGeom>
          <a:noFill/>
        </p:spPr>
        <p:txBody>
          <a:bodyPr wrap="square" lIns="0" tIns="0" rIns="0" bIns="0" anchor="t">
            <a:spAutoFit/>
          </a:bodyPr>
          <a:lstStyle/>
          <a:p>
            <a:pPr algn="l">
              <a:lnSpc>
                <a:spcPct val="115000"/>
              </a:lnSpc>
            </a:pPr>
            <a:r>
              <a:rPr sz="1200" b="0">
                <a:solidFill>
                  <a:srgbClr val="1E293B"/>
                </a:solidFill>
                <a:latin typeface="Calibri"/>
              </a:rPr>
              <a:t>Combines many decision trees, votes the answer  ✓ SELECTED</a:t>
            </a:r>
          </a:p>
        </p:txBody>
      </p:sp>
      <p:sp>
        <p:nvSpPr>
          <p:cNvPr id="36" name="TextBox 35"/>
          <p:cNvSpPr txBox="1"/>
          <p:nvPr/>
        </p:nvSpPr>
        <p:spPr>
          <a:xfrm>
            <a:off x="6537960" y="5257800"/>
            <a:ext cx="914400" cy="320040"/>
          </a:xfrm>
          <a:prstGeom prst="rect">
            <a:avLst/>
          </a:prstGeom>
          <a:noFill/>
        </p:spPr>
        <p:txBody>
          <a:bodyPr wrap="square" lIns="0" tIns="0" rIns="0" bIns="0" anchor="t">
            <a:spAutoFit/>
          </a:bodyPr>
          <a:lstStyle/>
          <a:p>
            <a:pPr algn="l">
              <a:lnSpc>
                <a:spcPct val="115000"/>
              </a:lnSpc>
            </a:pPr>
            <a:r>
              <a:rPr sz="900" b="1">
                <a:solidFill>
                  <a:srgbClr val="16A34A"/>
                </a:solidFill>
                <a:latin typeface="Calibri"/>
              </a:rPr>
              <a:t>PROS</a:t>
            </a:r>
          </a:p>
        </p:txBody>
      </p:sp>
      <p:sp>
        <p:nvSpPr>
          <p:cNvPr id="37" name="TextBox 36"/>
          <p:cNvSpPr txBox="1"/>
          <p:nvPr/>
        </p:nvSpPr>
        <p:spPr>
          <a:xfrm>
            <a:off x="7452360" y="525780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Robust · feature imp.</a:t>
            </a:r>
          </a:p>
        </p:txBody>
      </p:sp>
      <p:sp>
        <p:nvSpPr>
          <p:cNvPr id="38" name="TextBox 37"/>
          <p:cNvSpPr txBox="1"/>
          <p:nvPr/>
        </p:nvSpPr>
        <p:spPr>
          <a:xfrm>
            <a:off x="6537960" y="5623560"/>
            <a:ext cx="914400" cy="320040"/>
          </a:xfrm>
          <a:prstGeom prst="rect">
            <a:avLst/>
          </a:prstGeom>
          <a:noFill/>
        </p:spPr>
        <p:txBody>
          <a:bodyPr wrap="square" lIns="0" tIns="0" rIns="0" bIns="0" anchor="t">
            <a:spAutoFit/>
          </a:bodyPr>
          <a:lstStyle/>
          <a:p>
            <a:pPr algn="l">
              <a:lnSpc>
                <a:spcPct val="115000"/>
              </a:lnSpc>
            </a:pPr>
            <a:r>
              <a:rPr sz="900" b="1">
                <a:solidFill>
                  <a:srgbClr val="DC2626"/>
                </a:solidFill>
                <a:latin typeface="Calibri"/>
              </a:rPr>
              <a:t>CONS</a:t>
            </a:r>
          </a:p>
        </p:txBody>
      </p:sp>
      <p:sp>
        <p:nvSpPr>
          <p:cNvPr id="39" name="TextBox 38"/>
          <p:cNvSpPr txBox="1"/>
          <p:nvPr/>
        </p:nvSpPr>
        <p:spPr>
          <a:xfrm>
            <a:off x="7452360" y="5623560"/>
            <a:ext cx="4114800" cy="32004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Slower to train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14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12  ·  RESULTS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Model comparison — real numbers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8_model_comparison.png"/>
          <p:cNvPicPr>
            <a:picLocks noChangeAspect="1"/>
          </p:cNvPicPr>
          <p:nvPr/>
        </p:nvPicPr>
        <p:blipFill>
          <a:blip r:embed="rId3"/>
          <a:stretch>
            <a:fillRect/>
          </a:stretch>
        </p:blipFill>
        <p:spPr>
          <a:xfrm>
            <a:off x="457200" y="1828800"/>
            <a:ext cx="6858000" cy="3840480"/>
          </a:xfrm>
          <a:prstGeom prst="rect">
            <a:avLst/>
          </a:prstGeom>
        </p:spPr>
      </p:pic>
      <p:sp>
        <p:nvSpPr>
          <p:cNvPr id="9" name="TextBox 8"/>
          <p:cNvSpPr txBox="1"/>
          <p:nvPr/>
        </p:nvSpPr>
        <p:spPr>
          <a:xfrm>
            <a:off x="7680960" y="1828800"/>
            <a:ext cx="4114800" cy="36576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FULL METRICS</a:t>
            </a:r>
          </a:p>
        </p:txBody>
      </p:sp>
      <p:sp>
        <p:nvSpPr>
          <p:cNvPr id="10" name="Rectangle 9"/>
          <p:cNvSpPr/>
          <p:nvPr/>
        </p:nvSpPr>
        <p:spPr>
          <a:xfrm>
            <a:off x="7680960" y="2286000"/>
            <a:ext cx="3931920" cy="36576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26680" y="2350008"/>
            <a:ext cx="137160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Model</a:t>
            </a:r>
          </a:p>
        </p:txBody>
      </p:sp>
      <p:sp>
        <p:nvSpPr>
          <p:cNvPr id="12" name="TextBox 11"/>
          <p:cNvSpPr txBox="1"/>
          <p:nvPr/>
        </p:nvSpPr>
        <p:spPr>
          <a:xfrm>
            <a:off x="10104120" y="2350008"/>
            <a:ext cx="137160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Acc</a:t>
            </a:r>
          </a:p>
        </p:txBody>
      </p:sp>
      <p:sp>
        <p:nvSpPr>
          <p:cNvPr id="13" name="TextBox 12"/>
          <p:cNvSpPr txBox="1"/>
          <p:nvPr/>
        </p:nvSpPr>
        <p:spPr>
          <a:xfrm>
            <a:off x="10927080" y="2350008"/>
            <a:ext cx="137160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F1</a:t>
            </a:r>
          </a:p>
        </p:txBody>
      </p:sp>
      <p:sp>
        <p:nvSpPr>
          <p:cNvPr id="14" name="Rectangle 13"/>
          <p:cNvSpPr/>
          <p:nvPr/>
        </p:nvSpPr>
        <p:spPr>
          <a:xfrm>
            <a:off x="7680960" y="2651760"/>
            <a:ext cx="3931920" cy="45720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26680" y="2761488"/>
            <a:ext cx="228600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Logistic Regression</a:t>
            </a:r>
          </a:p>
        </p:txBody>
      </p:sp>
      <p:sp>
        <p:nvSpPr>
          <p:cNvPr id="16" name="TextBox 15"/>
          <p:cNvSpPr txBox="1"/>
          <p:nvPr/>
        </p:nvSpPr>
        <p:spPr>
          <a:xfrm>
            <a:off x="10104120" y="27614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0.745</a:t>
            </a:r>
          </a:p>
        </p:txBody>
      </p:sp>
      <p:sp>
        <p:nvSpPr>
          <p:cNvPr id="17" name="TextBox 16"/>
          <p:cNvSpPr txBox="1"/>
          <p:nvPr/>
        </p:nvSpPr>
        <p:spPr>
          <a:xfrm>
            <a:off x="10927080" y="27614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0.755</a:t>
            </a:r>
          </a:p>
        </p:txBody>
      </p:sp>
      <p:sp>
        <p:nvSpPr>
          <p:cNvPr id="18" name="Rectangle 17"/>
          <p:cNvSpPr/>
          <p:nvPr/>
        </p:nvSpPr>
        <p:spPr>
          <a:xfrm>
            <a:off x="7680960" y="3108960"/>
            <a:ext cx="39319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26680" y="3218688"/>
            <a:ext cx="228600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Decision Tree</a:t>
            </a:r>
          </a:p>
        </p:txBody>
      </p:sp>
      <p:sp>
        <p:nvSpPr>
          <p:cNvPr id="20" name="TextBox 19"/>
          <p:cNvSpPr txBox="1"/>
          <p:nvPr/>
        </p:nvSpPr>
        <p:spPr>
          <a:xfrm>
            <a:off x="10104120" y="32186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0.732</a:t>
            </a:r>
          </a:p>
        </p:txBody>
      </p:sp>
      <p:sp>
        <p:nvSpPr>
          <p:cNvPr id="21" name="TextBox 20"/>
          <p:cNvSpPr txBox="1"/>
          <p:nvPr/>
        </p:nvSpPr>
        <p:spPr>
          <a:xfrm>
            <a:off x="10927080" y="32186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0.747</a:t>
            </a:r>
          </a:p>
        </p:txBody>
      </p:sp>
      <p:sp>
        <p:nvSpPr>
          <p:cNvPr id="22" name="Rectangle 21"/>
          <p:cNvSpPr/>
          <p:nvPr/>
        </p:nvSpPr>
        <p:spPr>
          <a:xfrm>
            <a:off x="7680960" y="3566160"/>
            <a:ext cx="3931920" cy="45720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26680" y="3675888"/>
            <a:ext cx="228600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K-Nearest Neighbors</a:t>
            </a:r>
          </a:p>
        </p:txBody>
      </p:sp>
      <p:sp>
        <p:nvSpPr>
          <p:cNvPr id="24" name="TextBox 23"/>
          <p:cNvSpPr txBox="1"/>
          <p:nvPr/>
        </p:nvSpPr>
        <p:spPr>
          <a:xfrm>
            <a:off x="10104120" y="36758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0.735</a:t>
            </a:r>
          </a:p>
        </p:txBody>
      </p:sp>
      <p:sp>
        <p:nvSpPr>
          <p:cNvPr id="25" name="TextBox 24"/>
          <p:cNvSpPr txBox="1"/>
          <p:nvPr/>
        </p:nvSpPr>
        <p:spPr>
          <a:xfrm>
            <a:off x="10927080" y="36758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0.752</a:t>
            </a:r>
          </a:p>
        </p:txBody>
      </p:sp>
      <p:sp>
        <p:nvSpPr>
          <p:cNvPr id="26" name="Rectangle 25"/>
          <p:cNvSpPr/>
          <p:nvPr/>
        </p:nvSpPr>
        <p:spPr>
          <a:xfrm>
            <a:off x="7680960" y="4023360"/>
            <a:ext cx="3931920" cy="4572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26680" y="4133088"/>
            <a:ext cx="2286000" cy="320040"/>
          </a:xfrm>
          <a:prstGeom prst="rect">
            <a:avLst/>
          </a:prstGeom>
          <a:noFill/>
        </p:spPr>
        <p:txBody>
          <a:bodyPr wrap="square" lIns="0" tIns="0" rIns="0" bIns="0" anchor="t">
            <a:spAutoFit/>
          </a:bodyPr>
          <a:lstStyle/>
          <a:p>
            <a:pPr algn="l">
              <a:lnSpc>
                <a:spcPct val="115000"/>
              </a:lnSpc>
            </a:pPr>
            <a:r>
              <a:rPr sz="1000" b="1">
                <a:solidFill>
                  <a:srgbClr val="0B4F4A"/>
                </a:solidFill>
                <a:latin typeface="Calibri"/>
              </a:rPr>
              <a:t>Random Forest</a:t>
            </a:r>
          </a:p>
        </p:txBody>
      </p:sp>
      <p:sp>
        <p:nvSpPr>
          <p:cNvPr id="28" name="TextBox 27"/>
          <p:cNvSpPr txBox="1"/>
          <p:nvPr/>
        </p:nvSpPr>
        <p:spPr>
          <a:xfrm>
            <a:off x="10104120" y="41330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0.744</a:t>
            </a:r>
          </a:p>
        </p:txBody>
      </p:sp>
      <p:sp>
        <p:nvSpPr>
          <p:cNvPr id="29" name="TextBox 28"/>
          <p:cNvSpPr txBox="1"/>
          <p:nvPr/>
        </p:nvSpPr>
        <p:spPr>
          <a:xfrm>
            <a:off x="10927080" y="4133088"/>
            <a:ext cx="731520" cy="32004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0.759</a:t>
            </a:r>
          </a:p>
        </p:txBody>
      </p:sp>
      <p:sp>
        <p:nvSpPr>
          <p:cNvPr id="30" name="Rectangle 29"/>
          <p:cNvSpPr/>
          <p:nvPr/>
        </p:nvSpPr>
        <p:spPr>
          <a:xfrm>
            <a:off x="7680960" y="4572000"/>
            <a:ext cx="3931920" cy="16916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0" y="4709160"/>
            <a:ext cx="36576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WINNER</a:t>
            </a:r>
          </a:p>
        </p:txBody>
      </p:sp>
      <p:sp>
        <p:nvSpPr>
          <p:cNvPr id="32" name="TextBox 31"/>
          <p:cNvSpPr txBox="1"/>
          <p:nvPr/>
        </p:nvSpPr>
        <p:spPr>
          <a:xfrm>
            <a:off x="7772400" y="5029200"/>
            <a:ext cx="3657600" cy="457200"/>
          </a:xfrm>
          <a:prstGeom prst="rect">
            <a:avLst/>
          </a:prstGeom>
          <a:noFill/>
        </p:spPr>
        <p:txBody>
          <a:bodyPr wrap="square" lIns="0" tIns="0" rIns="0" bIns="0" anchor="t">
            <a:spAutoFit/>
          </a:bodyPr>
          <a:lstStyle/>
          <a:p>
            <a:pPr algn="l">
              <a:lnSpc>
                <a:spcPct val="115000"/>
              </a:lnSpc>
            </a:pPr>
            <a:r>
              <a:rPr sz="1600" b="1">
                <a:solidFill>
                  <a:srgbClr val="0B4F4A"/>
                </a:solidFill>
                <a:latin typeface="Calibri"/>
              </a:rPr>
              <a:t>Random Forest</a:t>
            </a:r>
          </a:p>
        </p:txBody>
      </p:sp>
      <p:sp>
        <p:nvSpPr>
          <p:cNvPr id="33" name="TextBox 32"/>
          <p:cNvSpPr txBox="1"/>
          <p:nvPr/>
        </p:nvSpPr>
        <p:spPr>
          <a:xfrm>
            <a:off x="7772400" y="5532120"/>
            <a:ext cx="3749039" cy="731520"/>
          </a:xfrm>
          <a:prstGeom prst="rect">
            <a:avLst/>
          </a:prstGeom>
          <a:noFill/>
        </p:spPr>
        <p:txBody>
          <a:bodyPr wrap="square" lIns="0" tIns="0" rIns="0" bIns="0" anchor="t">
            <a:spAutoFit/>
          </a:bodyPr>
          <a:lstStyle/>
          <a:p>
            <a:pPr algn="l">
              <a:lnSpc>
                <a:spcPct val="130000"/>
              </a:lnSpc>
            </a:pPr>
            <a:r>
              <a:rPr sz="1100" b="0">
                <a:solidFill>
                  <a:srgbClr val="1E293B"/>
                </a:solidFill>
                <a:latin typeface="Calibri"/>
              </a:rPr>
              <a:t>Best F1 (0.759) and built-in feature importance.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15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13  ·  FINAL MODEL</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Random Forest — detailed results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6_confusion_matrix.png"/>
          <p:cNvPicPr>
            <a:picLocks noChangeAspect="1"/>
          </p:cNvPicPr>
          <p:nvPr/>
        </p:nvPicPr>
        <p:blipFill>
          <a:blip r:embed="rId3"/>
          <a:stretch>
            <a:fillRect/>
          </a:stretch>
        </p:blipFill>
        <p:spPr>
          <a:xfrm>
            <a:off x="813816" y="1847088"/>
            <a:ext cx="3849624" cy="3405436"/>
          </a:xfrm>
          <a:prstGeom prst="rect">
            <a:avLst/>
          </a:prstGeom>
        </p:spPr>
      </p:pic>
      <p:sp>
        <p:nvSpPr>
          <p:cNvPr id="9" name="Rectangle 8"/>
          <p:cNvSpPr/>
          <p:nvPr/>
        </p:nvSpPr>
        <p:spPr>
          <a:xfrm>
            <a:off x="5943600" y="2011680"/>
            <a:ext cx="274320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0" y="2011680"/>
            <a:ext cx="73152" cy="1691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2148840"/>
            <a:ext cx="23774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ACCURACY</a:t>
            </a:r>
          </a:p>
        </p:txBody>
      </p:sp>
      <p:sp>
        <p:nvSpPr>
          <p:cNvPr id="12" name="TextBox 11"/>
          <p:cNvSpPr txBox="1"/>
          <p:nvPr/>
        </p:nvSpPr>
        <p:spPr>
          <a:xfrm>
            <a:off x="6217920" y="2468880"/>
            <a:ext cx="2377440" cy="822960"/>
          </a:xfrm>
          <a:prstGeom prst="rect">
            <a:avLst/>
          </a:prstGeom>
          <a:noFill/>
        </p:spPr>
        <p:txBody>
          <a:bodyPr wrap="square" lIns="0" tIns="0" rIns="0" bIns="0" anchor="t">
            <a:spAutoFit/>
          </a:bodyPr>
          <a:lstStyle/>
          <a:p>
            <a:pPr algn="l">
              <a:lnSpc>
                <a:spcPct val="115000"/>
              </a:lnSpc>
            </a:pPr>
            <a:r>
              <a:rPr sz="3200" b="1">
                <a:solidFill>
                  <a:srgbClr val="1E293B"/>
                </a:solidFill>
                <a:latin typeface="Calibri"/>
              </a:rPr>
              <a:t>74.36%</a:t>
            </a:r>
          </a:p>
        </p:txBody>
      </p:sp>
      <p:sp>
        <p:nvSpPr>
          <p:cNvPr id="13" name="TextBox 12"/>
          <p:cNvSpPr txBox="1"/>
          <p:nvPr/>
        </p:nvSpPr>
        <p:spPr>
          <a:xfrm>
            <a:off x="6217920" y="3291840"/>
            <a:ext cx="237744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correct predictions</a:t>
            </a:r>
          </a:p>
        </p:txBody>
      </p:sp>
      <p:sp>
        <p:nvSpPr>
          <p:cNvPr id="14" name="Rectangle 13"/>
          <p:cNvSpPr/>
          <p:nvPr/>
        </p:nvSpPr>
        <p:spPr>
          <a:xfrm>
            <a:off x="8869680" y="2011680"/>
            <a:ext cx="274320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869680" y="2011680"/>
            <a:ext cx="73152" cy="1691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148840"/>
            <a:ext cx="23774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F1 SCORE</a:t>
            </a:r>
          </a:p>
        </p:txBody>
      </p:sp>
      <p:sp>
        <p:nvSpPr>
          <p:cNvPr id="17" name="TextBox 16"/>
          <p:cNvSpPr txBox="1"/>
          <p:nvPr/>
        </p:nvSpPr>
        <p:spPr>
          <a:xfrm>
            <a:off x="9144000" y="2468880"/>
            <a:ext cx="2377440" cy="822960"/>
          </a:xfrm>
          <a:prstGeom prst="rect">
            <a:avLst/>
          </a:prstGeom>
          <a:noFill/>
        </p:spPr>
        <p:txBody>
          <a:bodyPr wrap="square" lIns="0" tIns="0" rIns="0" bIns="0" anchor="t">
            <a:spAutoFit/>
          </a:bodyPr>
          <a:lstStyle/>
          <a:p>
            <a:pPr algn="l">
              <a:lnSpc>
                <a:spcPct val="115000"/>
              </a:lnSpc>
            </a:pPr>
            <a:r>
              <a:rPr sz="3200" b="1">
                <a:solidFill>
                  <a:srgbClr val="1E293B"/>
                </a:solidFill>
                <a:latin typeface="Calibri"/>
              </a:rPr>
              <a:t>0.759</a:t>
            </a:r>
          </a:p>
        </p:txBody>
      </p:sp>
      <p:sp>
        <p:nvSpPr>
          <p:cNvPr id="18" name="TextBox 17"/>
          <p:cNvSpPr txBox="1"/>
          <p:nvPr/>
        </p:nvSpPr>
        <p:spPr>
          <a:xfrm>
            <a:off x="9144000" y="3291840"/>
            <a:ext cx="237744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best of 4 models</a:t>
            </a:r>
          </a:p>
        </p:txBody>
      </p:sp>
      <p:sp>
        <p:nvSpPr>
          <p:cNvPr id="19" name="Rectangle 18"/>
          <p:cNvSpPr/>
          <p:nvPr/>
        </p:nvSpPr>
        <p:spPr>
          <a:xfrm>
            <a:off x="5943600" y="3794760"/>
            <a:ext cx="274320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943600" y="3794760"/>
            <a:ext cx="73152" cy="1691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3931920"/>
            <a:ext cx="23774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PRECISION</a:t>
            </a:r>
          </a:p>
        </p:txBody>
      </p:sp>
      <p:sp>
        <p:nvSpPr>
          <p:cNvPr id="22" name="TextBox 21"/>
          <p:cNvSpPr txBox="1"/>
          <p:nvPr/>
        </p:nvSpPr>
        <p:spPr>
          <a:xfrm>
            <a:off x="6217920" y="4251960"/>
            <a:ext cx="2377440" cy="822960"/>
          </a:xfrm>
          <a:prstGeom prst="rect">
            <a:avLst/>
          </a:prstGeom>
          <a:noFill/>
        </p:spPr>
        <p:txBody>
          <a:bodyPr wrap="square" lIns="0" tIns="0" rIns="0" bIns="0" anchor="t">
            <a:spAutoFit/>
          </a:bodyPr>
          <a:lstStyle/>
          <a:p>
            <a:pPr algn="l">
              <a:lnSpc>
                <a:spcPct val="115000"/>
              </a:lnSpc>
            </a:pPr>
            <a:r>
              <a:rPr sz="3200" b="1">
                <a:solidFill>
                  <a:srgbClr val="1E293B"/>
                </a:solidFill>
                <a:latin typeface="Calibri"/>
              </a:rPr>
              <a:t>0.727</a:t>
            </a:r>
          </a:p>
        </p:txBody>
      </p:sp>
      <p:sp>
        <p:nvSpPr>
          <p:cNvPr id="23" name="TextBox 22"/>
          <p:cNvSpPr txBox="1"/>
          <p:nvPr/>
        </p:nvSpPr>
        <p:spPr>
          <a:xfrm>
            <a:off x="6217920" y="5074920"/>
            <a:ext cx="237744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predicted diabetics correct</a:t>
            </a:r>
          </a:p>
        </p:txBody>
      </p:sp>
      <p:sp>
        <p:nvSpPr>
          <p:cNvPr id="24" name="Rectangle 23"/>
          <p:cNvSpPr/>
          <p:nvPr/>
        </p:nvSpPr>
        <p:spPr>
          <a:xfrm>
            <a:off x="8869680" y="3794760"/>
            <a:ext cx="2743200" cy="169164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869680" y="3794760"/>
            <a:ext cx="73152" cy="1691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0" y="3931920"/>
            <a:ext cx="237744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RECALL</a:t>
            </a:r>
          </a:p>
        </p:txBody>
      </p:sp>
      <p:sp>
        <p:nvSpPr>
          <p:cNvPr id="27" name="TextBox 26"/>
          <p:cNvSpPr txBox="1"/>
          <p:nvPr/>
        </p:nvSpPr>
        <p:spPr>
          <a:xfrm>
            <a:off x="9144000" y="4251960"/>
            <a:ext cx="2377440" cy="822960"/>
          </a:xfrm>
          <a:prstGeom prst="rect">
            <a:avLst/>
          </a:prstGeom>
          <a:noFill/>
        </p:spPr>
        <p:txBody>
          <a:bodyPr wrap="square" lIns="0" tIns="0" rIns="0" bIns="0" anchor="t">
            <a:spAutoFit/>
          </a:bodyPr>
          <a:lstStyle/>
          <a:p>
            <a:pPr algn="l">
              <a:lnSpc>
                <a:spcPct val="115000"/>
              </a:lnSpc>
            </a:pPr>
            <a:r>
              <a:rPr sz="3200" b="1">
                <a:solidFill>
                  <a:srgbClr val="1E293B"/>
                </a:solidFill>
                <a:latin typeface="Calibri"/>
              </a:rPr>
              <a:t>0.794</a:t>
            </a:r>
          </a:p>
        </p:txBody>
      </p:sp>
      <p:sp>
        <p:nvSpPr>
          <p:cNvPr id="28" name="TextBox 27"/>
          <p:cNvSpPr txBox="1"/>
          <p:nvPr/>
        </p:nvSpPr>
        <p:spPr>
          <a:xfrm>
            <a:off x="9144000" y="5074920"/>
            <a:ext cx="237744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actual diabetics we caught</a:t>
            </a:r>
          </a:p>
        </p:txBody>
      </p:sp>
      <p:sp>
        <p:nvSpPr>
          <p:cNvPr id="29" name="Rectangle 28"/>
          <p:cNvSpPr/>
          <p:nvPr/>
        </p:nvSpPr>
        <p:spPr>
          <a:xfrm>
            <a:off x="5943600" y="5577840"/>
            <a:ext cx="5669280" cy="59436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72200" y="5623560"/>
            <a:ext cx="5303520" cy="228600"/>
          </a:xfrm>
          <a:prstGeom prst="rect">
            <a:avLst/>
          </a:prstGeom>
          <a:noFill/>
        </p:spPr>
        <p:txBody>
          <a:bodyPr wrap="square" lIns="0" tIns="0" rIns="0" bIns="0" anchor="t">
            <a:spAutoFit/>
          </a:bodyPr>
          <a:lstStyle/>
          <a:p>
            <a:pPr algn="l">
              <a:lnSpc>
                <a:spcPct val="115000"/>
              </a:lnSpc>
            </a:pPr>
            <a:r>
              <a:rPr sz="900" b="1">
                <a:solidFill>
                  <a:srgbClr val="F59E0B"/>
                </a:solidFill>
                <a:latin typeface="Calibri"/>
              </a:rPr>
              <a:t>HYPERPARAMETERS</a:t>
            </a:r>
          </a:p>
        </p:txBody>
      </p:sp>
      <p:sp>
        <p:nvSpPr>
          <p:cNvPr id="31" name="TextBox 30"/>
          <p:cNvSpPr txBox="1"/>
          <p:nvPr/>
        </p:nvSpPr>
        <p:spPr>
          <a:xfrm>
            <a:off x="6172200" y="5870448"/>
            <a:ext cx="5303520" cy="274320"/>
          </a:xfrm>
          <a:prstGeom prst="rect">
            <a:avLst/>
          </a:prstGeom>
          <a:noFill/>
        </p:spPr>
        <p:txBody>
          <a:bodyPr wrap="square" lIns="0" tIns="0" rIns="0" bIns="0" anchor="t">
            <a:spAutoFit/>
          </a:bodyPr>
          <a:lstStyle/>
          <a:p>
            <a:pPr algn="l">
              <a:lnSpc>
                <a:spcPct val="110000"/>
              </a:lnSpc>
            </a:pPr>
            <a:r>
              <a:rPr sz="1000" b="0">
                <a:solidFill>
                  <a:srgbClr val="1E293B"/>
                </a:solidFill>
                <a:latin typeface="Calibri"/>
              </a:rPr>
              <a:t>n_estimators=200  ·  max_depth=15  ·  min_samples_leaf=5  ·  random_state=42</a:t>
            </a:r>
          </a:p>
        </p:txBody>
      </p:sp>
      <p:sp>
        <p:nvSpPr>
          <p:cNvPr id="32" name="TextBox 31"/>
          <p:cNvSpPr txBox="1"/>
          <p:nvPr/>
        </p:nvSpPr>
        <p:spPr>
          <a:xfrm>
            <a:off x="756209" y="5218093"/>
            <a:ext cx="4336999" cy="954107"/>
          </a:xfrm>
          <a:prstGeom prst="rect">
            <a:avLst/>
          </a:prstGeom>
          <a:noFill/>
        </p:spPr>
        <p:txBody>
          <a:bodyPr wrap="square">
            <a:spAutoFit/>
          </a:bodyPr>
          <a:lstStyle/>
          <a:p>
            <a:pPr>
              <a:defRPr sz="1100" b="1">
                <a:solidFill>
                  <a:srgbClr val="0F766E"/>
                </a:solidFill>
              </a:defRPr>
            </a:pPr>
            <a:r>
              <a:rPr sz="1400" dirty="0"/>
              <a:t>Confusion Matrix Explanation:</a:t>
            </a:r>
          </a:p>
          <a:p>
            <a:pPr>
              <a:defRPr sz="900"/>
            </a:pPr>
            <a:r>
              <a:rPr sz="1050" dirty="0"/>
              <a:t>TN 4696 = correctly predicted healthy</a:t>
            </a:r>
          </a:p>
          <a:p>
            <a:pPr>
              <a:defRPr sz="900"/>
            </a:pPr>
            <a:r>
              <a:rPr sz="1050" dirty="0"/>
              <a:t>FP 2096 = false alarm (why not 2095? = model decision boundary)</a:t>
            </a:r>
          </a:p>
          <a:p>
            <a:pPr>
              <a:defRPr sz="900"/>
            </a:pPr>
            <a:r>
              <a:rPr sz="1050" dirty="0"/>
              <a:t>FN 1446 = missed diabetic cases</a:t>
            </a:r>
          </a:p>
          <a:p>
            <a:pPr>
              <a:defRPr sz="900"/>
            </a:pPr>
            <a:r>
              <a:rPr sz="1050" dirty="0"/>
              <a:t>TP 5574 = correctly caught diabetics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16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14  ·  INSIGHTS</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Top diabetes risk factors</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07_feature_importance.png"/>
          <p:cNvPicPr>
            <a:picLocks noChangeAspect="1"/>
          </p:cNvPicPr>
          <p:nvPr/>
        </p:nvPicPr>
        <p:blipFill>
          <a:blip r:embed="rId3"/>
          <a:stretch>
            <a:fillRect/>
          </a:stretch>
        </p:blipFill>
        <p:spPr>
          <a:xfrm>
            <a:off x="365760" y="1691640"/>
            <a:ext cx="6035040" cy="4526280"/>
          </a:xfrm>
          <a:prstGeom prst="rect">
            <a:avLst/>
          </a:prstGeom>
        </p:spPr>
      </p:pic>
      <p:sp>
        <p:nvSpPr>
          <p:cNvPr id="9" name="TextBox 8"/>
          <p:cNvSpPr txBox="1"/>
          <p:nvPr/>
        </p:nvSpPr>
        <p:spPr>
          <a:xfrm>
            <a:off x="6858000" y="1828800"/>
            <a:ext cx="5029200" cy="36576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TOP 5 RISK FACTORS LEARNED</a:t>
            </a:r>
          </a:p>
        </p:txBody>
      </p:sp>
      <p:sp>
        <p:nvSpPr>
          <p:cNvPr id="10" name="TextBox 9"/>
          <p:cNvSpPr txBox="1"/>
          <p:nvPr/>
        </p:nvSpPr>
        <p:spPr>
          <a:xfrm>
            <a:off x="6858000" y="233172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1.</a:t>
            </a:r>
          </a:p>
        </p:txBody>
      </p:sp>
      <p:sp>
        <p:nvSpPr>
          <p:cNvPr id="11" name="TextBox 10"/>
          <p:cNvSpPr txBox="1"/>
          <p:nvPr/>
        </p:nvSpPr>
        <p:spPr>
          <a:xfrm>
            <a:off x="7498079" y="237744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GenHlth</a:t>
            </a:r>
          </a:p>
        </p:txBody>
      </p:sp>
      <p:sp>
        <p:nvSpPr>
          <p:cNvPr id="12" name="TextBox 11"/>
          <p:cNvSpPr txBox="1"/>
          <p:nvPr/>
        </p:nvSpPr>
        <p:spPr>
          <a:xfrm>
            <a:off x="7498079" y="269748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0.191</a:t>
            </a:r>
          </a:p>
        </p:txBody>
      </p:sp>
      <p:sp>
        <p:nvSpPr>
          <p:cNvPr id="13" name="TextBox 12"/>
          <p:cNvSpPr txBox="1"/>
          <p:nvPr/>
        </p:nvSpPr>
        <p:spPr>
          <a:xfrm>
            <a:off x="6858000" y="310896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2.</a:t>
            </a:r>
          </a:p>
        </p:txBody>
      </p:sp>
      <p:sp>
        <p:nvSpPr>
          <p:cNvPr id="14" name="TextBox 13"/>
          <p:cNvSpPr txBox="1"/>
          <p:nvPr/>
        </p:nvSpPr>
        <p:spPr>
          <a:xfrm>
            <a:off x="7498079" y="315468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HighBP</a:t>
            </a:r>
          </a:p>
        </p:txBody>
      </p:sp>
      <p:sp>
        <p:nvSpPr>
          <p:cNvPr id="15" name="TextBox 14"/>
          <p:cNvSpPr txBox="1"/>
          <p:nvPr/>
        </p:nvSpPr>
        <p:spPr>
          <a:xfrm>
            <a:off x="7498079" y="347472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0.166</a:t>
            </a:r>
          </a:p>
        </p:txBody>
      </p:sp>
      <p:sp>
        <p:nvSpPr>
          <p:cNvPr id="16" name="TextBox 15"/>
          <p:cNvSpPr txBox="1"/>
          <p:nvPr/>
        </p:nvSpPr>
        <p:spPr>
          <a:xfrm>
            <a:off x="6858000" y="388620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3.</a:t>
            </a:r>
          </a:p>
        </p:txBody>
      </p:sp>
      <p:sp>
        <p:nvSpPr>
          <p:cNvPr id="17" name="TextBox 16"/>
          <p:cNvSpPr txBox="1"/>
          <p:nvPr/>
        </p:nvSpPr>
        <p:spPr>
          <a:xfrm>
            <a:off x="7498079" y="393192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BMI</a:t>
            </a:r>
          </a:p>
        </p:txBody>
      </p:sp>
      <p:sp>
        <p:nvSpPr>
          <p:cNvPr id="18" name="TextBox 17"/>
          <p:cNvSpPr txBox="1"/>
          <p:nvPr/>
        </p:nvSpPr>
        <p:spPr>
          <a:xfrm>
            <a:off x="7498079" y="425196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0.149</a:t>
            </a:r>
          </a:p>
        </p:txBody>
      </p:sp>
      <p:sp>
        <p:nvSpPr>
          <p:cNvPr id="19" name="TextBox 18"/>
          <p:cNvSpPr txBox="1"/>
          <p:nvPr/>
        </p:nvSpPr>
        <p:spPr>
          <a:xfrm>
            <a:off x="6858000" y="466344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4.</a:t>
            </a:r>
          </a:p>
        </p:txBody>
      </p:sp>
      <p:sp>
        <p:nvSpPr>
          <p:cNvPr id="20" name="TextBox 19"/>
          <p:cNvSpPr txBox="1"/>
          <p:nvPr/>
        </p:nvSpPr>
        <p:spPr>
          <a:xfrm>
            <a:off x="7498079" y="470916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Age</a:t>
            </a:r>
          </a:p>
        </p:txBody>
      </p:sp>
      <p:sp>
        <p:nvSpPr>
          <p:cNvPr id="21" name="TextBox 20"/>
          <p:cNvSpPr txBox="1"/>
          <p:nvPr/>
        </p:nvSpPr>
        <p:spPr>
          <a:xfrm>
            <a:off x="7498079" y="502920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0.110</a:t>
            </a:r>
          </a:p>
        </p:txBody>
      </p:sp>
      <p:sp>
        <p:nvSpPr>
          <p:cNvPr id="22" name="TextBox 21"/>
          <p:cNvSpPr txBox="1"/>
          <p:nvPr/>
        </p:nvSpPr>
        <p:spPr>
          <a:xfrm>
            <a:off x="6858000" y="5440680"/>
            <a:ext cx="548640" cy="502920"/>
          </a:xfrm>
          <a:prstGeom prst="rect">
            <a:avLst/>
          </a:prstGeom>
          <a:noFill/>
        </p:spPr>
        <p:txBody>
          <a:bodyPr wrap="square" lIns="0" tIns="0" rIns="0" bIns="0" anchor="t">
            <a:spAutoFit/>
          </a:bodyPr>
          <a:lstStyle/>
          <a:p>
            <a:pPr algn="l">
              <a:lnSpc>
                <a:spcPct val="115000"/>
              </a:lnSpc>
            </a:pPr>
            <a:r>
              <a:rPr sz="2200" b="1">
                <a:solidFill>
                  <a:srgbClr val="0F766E"/>
                </a:solidFill>
                <a:latin typeface="Calibri"/>
              </a:rPr>
              <a:t>5.</a:t>
            </a:r>
          </a:p>
        </p:txBody>
      </p:sp>
      <p:sp>
        <p:nvSpPr>
          <p:cNvPr id="23" name="TextBox 22"/>
          <p:cNvSpPr txBox="1"/>
          <p:nvPr/>
        </p:nvSpPr>
        <p:spPr>
          <a:xfrm>
            <a:off x="7498079" y="5486400"/>
            <a:ext cx="3200400" cy="411480"/>
          </a:xfrm>
          <a:prstGeom prst="rect">
            <a:avLst/>
          </a:prstGeom>
          <a:noFill/>
        </p:spPr>
        <p:txBody>
          <a:bodyPr wrap="square" lIns="0" tIns="0" rIns="0" bIns="0" anchor="t">
            <a:spAutoFit/>
          </a:bodyPr>
          <a:lstStyle/>
          <a:p>
            <a:pPr algn="l">
              <a:lnSpc>
                <a:spcPct val="115000"/>
              </a:lnSpc>
            </a:pPr>
            <a:r>
              <a:rPr sz="1400" b="1">
                <a:solidFill>
                  <a:srgbClr val="1E293B"/>
                </a:solidFill>
                <a:latin typeface="Calibri"/>
              </a:rPr>
              <a:t>HighChol</a:t>
            </a:r>
          </a:p>
        </p:txBody>
      </p:sp>
      <p:sp>
        <p:nvSpPr>
          <p:cNvPr id="24" name="TextBox 23"/>
          <p:cNvSpPr txBox="1"/>
          <p:nvPr/>
        </p:nvSpPr>
        <p:spPr>
          <a:xfrm>
            <a:off x="7498079" y="5806440"/>
            <a:ext cx="4114800" cy="274320"/>
          </a:xfrm>
          <a:prstGeom prst="rect">
            <a:avLst/>
          </a:prstGeom>
          <a:noFill/>
        </p:spPr>
        <p:txBody>
          <a:bodyPr wrap="square" lIns="0" tIns="0" rIns="0" bIns="0" anchor="t">
            <a:spAutoFit/>
          </a:bodyPr>
          <a:lstStyle/>
          <a:p>
            <a:pPr algn="l">
              <a:lnSpc>
                <a:spcPct val="115000"/>
              </a:lnSpc>
            </a:pPr>
            <a:r>
              <a:rPr sz="1100" b="0">
                <a:solidFill>
                  <a:srgbClr val="475569"/>
                </a:solidFill>
                <a:latin typeface="Calibri"/>
              </a:rPr>
              <a:t>importance = 0.079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17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15  ·  DEPLOYMENT</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Streamlit web application</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011680"/>
            <a:ext cx="5943600" cy="3657600"/>
          </a:xfrm>
          <a:prstGeom prst="rect">
            <a:avLst/>
          </a:prstGeom>
          <a:noFill/>
        </p:spPr>
        <p:txBody>
          <a:bodyPr wrap="square" lIns="0" tIns="0" rIns="0" bIns="0">
            <a:spAutoFit/>
          </a:bodyPr>
          <a:lstStyle/>
          <a:p>
            <a:pPr algn="l">
              <a:lnSpc>
                <a:spcPct val="145000"/>
              </a:lnSpc>
              <a:spcAft>
                <a:spcPts val="800"/>
              </a:spcAft>
            </a:pPr>
            <a:r>
              <a:rPr sz="1400" b="1">
                <a:solidFill>
                  <a:srgbClr val="F59E0B"/>
                </a:solidFill>
                <a:latin typeface="Calibri"/>
              </a:rPr>
              <a:t>■  </a:t>
            </a:r>
            <a:r>
              <a:rPr sz="1400">
                <a:solidFill>
                  <a:srgbClr val="475569"/>
                </a:solidFill>
                <a:latin typeface="Calibri"/>
              </a:rPr>
              <a:t>Interactive form built with Streamlit (Python web framework).</a:t>
            </a:r>
          </a:p>
          <a:p>
            <a:pPr algn="l">
              <a:lnSpc>
                <a:spcPct val="145000"/>
              </a:lnSpc>
              <a:spcAft>
                <a:spcPts val="800"/>
              </a:spcAft>
            </a:pPr>
            <a:r>
              <a:rPr sz="1400" b="1">
                <a:solidFill>
                  <a:srgbClr val="F59E0B"/>
                </a:solidFill>
                <a:latin typeface="Calibri"/>
              </a:rPr>
              <a:t>■  </a:t>
            </a:r>
            <a:r>
              <a:rPr sz="1400">
                <a:solidFill>
                  <a:srgbClr val="475569"/>
                </a:solidFill>
                <a:latin typeface="Calibri"/>
              </a:rPr>
              <a:t>User enters 21 health indicators in plain English.</a:t>
            </a:r>
          </a:p>
          <a:p>
            <a:pPr algn="l">
              <a:lnSpc>
                <a:spcPct val="145000"/>
              </a:lnSpc>
              <a:spcAft>
                <a:spcPts val="800"/>
              </a:spcAft>
            </a:pPr>
            <a:r>
              <a:rPr sz="1400" b="1">
                <a:solidFill>
                  <a:srgbClr val="F59E0B"/>
                </a:solidFill>
                <a:latin typeface="Calibri"/>
              </a:rPr>
              <a:t>■  </a:t>
            </a:r>
            <a:r>
              <a:rPr sz="1400">
                <a:solidFill>
                  <a:srgbClr val="475569"/>
                </a:solidFill>
                <a:latin typeface="Calibri"/>
              </a:rPr>
              <a:t>Trained model loaded once and cached for speed.</a:t>
            </a:r>
          </a:p>
          <a:p>
            <a:pPr algn="l">
              <a:lnSpc>
                <a:spcPct val="145000"/>
              </a:lnSpc>
              <a:spcAft>
                <a:spcPts val="800"/>
              </a:spcAft>
            </a:pPr>
            <a:r>
              <a:rPr sz="1400" b="1">
                <a:solidFill>
                  <a:srgbClr val="F59E0B"/>
                </a:solidFill>
                <a:latin typeface="Calibri"/>
              </a:rPr>
              <a:t>■  </a:t>
            </a:r>
            <a:r>
              <a:rPr sz="1400">
                <a:solidFill>
                  <a:srgbClr val="475569"/>
                </a:solidFill>
                <a:latin typeface="Calibri"/>
              </a:rPr>
              <a:t>Output: risk label + probability + confidence bar.</a:t>
            </a:r>
          </a:p>
          <a:p>
            <a:pPr algn="l">
              <a:lnSpc>
                <a:spcPct val="145000"/>
              </a:lnSpc>
              <a:spcAft>
                <a:spcPts val="800"/>
              </a:spcAft>
            </a:pPr>
            <a:r>
              <a:rPr sz="1400" b="1">
                <a:solidFill>
                  <a:srgbClr val="F59E0B"/>
                </a:solidFill>
                <a:latin typeface="Calibri"/>
              </a:rPr>
              <a:t>■  </a:t>
            </a:r>
            <a:r>
              <a:rPr sz="1400">
                <a:solidFill>
                  <a:srgbClr val="475569"/>
                </a:solidFill>
                <a:latin typeface="Calibri"/>
              </a:rPr>
              <a:t>Code on GitHub  ·  deployed free on Streamlit Cloud.</a:t>
            </a:r>
          </a:p>
        </p:txBody>
      </p:sp>
      <p:sp>
        <p:nvSpPr>
          <p:cNvPr id="9" name="Rectangle 8"/>
          <p:cNvSpPr/>
          <p:nvPr/>
        </p:nvSpPr>
        <p:spPr>
          <a:xfrm>
            <a:off x="7132320" y="2011680"/>
            <a:ext cx="4480560" cy="4206240"/>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0" y="2011680"/>
            <a:ext cx="4480560" cy="4114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0" y="2075688"/>
            <a:ext cx="4114800" cy="365760"/>
          </a:xfrm>
          <a:prstGeom prst="rect">
            <a:avLst/>
          </a:prstGeom>
          <a:noFill/>
        </p:spPr>
        <p:txBody>
          <a:bodyPr wrap="square" lIns="0" tIns="0" rIns="0" bIns="0" anchor="t">
            <a:spAutoFit/>
          </a:bodyPr>
          <a:lstStyle/>
          <a:p>
            <a:pPr algn="l">
              <a:lnSpc>
                <a:spcPct val="115000"/>
              </a:lnSpc>
            </a:pPr>
            <a:r>
              <a:rPr sz="1100" b="1">
                <a:solidFill>
                  <a:srgbClr val="FFFFFF"/>
                </a:solidFill>
                <a:latin typeface="Calibri"/>
              </a:rPr>
              <a:t>DIABETES RISK PREDICTION</a:t>
            </a:r>
          </a:p>
        </p:txBody>
      </p:sp>
      <p:sp>
        <p:nvSpPr>
          <p:cNvPr id="12" name="TextBox 11"/>
          <p:cNvSpPr txBox="1"/>
          <p:nvPr/>
        </p:nvSpPr>
        <p:spPr>
          <a:xfrm>
            <a:off x="7406640" y="265176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BMI</a:t>
            </a:r>
          </a:p>
        </p:txBody>
      </p:sp>
      <p:sp>
        <p:nvSpPr>
          <p:cNvPr id="13" name="Rectangle 12"/>
          <p:cNvSpPr/>
          <p:nvPr/>
        </p:nvSpPr>
        <p:spPr>
          <a:xfrm>
            <a:off x="9326880" y="267004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18320" y="268833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27</a:t>
            </a:r>
          </a:p>
        </p:txBody>
      </p:sp>
      <p:sp>
        <p:nvSpPr>
          <p:cNvPr id="15" name="TextBox 14"/>
          <p:cNvSpPr txBox="1"/>
          <p:nvPr/>
        </p:nvSpPr>
        <p:spPr>
          <a:xfrm>
            <a:off x="7406640" y="301752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High BP</a:t>
            </a:r>
          </a:p>
        </p:txBody>
      </p:sp>
      <p:sp>
        <p:nvSpPr>
          <p:cNvPr id="16" name="Rectangle 15"/>
          <p:cNvSpPr/>
          <p:nvPr/>
        </p:nvSpPr>
        <p:spPr>
          <a:xfrm>
            <a:off x="9326880" y="303580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418320" y="305409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Yes</a:t>
            </a:r>
          </a:p>
        </p:txBody>
      </p:sp>
      <p:sp>
        <p:nvSpPr>
          <p:cNvPr id="18" name="TextBox 17"/>
          <p:cNvSpPr txBox="1"/>
          <p:nvPr/>
        </p:nvSpPr>
        <p:spPr>
          <a:xfrm>
            <a:off x="7406640" y="338328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High Chol</a:t>
            </a:r>
          </a:p>
        </p:txBody>
      </p:sp>
      <p:sp>
        <p:nvSpPr>
          <p:cNvPr id="19" name="Rectangle 18"/>
          <p:cNvSpPr/>
          <p:nvPr/>
        </p:nvSpPr>
        <p:spPr>
          <a:xfrm>
            <a:off x="9326880" y="340156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0" y="341985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No</a:t>
            </a:r>
          </a:p>
        </p:txBody>
      </p:sp>
      <p:sp>
        <p:nvSpPr>
          <p:cNvPr id="21" name="TextBox 20"/>
          <p:cNvSpPr txBox="1"/>
          <p:nvPr/>
        </p:nvSpPr>
        <p:spPr>
          <a:xfrm>
            <a:off x="7406640" y="374904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General Hlth</a:t>
            </a:r>
          </a:p>
        </p:txBody>
      </p:sp>
      <p:sp>
        <p:nvSpPr>
          <p:cNvPr id="22" name="Rectangle 21"/>
          <p:cNvSpPr/>
          <p:nvPr/>
        </p:nvSpPr>
        <p:spPr>
          <a:xfrm>
            <a:off x="9326880" y="376732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18320" y="378561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3 - Good</a:t>
            </a:r>
          </a:p>
        </p:txBody>
      </p:sp>
      <p:sp>
        <p:nvSpPr>
          <p:cNvPr id="24" name="TextBox 23"/>
          <p:cNvSpPr txBox="1"/>
          <p:nvPr/>
        </p:nvSpPr>
        <p:spPr>
          <a:xfrm>
            <a:off x="7406640" y="4114800"/>
            <a:ext cx="1828800" cy="274320"/>
          </a:xfrm>
          <a:prstGeom prst="rect">
            <a:avLst/>
          </a:prstGeom>
          <a:noFill/>
        </p:spPr>
        <p:txBody>
          <a:bodyPr wrap="square" lIns="0" tIns="0" rIns="0" bIns="0" anchor="t">
            <a:spAutoFit/>
          </a:bodyPr>
          <a:lstStyle/>
          <a:p>
            <a:pPr algn="l">
              <a:lnSpc>
                <a:spcPct val="115000"/>
              </a:lnSpc>
            </a:pPr>
            <a:r>
              <a:rPr sz="1000" b="1">
                <a:solidFill>
                  <a:srgbClr val="475569"/>
                </a:solidFill>
                <a:latin typeface="Calibri"/>
              </a:rPr>
              <a:t>Age group</a:t>
            </a:r>
          </a:p>
        </p:txBody>
      </p:sp>
      <p:sp>
        <p:nvSpPr>
          <p:cNvPr id="25" name="Rectangle 24"/>
          <p:cNvSpPr/>
          <p:nvPr/>
        </p:nvSpPr>
        <p:spPr>
          <a:xfrm>
            <a:off x="9326880" y="4133088"/>
            <a:ext cx="1828800" cy="2743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418320" y="4151376"/>
            <a:ext cx="1645920" cy="274320"/>
          </a:xfrm>
          <a:prstGeom prst="rect">
            <a:avLst/>
          </a:prstGeom>
          <a:noFill/>
        </p:spPr>
        <p:txBody>
          <a:bodyPr wrap="square" lIns="0" tIns="0" rIns="0" bIns="0" anchor="t">
            <a:spAutoFit/>
          </a:bodyPr>
          <a:lstStyle/>
          <a:p>
            <a:pPr algn="l">
              <a:lnSpc>
                <a:spcPct val="115000"/>
              </a:lnSpc>
            </a:pPr>
            <a:r>
              <a:rPr sz="1000" b="0">
                <a:solidFill>
                  <a:srgbClr val="1E293B"/>
                </a:solidFill>
                <a:latin typeface="Calibri"/>
              </a:rPr>
              <a:t>50-54</a:t>
            </a:r>
          </a:p>
        </p:txBody>
      </p:sp>
      <p:sp>
        <p:nvSpPr>
          <p:cNvPr id="27" name="Rounded Rectangle 26"/>
          <p:cNvSpPr/>
          <p:nvPr/>
        </p:nvSpPr>
        <p:spPr>
          <a:xfrm>
            <a:off x="7406640" y="4617720"/>
            <a:ext cx="3931920" cy="457200"/>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06640" y="4727448"/>
            <a:ext cx="3931920" cy="274320"/>
          </a:xfrm>
          <a:prstGeom prst="rect">
            <a:avLst/>
          </a:prstGeom>
          <a:noFill/>
        </p:spPr>
        <p:txBody>
          <a:bodyPr wrap="square" lIns="0" tIns="0" rIns="0" bIns="0" anchor="t">
            <a:spAutoFit/>
          </a:bodyPr>
          <a:lstStyle/>
          <a:p>
            <a:pPr algn="ctr">
              <a:lnSpc>
                <a:spcPct val="115000"/>
              </a:lnSpc>
            </a:pPr>
            <a:r>
              <a:rPr sz="1200" b="1">
                <a:solidFill>
                  <a:srgbClr val="FFFFFF"/>
                </a:solidFill>
                <a:latin typeface="Calibri"/>
              </a:rPr>
              <a:t>PREDICT</a:t>
            </a:r>
          </a:p>
        </p:txBody>
      </p:sp>
      <p:sp>
        <p:nvSpPr>
          <p:cNvPr id="29" name="Rectangle 28"/>
          <p:cNvSpPr/>
          <p:nvPr/>
        </p:nvSpPr>
        <p:spPr>
          <a:xfrm>
            <a:off x="7406640" y="5257800"/>
            <a:ext cx="3931920" cy="777240"/>
          </a:xfrm>
          <a:prstGeom prst="rect">
            <a:avLst/>
          </a:prstGeom>
          <a:solidFill>
            <a:srgbClr val="F1F5F9"/>
          </a:solidFill>
          <a:ln w="952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89520" y="5349240"/>
            <a:ext cx="3657600" cy="274320"/>
          </a:xfrm>
          <a:prstGeom prst="rect">
            <a:avLst/>
          </a:prstGeom>
          <a:noFill/>
        </p:spPr>
        <p:txBody>
          <a:bodyPr wrap="square" lIns="0" tIns="0" rIns="0" bIns="0" anchor="t">
            <a:spAutoFit/>
          </a:bodyPr>
          <a:lstStyle/>
          <a:p>
            <a:pPr algn="l">
              <a:lnSpc>
                <a:spcPct val="115000"/>
              </a:lnSpc>
            </a:pPr>
            <a:r>
              <a:rPr sz="1100" b="1">
                <a:solidFill>
                  <a:srgbClr val="DC2626"/>
                </a:solidFill>
                <a:latin typeface="Calibri"/>
              </a:rPr>
              <a:t>HIGH RISK</a:t>
            </a:r>
          </a:p>
        </p:txBody>
      </p:sp>
      <p:sp>
        <p:nvSpPr>
          <p:cNvPr id="31" name="TextBox 30"/>
          <p:cNvSpPr txBox="1"/>
          <p:nvPr/>
        </p:nvSpPr>
        <p:spPr>
          <a:xfrm>
            <a:off x="7589520" y="5669280"/>
            <a:ext cx="3657600" cy="274320"/>
          </a:xfrm>
          <a:prstGeom prst="rect">
            <a:avLst/>
          </a:prstGeom>
          <a:noFill/>
        </p:spPr>
        <p:txBody>
          <a:bodyPr wrap="square" lIns="0" tIns="0" rIns="0" bIns="0" anchor="t">
            <a:spAutoFit/>
          </a:bodyPr>
          <a:lstStyle/>
          <a:p>
            <a:pPr algn="l">
              <a:lnSpc>
                <a:spcPct val="115000"/>
              </a:lnSpc>
            </a:pPr>
            <a:r>
              <a:rPr sz="1100" b="0">
                <a:solidFill>
                  <a:srgbClr val="1E293B"/>
                </a:solidFill>
                <a:latin typeface="Calibri"/>
              </a:rPr>
              <a:t>probability  68 %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6510528"/>
            <a:ext cx="7315200" cy="274320"/>
          </a:xfrm>
          <a:prstGeom prst="rect">
            <a:avLst/>
          </a:prstGeom>
          <a:noFill/>
        </p:spPr>
        <p:txBody>
          <a:bodyPr wrap="square" lIns="0" tIns="0" rIns="0" bIns="0" anchor="t">
            <a:spAutoFit/>
          </a:bodyPr>
          <a:lstStyle/>
          <a:p>
            <a:pPr algn="l">
              <a:lnSpc>
                <a:spcPct val="115000"/>
              </a:lnSpc>
            </a:pPr>
            <a:r>
              <a:rPr sz="900" b="0">
                <a:solidFill>
                  <a:srgbClr val="94A3B8"/>
                </a:solidFill>
                <a:latin typeface="Calibri"/>
              </a:rPr>
              <a:t>Diabetes Risk Prediction  ·  Intro to Data Science  ·  Sem 2</a:t>
            </a:r>
          </a:p>
        </p:txBody>
      </p:sp>
      <p:sp>
        <p:nvSpPr>
          <p:cNvPr id="4" name="TextBox 3"/>
          <p:cNvSpPr txBox="1"/>
          <p:nvPr/>
        </p:nvSpPr>
        <p:spPr>
          <a:xfrm>
            <a:off x="11094415" y="6510528"/>
            <a:ext cx="822960" cy="274320"/>
          </a:xfrm>
          <a:prstGeom prst="rect">
            <a:avLst/>
          </a:prstGeom>
          <a:noFill/>
        </p:spPr>
        <p:txBody>
          <a:bodyPr wrap="square" lIns="0" tIns="0" rIns="0" bIns="0" anchor="t">
            <a:spAutoFit/>
          </a:bodyPr>
          <a:lstStyle/>
          <a:p>
            <a:pPr algn="r">
              <a:lnSpc>
                <a:spcPct val="115000"/>
              </a:lnSpc>
            </a:pPr>
            <a:r>
              <a:rPr sz="900" b="0">
                <a:solidFill>
                  <a:srgbClr val="94A3B8"/>
                </a:solidFill>
                <a:latin typeface="Calibri"/>
              </a:rPr>
              <a:t>18 / 18</a:t>
            </a:r>
          </a:p>
        </p:txBody>
      </p:sp>
      <p:sp>
        <p:nvSpPr>
          <p:cNvPr id="5" name="TextBox 4"/>
          <p:cNvSpPr txBox="1"/>
          <p:nvPr/>
        </p:nvSpPr>
        <p:spPr>
          <a:xfrm>
            <a:off x="640080" y="502920"/>
            <a:ext cx="10972800" cy="274320"/>
          </a:xfrm>
          <a:prstGeom prst="rect">
            <a:avLst/>
          </a:prstGeom>
          <a:noFill/>
        </p:spPr>
        <p:txBody>
          <a:bodyPr wrap="square" lIns="0" tIns="0" rIns="0" bIns="0" anchor="t">
            <a:spAutoFit/>
          </a:bodyPr>
          <a:lstStyle/>
          <a:p>
            <a:pPr algn="l">
              <a:lnSpc>
                <a:spcPct val="115000"/>
              </a:lnSpc>
            </a:pPr>
            <a:r>
              <a:rPr sz="1000" b="1">
                <a:solidFill>
                  <a:srgbClr val="F59E0B"/>
                </a:solidFill>
                <a:latin typeface="Calibri"/>
              </a:rPr>
              <a:t>16  ·  CONCLUSION</a:t>
            </a:r>
          </a:p>
        </p:txBody>
      </p:sp>
      <p:sp>
        <p:nvSpPr>
          <p:cNvPr id="6" name="TextBox 5"/>
          <p:cNvSpPr txBox="1"/>
          <p:nvPr/>
        </p:nvSpPr>
        <p:spPr>
          <a:xfrm>
            <a:off x="640080" y="822960"/>
            <a:ext cx="10972800" cy="685800"/>
          </a:xfrm>
          <a:prstGeom prst="rect">
            <a:avLst/>
          </a:prstGeom>
          <a:noFill/>
        </p:spPr>
        <p:txBody>
          <a:bodyPr wrap="square" lIns="0" tIns="0" rIns="0" bIns="0" anchor="t">
            <a:spAutoFit/>
          </a:bodyPr>
          <a:lstStyle/>
          <a:p>
            <a:pPr algn="l">
              <a:lnSpc>
                <a:spcPct val="115000"/>
              </a:lnSpc>
            </a:pPr>
            <a:r>
              <a:rPr sz="2800" b="1">
                <a:solidFill>
                  <a:srgbClr val="1E293B"/>
                </a:solidFill>
                <a:latin typeface="Calibri"/>
              </a:rPr>
              <a:t>Results · Limitations · Q&amp;A</a:t>
            </a:r>
          </a:p>
        </p:txBody>
      </p:sp>
      <p:sp>
        <p:nvSpPr>
          <p:cNvPr id="7" name="Rectangle 6"/>
          <p:cNvSpPr/>
          <p:nvPr/>
        </p:nvSpPr>
        <p:spPr>
          <a:xfrm>
            <a:off x="640080" y="1463040"/>
            <a:ext cx="457200"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920240"/>
            <a:ext cx="2697480" cy="13716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 y="1920240"/>
            <a:ext cx="2697480" cy="3200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1965960"/>
            <a:ext cx="242316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ACCURACY</a:t>
            </a:r>
          </a:p>
        </p:txBody>
      </p:sp>
      <p:sp>
        <p:nvSpPr>
          <p:cNvPr id="11" name="TextBox 10"/>
          <p:cNvSpPr txBox="1"/>
          <p:nvPr/>
        </p:nvSpPr>
        <p:spPr>
          <a:xfrm>
            <a:off x="822960" y="2377440"/>
            <a:ext cx="2423160" cy="685800"/>
          </a:xfrm>
          <a:prstGeom prst="rect">
            <a:avLst/>
          </a:prstGeom>
          <a:noFill/>
        </p:spPr>
        <p:txBody>
          <a:bodyPr wrap="square" lIns="0" tIns="0" rIns="0" bIns="0" anchor="t">
            <a:spAutoFit/>
          </a:bodyPr>
          <a:lstStyle/>
          <a:p>
            <a:pPr algn="l">
              <a:lnSpc>
                <a:spcPct val="115000"/>
              </a:lnSpc>
            </a:pPr>
            <a:r>
              <a:rPr sz="3000" b="1">
                <a:solidFill>
                  <a:srgbClr val="1E293B"/>
                </a:solidFill>
                <a:latin typeface="Calibri"/>
              </a:rPr>
              <a:t>74.36%</a:t>
            </a:r>
          </a:p>
        </p:txBody>
      </p:sp>
      <p:sp>
        <p:nvSpPr>
          <p:cNvPr id="12" name="TextBox 11"/>
          <p:cNvSpPr txBox="1"/>
          <p:nvPr/>
        </p:nvSpPr>
        <p:spPr>
          <a:xfrm>
            <a:off x="822960" y="3017520"/>
            <a:ext cx="2423160" cy="256032"/>
          </a:xfrm>
          <a:prstGeom prst="rect">
            <a:avLst/>
          </a:prstGeom>
          <a:noFill/>
        </p:spPr>
        <p:txBody>
          <a:bodyPr wrap="square" lIns="0" tIns="0" rIns="0" bIns="0" anchor="t">
            <a:spAutoFit/>
          </a:bodyPr>
          <a:lstStyle/>
          <a:p>
            <a:pPr algn="l">
              <a:lnSpc>
                <a:spcPct val="115000"/>
              </a:lnSpc>
            </a:pPr>
            <a:r>
              <a:rPr sz="900" b="0">
                <a:solidFill>
                  <a:srgbClr val="475569"/>
                </a:solidFill>
                <a:latin typeface="Calibri"/>
              </a:rPr>
              <a:t>on test set</a:t>
            </a:r>
          </a:p>
        </p:txBody>
      </p:sp>
      <p:sp>
        <p:nvSpPr>
          <p:cNvPr id="13" name="Rectangle 12"/>
          <p:cNvSpPr/>
          <p:nvPr/>
        </p:nvSpPr>
        <p:spPr>
          <a:xfrm>
            <a:off x="3398520" y="1920240"/>
            <a:ext cx="2697480" cy="13716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98520" y="1920240"/>
            <a:ext cx="2697480" cy="3200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81400" y="1965960"/>
            <a:ext cx="242316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F1 SCORE</a:t>
            </a:r>
          </a:p>
        </p:txBody>
      </p:sp>
      <p:sp>
        <p:nvSpPr>
          <p:cNvPr id="16" name="TextBox 15"/>
          <p:cNvSpPr txBox="1"/>
          <p:nvPr/>
        </p:nvSpPr>
        <p:spPr>
          <a:xfrm>
            <a:off x="3581400" y="2377440"/>
            <a:ext cx="2423160" cy="685800"/>
          </a:xfrm>
          <a:prstGeom prst="rect">
            <a:avLst/>
          </a:prstGeom>
          <a:noFill/>
        </p:spPr>
        <p:txBody>
          <a:bodyPr wrap="square" lIns="0" tIns="0" rIns="0" bIns="0" anchor="t">
            <a:spAutoFit/>
          </a:bodyPr>
          <a:lstStyle/>
          <a:p>
            <a:pPr algn="l">
              <a:lnSpc>
                <a:spcPct val="115000"/>
              </a:lnSpc>
            </a:pPr>
            <a:r>
              <a:rPr sz="3000" b="1">
                <a:solidFill>
                  <a:srgbClr val="1E293B"/>
                </a:solidFill>
                <a:latin typeface="Calibri"/>
              </a:rPr>
              <a:t>0.759</a:t>
            </a:r>
          </a:p>
        </p:txBody>
      </p:sp>
      <p:sp>
        <p:nvSpPr>
          <p:cNvPr id="17" name="TextBox 16"/>
          <p:cNvSpPr txBox="1"/>
          <p:nvPr/>
        </p:nvSpPr>
        <p:spPr>
          <a:xfrm>
            <a:off x="3581400" y="3017520"/>
            <a:ext cx="2423160" cy="256032"/>
          </a:xfrm>
          <a:prstGeom prst="rect">
            <a:avLst/>
          </a:prstGeom>
          <a:noFill/>
        </p:spPr>
        <p:txBody>
          <a:bodyPr wrap="square" lIns="0" tIns="0" rIns="0" bIns="0" anchor="t">
            <a:spAutoFit/>
          </a:bodyPr>
          <a:lstStyle/>
          <a:p>
            <a:pPr algn="l">
              <a:lnSpc>
                <a:spcPct val="115000"/>
              </a:lnSpc>
            </a:pPr>
            <a:r>
              <a:rPr sz="900" b="0">
                <a:solidFill>
                  <a:srgbClr val="475569"/>
                </a:solidFill>
                <a:latin typeface="Calibri"/>
              </a:rPr>
              <a:t>best of 4 models</a:t>
            </a:r>
          </a:p>
        </p:txBody>
      </p:sp>
      <p:sp>
        <p:nvSpPr>
          <p:cNvPr id="18" name="Rectangle 17"/>
          <p:cNvSpPr/>
          <p:nvPr/>
        </p:nvSpPr>
        <p:spPr>
          <a:xfrm>
            <a:off x="6156960" y="1920240"/>
            <a:ext cx="2697480" cy="13716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56960" y="1920240"/>
            <a:ext cx="2697480" cy="3200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39840" y="1965960"/>
            <a:ext cx="242316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PRECISION</a:t>
            </a:r>
          </a:p>
        </p:txBody>
      </p:sp>
      <p:sp>
        <p:nvSpPr>
          <p:cNvPr id="21" name="TextBox 20"/>
          <p:cNvSpPr txBox="1"/>
          <p:nvPr/>
        </p:nvSpPr>
        <p:spPr>
          <a:xfrm>
            <a:off x="6339840" y="2377440"/>
            <a:ext cx="2423160" cy="685800"/>
          </a:xfrm>
          <a:prstGeom prst="rect">
            <a:avLst/>
          </a:prstGeom>
          <a:noFill/>
        </p:spPr>
        <p:txBody>
          <a:bodyPr wrap="square" lIns="0" tIns="0" rIns="0" bIns="0" anchor="t">
            <a:spAutoFit/>
          </a:bodyPr>
          <a:lstStyle/>
          <a:p>
            <a:pPr algn="l">
              <a:lnSpc>
                <a:spcPct val="115000"/>
              </a:lnSpc>
            </a:pPr>
            <a:r>
              <a:rPr sz="3000" b="1">
                <a:solidFill>
                  <a:srgbClr val="1E293B"/>
                </a:solidFill>
                <a:latin typeface="Calibri"/>
              </a:rPr>
              <a:t>0.727</a:t>
            </a:r>
          </a:p>
        </p:txBody>
      </p:sp>
      <p:sp>
        <p:nvSpPr>
          <p:cNvPr id="22" name="TextBox 21"/>
          <p:cNvSpPr txBox="1"/>
          <p:nvPr/>
        </p:nvSpPr>
        <p:spPr>
          <a:xfrm>
            <a:off x="6339840" y="3017520"/>
            <a:ext cx="2423160" cy="256032"/>
          </a:xfrm>
          <a:prstGeom prst="rect">
            <a:avLst/>
          </a:prstGeom>
          <a:noFill/>
        </p:spPr>
        <p:txBody>
          <a:bodyPr wrap="square" lIns="0" tIns="0" rIns="0" bIns="0" anchor="t">
            <a:spAutoFit/>
          </a:bodyPr>
          <a:lstStyle/>
          <a:p>
            <a:pPr algn="l">
              <a:lnSpc>
                <a:spcPct val="115000"/>
              </a:lnSpc>
            </a:pPr>
            <a:r>
              <a:rPr sz="900" b="0">
                <a:solidFill>
                  <a:srgbClr val="475569"/>
                </a:solidFill>
                <a:latin typeface="Calibri"/>
              </a:rPr>
              <a:t>of predicted diabetics</a:t>
            </a:r>
          </a:p>
        </p:txBody>
      </p:sp>
      <p:sp>
        <p:nvSpPr>
          <p:cNvPr id="23" name="Rectangle 22"/>
          <p:cNvSpPr/>
          <p:nvPr/>
        </p:nvSpPr>
        <p:spPr>
          <a:xfrm>
            <a:off x="8915400" y="1920240"/>
            <a:ext cx="2697480" cy="13716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15400" y="1920240"/>
            <a:ext cx="2697480" cy="320040"/>
          </a:xfrm>
          <a:prstGeom prst="rect">
            <a:avLst/>
          </a:prstGeom>
          <a:solidFill>
            <a:srgbClr val="0B4F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98280" y="1965960"/>
            <a:ext cx="2423160" cy="274320"/>
          </a:xfrm>
          <a:prstGeom prst="rect">
            <a:avLst/>
          </a:prstGeom>
          <a:noFill/>
        </p:spPr>
        <p:txBody>
          <a:bodyPr wrap="square" lIns="0" tIns="0" rIns="0" bIns="0" anchor="t">
            <a:spAutoFit/>
          </a:bodyPr>
          <a:lstStyle/>
          <a:p>
            <a:pPr algn="l">
              <a:lnSpc>
                <a:spcPct val="115000"/>
              </a:lnSpc>
            </a:pPr>
            <a:r>
              <a:rPr sz="1000" b="1">
                <a:solidFill>
                  <a:srgbClr val="FFFFFF"/>
                </a:solidFill>
                <a:latin typeface="Calibri"/>
              </a:rPr>
              <a:t>RECALL</a:t>
            </a:r>
          </a:p>
        </p:txBody>
      </p:sp>
      <p:sp>
        <p:nvSpPr>
          <p:cNvPr id="26" name="TextBox 25"/>
          <p:cNvSpPr txBox="1"/>
          <p:nvPr/>
        </p:nvSpPr>
        <p:spPr>
          <a:xfrm>
            <a:off x="9098280" y="2377440"/>
            <a:ext cx="2423160" cy="685800"/>
          </a:xfrm>
          <a:prstGeom prst="rect">
            <a:avLst/>
          </a:prstGeom>
          <a:noFill/>
        </p:spPr>
        <p:txBody>
          <a:bodyPr wrap="square" lIns="0" tIns="0" rIns="0" bIns="0" anchor="t">
            <a:spAutoFit/>
          </a:bodyPr>
          <a:lstStyle/>
          <a:p>
            <a:pPr algn="l">
              <a:lnSpc>
                <a:spcPct val="115000"/>
              </a:lnSpc>
            </a:pPr>
            <a:r>
              <a:rPr sz="3000" b="1">
                <a:solidFill>
                  <a:srgbClr val="1E293B"/>
                </a:solidFill>
                <a:latin typeface="Calibri"/>
              </a:rPr>
              <a:t>0.794</a:t>
            </a:r>
          </a:p>
        </p:txBody>
      </p:sp>
      <p:sp>
        <p:nvSpPr>
          <p:cNvPr id="27" name="TextBox 26"/>
          <p:cNvSpPr txBox="1"/>
          <p:nvPr/>
        </p:nvSpPr>
        <p:spPr>
          <a:xfrm>
            <a:off x="9098280" y="3017520"/>
            <a:ext cx="2423160" cy="256032"/>
          </a:xfrm>
          <a:prstGeom prst="rect">
            <a:avLst/>
          </a:prstGeom>
          <a:noFill/>
        </p:spPr>
        <p:txBody>
          <a:bodyPr wrap="square" lIns="0" tIns="0" rIns="0" bIns="0" anchor="t">
            <a:spAutoFit/>
          </a:bodyPr>
          <a:lstStyle/>
          <a:p>
            <a:pPr algn="l">
              <a:lnSpc>
                <a:spcPct val="115000"/>
              </a:lnSpc>
            </a:pPr>
            <a:r>
              <a:rPr sz="900" b="0">
                <a:solidFill>
                  <a:srgbClr val="475569"/>
                </a:solidFill>
                <a:latin typeface="Calibri"/>
              </a:rPr>
              <a:t>of real diabetics caught</a:t>
            </a:r>
          </a:p>
        </p:txBody>
      </p:sp>
      <p:sp>
        <p:nvSpPr>
          <p:cNvPr id="28" name="TextBox 27"/>
          <p:cNvSpPr txBox="1"/>
          <p:nvPr/>
        </p:nvSpPr>
        <p:spPr>
          <a:xfrm>
            <a:off x="640080" y="3520440"/>
            <a:ext cx="5486400" cy="320040"/>
          </a:xfrm>
          <a:prstGeom prst="rect">
            <a:avLst/>
          </a:prstGeom>
          <a:noFill/>
        </p:spPr>
        <p:txBody>
          <a:bodyPr wrap="square" lIns="0" tIns="0" rIns="0" bIns="0" anchor="t">
            <a:spAutoFit/>
          </a:bodyPr>
          <a:lstStyle/>
          <a:p>
            <a:pPr algn="l">
              <a:lnSpc>
                <a:spcPct val="115000"/>
              </a:lnSpc>
            </a:pPr>
            <a:r>
              <a:rPr sz="1100" b="1">
                <a:solidFill>
                  <a:srgbClr val="16A34A"/>
                </a:solidFill>
                <a:latin typeface="Calibri"/>
              </a:rPr>
              <a:t>CONCLUSION</a:t>
            </a:r>
          </a:p>
        </p:txBody>
      </p:sp>
      <p:sp>
        <p:nvSpPr>
          <p:cNvPr id="29" name="TextBox 28"/>
          <p:cNvSpPr txBox="1"/>
          <p:nvPr/>
        </p:nvSpPr>
        <p:spPr>
          <a:xfrm>
            <a:off x="640080" y="3813048"/>
            <a:ext cx="5486400" cy="1280160"/>
          </a:xfrm>
          <a:prstGeom prst="rect">
            <a:avLst/>
          </a:prstGeom>
          <a:noFill/>
        </p:spPr>
        <p:txBody>
          <a:bodyPr wrap="square" lIns="0" tIns="0" rIns="0" bIns="0">
            <a:spAutoFit/>
          </a:bodyPr>
          <a:lstStyle/>
          <a:p>
            <a:pPr algn="l">
              <a:lnSpc>
                <a:spcPct val="130000"/>
              </a:lnSpc>
              <a:spcAft>
                <a:spcPts val="400"/>
              </a:spcAft>
            </a:pPr>
            <a:r>
              <a:rPr sz="1100" b="1">
                <a:solidFill>
                  <a:srgbClr val="16A34A"/>
                </a:solidFill>
                <a:latin typeface="Calibri"/>
              </a:rPr>
              <a:t>·  </a:t>
            </a:r>
            <a:r>
              <a:rPr sz="1100">
                <a:solidFill>
                  <a:srgbClr val="475569"/>
                </a:solidFill>
                <a:latin typeface="Calibri"/>
              </a:rPr>
              <a:t>Random Forest → 74.4% accuracy  ·  0.759 F1 score.</a:t>
            </a:r>
          </a:p>
          <a:p>
            <a:pPr algn="l">
              <a:lnSpc>
                <a:spcPct val="130000"/>
              </a:lnSpc>
              <a:spcAft>
                <a:spcPts val="400"/>
              </a:spcAft>
            </a:pPr>
            <a:r>
              <a:rPr sz="1100" b="1">
                <a:solidFill>
                  <a:srgbClr val="16A34A"/>
                </a:solidFill>
                <a:latin typeface="Calibri"/>
              </a:rPr>
              <a:t>·  </a:t>
            </a:r>
            <a:r>
              <a:rPr sz="1100">
                <a:solidFill>
                  <a:srgbClr val="475569"/>
                </a:solidFill>
                <a:latin typeface="Calibri"/>
              </a:rPr>
              <a:t>5 dominant risk factors identified, aligned with medical literature.</a:t>
            </a:r>
          </a:p>
          <a:p>
            <a:pPr algn="l">
              <a:lnSpc>
                <a:spcPct val="130000"/>
              </a:lnSpc>
              <a:spcAft>
                <a:spcPts val="400"/>
              </a:spcAft>
            </a:pPr>
            <a:r>
              <a:rPr sz="1100" b="1">
                <a:solidFill>
                  <a:srgbClr val="16A34A"/>
                </a:solidFill>
                <a:latin typeface="Calibri"/>
              </a:rPr>
              <a:t>·  </a:t>
            </a:r>
            <a:r>
              <a:rPr sz="1100">
                <a:solidFill>
                  <a:srgbClr val="475569"/>
                </a:solidFill>
                <a:latin typeface="Calibri"/>
              </a:rPr>
              <a:t>Working web app + reproducible notebook, GitHub-ready.</a:t>
            </a:r>
          </a:p>
        </p:txBody>
      </p:sp>
      <p:sp>
        <p:nvSpPr>
          <p:cNvPr id="30" name="TextBox 29"/>
          <p:cNvSpPr txBox="1"/>
          <p:nvPr/>
        </p:nvSpPr>
        <p:spPr>
          <a:xfrm>
            <a:off x="640080" y="4983480"/>
            <a:ext cx="5486400" cy="320040"/>
          </a:xfrm>
          <a:prstGeom prst="rect">
            <a:avLst/>
          </a:prstGeom>
          <a:noFill/>
        </p:spPr>
        <p:txBody>
          <a:bodyPr wrap="square" lIns="0" tIns="0" rIns="0" bIns="0" anchor="t">
            <a:spAutoFit/>
          </a:bodyPr>
          <a:lstStyle/>
          <a:p>
            <a:pPr algn="l">
              <a:lnSpc>
                <a:spcPct val="115000"/>
              </a:lnSpc>
            </a:pPr>
            <a:r>
              <a:rPr sz="1100" b="1">
                <a:solidFill>
                  <a:srgbClr val="DC2626"/>
                </a:solidFill>
                <a:latin typeface="Calibri"/>
              </a:rPr>
              <a:t>LIMITATIONS</a:t>
            </a:r>
          </a:p>
        </p:txBody>
      </p:sp>
      <p:sp>
        <p:nvSpPr>
          <p:cNvPr id="31" name="TextBox 30"/>
          <p:cNvSpPr txBox="1"/>
          <p:nvPr/>
        </p:nvSpPr>
        <p:spPr>
          <a:xfrm>
            <a:off x="640080" y="5285232"/>
            <a:ext cx="5486400" cy="914400"/>
          </a:xfrm>
          <a:prstGeom prst="rect">
            <a:avLst/>
          </a:prstGeom>
          <a:noFill/>
        </p:spPr>
        <p:txBody>
          <a:bodyPr wrap="square" lIns="0" tIns="0" rIns="0" bIns="0">
            <a:spAutoFit/>
          </a:bodyPr>
          <a:lstStyle/>
          <a:p>
            <a:pPr algn="l">
              <a:lnSpc>
                <a:spcPct val="125000"/>
              </a:lnSpc>
              <a:spcAft>
                <a:spcPts val="200"/>
              </a:spcAft>
            </a:pPr>
            <a:r>
              <a:rPr sz="1000" b="1">
                <a:solidFill>
                  <a:srgbClr val="DC2626"/>
                </a:solidFill>
                <a:latin typeface="Calibri"/>
              </a:rPr>
              <a:t>·  </a:t>
            </a:r>
            <a:r>
              <a:rPr sz="1000">
                <a:solidFill>
                  <a:srgbClr val="475569"/>
                </a:solidFill>
                <a:latin typeface="Calibri"/>
              </a:rPr>
              <a:t>Self-reported survey data is noisy.</a:t>
            </a:r>
          </a:p>
          <a:p>
            <a:pPr algn="l">
              <a:lnSpc>
                <a:spcPct val="125000"/>
              </a:lnSpc>
              <a:spcAft>
                <a:spcPts val="200"/>
              </a:spcAft>
            </a:pPr>
            <a:r>
              <a:rPr sz="1000" b="1">
                <a:solidFill>
                  <a:srgbClr val="DC2626"/>
                </a:solidFill>
                <a:latin typeface="Calibri"/>
              </a:rPr>
              <a:t>·  </a:t>
            </a:r>
            <a:r>
              <a:rPr sz="1000">
                <a:solidFill>
                  <a:srgbClr val="475569"/>
                </a:solidFill>
                <a:latin typeface="Calibri"/>
              </a:rPr>
              <a:t>No lab values (no HbA1c or glucose).</a:t>
            </a:r>
          </a:p>
          <a:p>
            <a:pPr algn="l">
              <a:lnSpc>
                <a:spcPct val="125000"/>
              </a:lnSpc>
              <a:spcAft>
                <a:spcPts val="200"/>
              </a:spcAft>
            </a:pPr>
            <a:r>
              <a:rPr sz="1000" b="1">
                <a:solidFill>
                  <a:srgbClr val="DC2626"/>
                </a:solidFill>
                <a:latin typeface="Calibri"/>
              </a:rPr>
              <a:t>·  </a:t>
            </a:r>
            <a:r>
              <a:rPr sz="1000">
                <a:solidFill>
                  <a:srgbClr val="475569"/>
                </a:solidFill>
                <a:latin typeface="Calibri"/>
              </a:rPr>
              <a:t>Balanced data  ≠  real-world prevalence (~14%).</a:t>
            </a:r>
          </a:p>
        </p:txBody>
      </p:sp>
      <p:sp>
        <p:nvSpPr>
          <p:cNvPr id="32" name="TextBox 31"/>
          <p:cNvSpPr txBox="1"/>
          <p:nvPr/>
        </p:nvSpPr>
        <p:spPr>
          <a:xfrm>
            <a:off x="6583680" y="3520440"/>
            <a:ext cx="5029200" cy="320040"/>
          </a:xfrm>
          <a:prstGeom prst="rect">
            <a:avLst/>
          </a:prstGeom>
          <a:noFill/>
        </p:spPr>
        <p:txBody>
          <a:bodyPr wrap="square" lIns="0" tIns="0" rIns="0" bIns="0" anchor="t">
            <a:spAutoFit/>
          </a:bodyPr>
          <a:lstStyle/>
          <a:p>
            <a:pPr algn="l">
              <a:lnSpc>
                <a:spcPct val="115000"/>
              </a:lnSpc>
            </a:pPr>
            <a:r>
              <a:rPr sz="1100" b="1">
                <a:solidFill>
                  <a:srgbClr val="F59E0B"/>
                </a:solidFill>
                <a:latin typeface="Calibri"/>
              </a:rPr>
              <a:t>LIKELY QUESTIONS</a:t>
            </a:r>
          </a:p>
        </p:txBody>
      </p:sp>
      <p:sp>
        <p:nvSpPr>
          <p:cNvPr id="33" name="TextBox 32"/>
          <p:cNvSpPr txBox="1"/>
          <p:nvPr/>
        </p:nvSpPr>
        <p:spPr>
          <a:xfrm>
            <a:off x="6583680" y="3813048"/>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Why Random Forest over Logistic Reg?</a:t>
            </a:r>
          </a:p>
        </p:txBody>
      </p:sp>
      <p:sp>
        <p:nvSpPr>
          <p:cNvPr id="34" name="TextBox 33"/>
          <p:cNvSpPr txBox="1"/>
          <p:nvPr/>
        </p:nvSpPr>
        <p:spPr>
          <a:xfrm>
            <a:off x="6583680" y="4041648"/>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Best F1 + feature importance for free.</a:t>
            </a:r>
          </a:p>
        </p:txBody>
      </p:sp>
      <p:sp>
        <p:nvSpPr>
          <p:cNvPr id="35" name="TextBox 34"/>
          <p:cNvSpPr txBox="1"/>
          <p:nvPr/>
        </p:nvSpPr>
        <p:spPr>
          <a:xfrm>
            <a:off x="6583680" y="4233672"/>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Why only 74% accuracy?</a:t>
            </a:r>
          </a:p>
        </p:txBody>
      </p:sp>
      <p:sp>
        <p:nvSpPr>
          <p:cNvPr id="36" name="TextBox 35"/>
          <p:cNvSpPr txBox="1"/>
          <p:nvPr/>
        </p:nvSpPr>
        <p:spPr>
          <a:xfrm>
            <a:off x="6583680" y="4462272"/>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Self-reported data caps it; matches published research.</a:t>
            </a:r>
          </a:p>
        </p:txBody>
      </p:sp>
      <p:sp>
        <p:nvSpPr>
          <p:cNvPr id="37" name="TextBox 36"/>
          <p:cNvSpPr txBox="1"/>
          <p:nvPr/>
        </p:nvSpPr>
        <p:spPr>
          <a:xfrm>
            <a:off x="6583680" y="4654296"/>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Why drop duplicates?</a:t>
            </a:r>
          </a:p>
        </p:txBody>
      </p:sp>
      <p:sp>
        <p:nvSpPr>
          <p:cNvPr id="38" name="TextBox 37"/>
          <p:cNvSpPr txBox="1"/>
          <p:nvPr/>
        </p:nvSpPr>
        <p:spPr>
          <a:xfrm>
            <a:off x="6583680" y="4882896"/>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Prevents test-set inflation (data leakage).</a:t>
            </a:r>
          </a:p>
        </p:txBody>
      </p:sp>
      <p:sp>
        <p:nvSpPr>
          <p:cNvPr id="39" name="TextBox 38"/>
          <p:cNvSpPr txBox="1"/>
          <p:nvPr/>
        </p:nvSpPr>
        <p:spPr>
          <a:xfrm>
            <a:off x="6583680" y="5074920"/>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Supervised or unsupervised?</a:t>
            </a:r>
          </a:p>
        </p:txBody>
      </p:sp>
      <p:sp>
        <p:nvSpPr>
          <p:cNvPr id="40" name="TextBox 39"/>
          <p:cNvSpPr txBox="1"/>
          <p:nvPr/>
        </p:nvSpPr>
        <p:spPr>
          <a:xfrm>
            <a:off x="6583680" y="5303520"/>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Supervised — target is labeled 0 / 1.</a:t>
            </a:r>
          </a:p>
        </p:txBody>
      </p:sp>
      <p:sp>
        <p:nvSpPr>
          <p:cNvPr id="41" name="TextBox 40"/>
          <p:cNvSpPr txBox="1"/>
          <p:nvPr/>
        </p:nvSpPr>
        <p:spPr>
          <a:xfrm>
            <a:off x="6583680" y="5495544"/>
            <a:ext cx="5029200" cy="274320"/>
          </a:xfrm>
          <a:prstGeom prst="rect">
            <a:avLst/>
          </a:prstGeom>
          <a:noFill/>
        </p:spPr>
        <p:txBody>
          <a:bodyPr wrap="square" lIns="0" tIns="0" rIns="0" bIns="0" anchor="t">
            <a:spAutoFit/>
          </a:bodyPr>
          <a:lstStyle/>
          <a:p>
            <a:pPr algn="l">
              <a:lnSpc>
                <a:spcPct val="115000"/>
              </a:lnSpc>
            </a:pPr>
            <a:r>
              <a:rPr sz="1000" b="1">
                <a:solidFill>
                  <a:srgbClr val="1E293B"/>
                </a:solidFill>
                <a:latin typeface="Calibri"/>
              </a:rPr>
              <a:t>How would you improve it?</a:t>
            </a:r>
          </a:p>
        </p:txBody>
      </p:sp>
      <p:sp>
        <p:nvSpPr>
          <p:cNvPr id="42" name="TextBox 41"/>
          <p:cNvSpPr txBox="1"/>
          <p:nvPr/>
        </p:nvSpPr>
        <p:spPr>
          <a:xfrm>
            <a:off x="6583680" y="5724144"/>
            <a:ext cx="5029200" cy="274320"/>
          </a:xfrm>
          <a:prstGeom prst="rect">
            <a:avLst/>
          </a:prstGeom>
          <a:noFill/>
        </p:spPr>
        <p:txBody>
          <a:bodyPr wrap="square" lIns="0" tIns="0" rIns="0" bIns="0" anchor="t">
            <a:spAutoFit/>
          </a:bodyPr>
          <a:lstStyle/>
          <a:p>
            <a:pPr algn="l">
              <a:lnSpc>
                <a:spcPct val="115000"/>
              </a:lnSpc>
            </a:pPr>
            <a:r>
              <a:rPr sz="1000" b="0">
                <a:solidFill>
                  <a:srgbClr val="475569"/>
                </a:solidFill>
                <a:latin typeface="Calibri"/>
              </a:rPr>
              <a:t>Add lab values · try XGBoost · tune hyperparameters.</a:t>
            </a:r>
          </a:p>
        </p:txBody>
      </p:sp>
      <p:sp>
        <p:nvSpPr>
          <p:cNvPr id="43" name="Rounded Rectangle 42"/>
          <p:cNvSpPr/>
          <p:nvPr/>
        </p:nvSpPr>
        <p:spPr>
          <a:xfrm>
            <a:off x="3352647" y="5897880"/>
            <a:ext cx="5486400" cy="292608"/>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352647" y="5934456"/>
            <a:ext cx="5486400" cy="256032"/>
          </a:xfrm>
          <a:prstGeom prst="rect">
            <a:avLst/>
          </a:prstGeom>
          <a:noFill/>
        </p:spPr>
        <p:txBody>
          <a:bodyPr wrap="square" lIns="0" tIns="0" rIns="0" bIns="0" anchor="t">
            <a:spAutoFit/>
          </a:bodyPr>
          <a:lstStyle/>
          <a:p>
            <a:pPr algn="ctr">
              <a:lnSpc>
                <a:spcPct val="115000"/>
              </a:lnSpc>
            </a:pPr>
            <a:r>
              <a:rPr sz="1200" b="1">
                <a:solidFill>
                  <a:srgbClr val="FFFFFF"/>
                </a:solidFill>
                <a:latin typeface="Calibri"/>
              </a:rPr>
              <a:t>Thank you  ·  Questions?</a:t>
            </a:r>
          </a:p>
        </p:txBody>
      </p:sp>
      <p:sp>
        <p:nvSpPr>
          <p:cNvPr id="46" name="TextBox 45">
            <a:hlinkClick r:id="rId3"/>
            <a:extLst>
              <a:ext uri="{FF2B5EF4-FFF2-40B4-BE49-F238E27FC236}">
                <a16:creationId xmlns:a16="http://schemas.microsoft.com/office/drawing/2014/main" id="{8FE444C8-76CA-CAF3-5218-43F5E88B2177}"/>
              </a:ext>
            </a:extLst>
          </p:cNvPr>
          <p:cNvSpPr txBox="1"/>
          <p:nvPr/>
        </p:nvSpPr>
        <p:spPr>
          <a:xfrm>
            <a:off x="5336895" y="6519672"/>
            <a:ext cx="1517904" cy="169277"/>
          </a:xfrm>
          <a:prstGeom prst="rect">
            <a:avLst/>
          </a:prstGeom>
          <a:noFill/>
        </p:spPr>
        <p:txBody>
          <a:bodyPr wrap="square" lIns="0" tIns="0" rIns="0" bIns="0">
            <a:spAutoFit/>
          </a:bodyPr>
          <a:lstStyle/>
          <a:p>
            <a:r>
              <a:rPr sz="1100" b="1" dirty="0">
                <a:solidFill>
                  <a:srgbClr val="475569"/>
                </a:solidFill>
                <a:latin typeface="Calibri"/>
              </a:rPr>
              <a:t>GitHub:  ·      </a:t>
            </a:r>
            <a:r>
              <a:rPr sz="1100" b="1" dirty="0">
                <a:solidFill>
                  <a:srgbClr val="475569"/>
                </a:solidFill>
                <a:latin typeface="Calibri"/>
                <a:hlinkClick r:id="rId4"/>
              </a:rPr>
              <a:t>Live demo:</a:t>
            </a:r>
            <a:endParaRPr sz="1100" b="0" u="sng" dirty="0">
              <a:solidFill>
                <a:srgbClr val="0F766E"/>
              </a:solidFill>
              <a:latin typeface="Calibri"/>
              <a:hlinkClick r:id="rId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2535</Words>
  <Application>Microsoft Office PowerPoint</Application>
  <PresentationFormat>Widescreen</PresentationFormat>
  <Paragraphs>365</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baselGrotesk</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Muhammad Ammar .</dc:creator>
  <cp:keywords/>
  <dc:description>generated using python-pptx</dc:description>
  <cp:lastModifiedBy>Muhammad Ammar .</cp:lastModifiedBy>
  <cp:revision>3</cp:revision>
  <dcterms:created xsi:type="dcterms:W3CDTF">2013-01-27T09:14:16Z</dcterms:created>
  <dcterms:modified xsi:type="dcterms:W3CDTF">2026-06-24T10:09:00Z</dcterms:modified>
  <cp:category/>
</cp:coreProperties>
</file>