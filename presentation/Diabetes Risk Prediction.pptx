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11" d="100"/>
          <a:sy n="111" d="100"/>
        </p:scale>
        <p:origin x="55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529151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PK"/>
          </a:p>
        </p:txBody>
      </p:sp>
      <p:sp>
        <p:nvSpPr>
          <p:cNvPr id="3" name="Notes Placeholder 2"/>
          <p:cNvSpPr>
            <a:spLocks noGrp="1"/>
          </p:cNvSpPr>
          <p:nvPr>
            <p:ph type="body" sz="quarter" idx="3"/>
          </p:nvPr>
        </p:nvSpPr>
        <p:spPr/>
        <p:txBody>
          <a:bodyPr/>
          <a:lstStyle/>
          <a:p>
            <a:r>
              <a:t>Greet the audience. State project title, team and instructor. Keep brief — 30 seconds. Move to the next slide.</a:t>
            </a:r>
          </a:p>
        </p:txBody>
      </p:sp>
      <p:sp>
        <p:nvSpPr>
          <p:cNvPr id="4" name="Slide Number Placeholder 3"/>
          <p:cNvSpPr>
            <a:spLocks noGrp="1"/>
          </p:cNvSpPr>
          <p:nvPr>
            <p:ph type="sldNum" sz="quarter" idx="5"/>
          </p:nvPr>
        </p:nvSpPr>
        <p:spPr/>
        <p:txBody>
          <a:bodyPr/>
          <a:lstStyle/>
          <a:p>
            <a:endParaRPr lang="en-PK"/>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PK"/>
          </a:p>
        </p:txBody>
      </p:sp>
      <p:sp>
        <p:nvSpPr>
          <p:cNvPr id="3" name="Notes Placeholder 2"/>
          <p:cNvSpPr>
            <a:spLocks noGrp="1"/>
          </p:cNvSpPr>
          <p:nvPr>
            <p:ph type="body" sz="quarter" idx="3"/>
          </p:nvPr>
        </p:nvSpPr>
        <p:spPr/>
        <p:txBody>
          <a:bodyPr/>
          <a:lstStyle/>
          <a:p>
            <a:r>
              <a:t>Walk through the outline in 30 seconds. Tell the audience the talk is structured as Problem → Data → Method → Results → Demo → Conclusion.</a:t>
            </a:r>
          </a:p>
        </p:txBody>
      </p:sp>
      <p:sp>
        <p:nvSpPr>
          <p:cNvPr id="4" name="Slide Number Placeholder 3"/>
          <p:cNvSpPr>
            <a:spLocks noGrp="1"/>
          </p:cNvSpPr>
          <p:nvPr>
            <p:ph type="sldNum" sz="quarter" idx="5"/>
          </p:nvPr>
        </p:nvSpPr>
        <p:spPr/>
        <p:txBody>
          <a:bodyPr/>
          <a:lstStyle/>
          <a:p>
            <a:endParaRPr lang="en-PK"/>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PK"/>
          </a:p>
        </p:txBody>
      </p:sp>
      <p:sp>
        <p:nvSpPr>
          <p:cNvPr id="3" name="Notes Placeholder 2"/>
          <p:cNvSpPr>
            <a:spLocks noGrp="1"/>
          </p:cNvSpPr>
          <p:nvPr>
            <p:ph type="body" sz="quarter" idx="3"/>
          </p:nvPr>
        </p:nvSpPr>
        <p:spPr/>
        <p:txBody>
          <a:bodyPr/>
          <a:lstStyle/>
          <a:p>
            <a:r>
              <a:t>Open with the human impact. 'Diabetes is not a small problem — 537 million adults have it.' This frames why our project matters. Don't dwell more than 1 minute.</a:t>
            </a:r>
          </a:p>
        </p:txBody>
      </p:sp>
      <p:sp>
        <p:nvSpPr>
          <p:cNvPr id="4" name="Slide Number Placeholder 3"/>
          <p:cNvSpPr>
            <a:spLocks noGrp="1"/>
          </p:cNvSpPr>
          <p:nvPr>
            <p:ph type="sldNum" sz="quarter" idx="5"/>
          </p:nvPr>
        </p:nvSpPr>
        <p:spPr/>
        <p:txBody>
          <a:bodyPr/>
          <a:lstStyle/>
          <a:p>
            <a:endParaRPr lang="en-PK"/>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PK"/>
          </a:p>
        </p:txBody>
      </p:sp>
      <p:sp>
        <p:nvSpPr>
          <p:cNvPr id="3" name="Notes Placeholder 2"/>
          <p:cNvSpPr>
            <a:spLocks noGrp="1"/>
          </p:cNvSpPr>
          <p:nvPr>
            <p:ph type="body" sz="quarter" idx="3"/>
          </p:nvPr>
        </p:nvSpPr>
        <p:spPr/>
        <p:txBody>
          <a:bodyPr/>
          <a:lstStyle/>
          <a:p>
            <a:r>
              <a:t>Explain WHERE the data came from. BRFSS is a real CDC survey — that's why our model is grounded in actual public-health data. Mention 70k+ rows as a strength.</a:t>
            </a:r>
          </a:p>
        </p:txBody>
      </p:sp>
      <p:sp>
        <p:nvSpPr>
          <p:cNvPr id="4" name="Slide Number Placeholder 3"/>
          <p:cNvSpPr>
            <a:spLocks noGrp="1"/>
          </p:cNvSpPr>
          <p:nvPr>
            <p:ph type="sldNum" sz="quarter" idx="5"/>
          </p:nvPr>
        </p:nvSpPr>
        <p:spPr/>
        <p:txBody>
          <a:bodyPr/>
          <a:lstStyle/>
          <a:p>
            <a:endParaRPr lang="en-PK"/>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PK"/>
          </a:p>
        </p:txBody>
      </p:sp>
      <p:sp>
        <p:nvSpPr>
          <p:cNvPr id="3" name="Notes Placeholder 2"/>
          <p:cNvSpPr>
            <a:spLocks noGrp="1"/>
          </p:cNvSpPr>
          <p:nvPr>
            <p:ph type="body" sz="quarter" idx="3"/>
          </p:nvPr>
        </p:nvSpPr>
        <p:spPr/>
        <p:txBody>
          <a:bodyPr/>
          <a:lstStyle/>
          <a:p>
            <a:r>
              <a:t>Show that the target is binary — that's why we use classification. Then walk through the 3 categories of features quickly. Highlight BMI, HighBP, GenHlth — these become the top predictors later in the deck.</a:t>
            </a:r>
          </a:p>
        </p:txBody>
      </p:sp>
      <p:sp>
        <p:nvSpPr>
          <p:cNvPr id="4" name="Slide Number Placeholder 3"/>
          <p:cNvSpPr>
            <a:spLocks noGrp="1"/>
          </p:cNvSpPr>
          <p:nvPr>
            <p:ph type="sldNum" sz="quarter" idx="5"/>
          </p:nvPr>
        </p:nvSpPr>
        <p:spPr/>
        <p:txBody>
          <a:bodyPr/>
          <a:lstStyle/>
          <a:p>
            <a:endParaRPr lang="en-PK"/>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PK"/>
          </a:p>
        </p:txBody>
      </p:sp>
      <p:sp>
        <p:nvSpPr>
          <p:cNvPr id="3" name="Notes Placeholder 2"/>
          <p:cNvSpPr>
            <a:spLocks noGrp="1"/>
          </p:cNvSpPr>
          <p:nvPr>
            <p:ph type="body" sz="quarter" idx="3"/>
          </p:nvPr>
        </p:nvSpPr>
        <p:spPr/>
        <p:txBody>
          <a:bodyPr/>
          <a:lstStyle/>
          <a:p>
            <a:r>
              <a:t>Walk through the 6 phases of CRISP-DM in 30 seconds. We collected real data, cleaned it, explored it, trained models, evaluated them, and built a web app.</a:t>
            </a:r>
          </a:p>
        </p:txBody>
      </p:sp>
      <p:sp>
        <p:nvSpPr>
          <p:cNvPr id="4" name="Slide Number Placeholder 3"/>
          <p:cNvSpPr>
            <a:spLocks noGrp="1"/>
          </p:cNvSpPr>
          <p:nvPr>
            <p:ph type="sldNum" sz="quarter" idx="5"/>
          </p:nvPr>
        </p:nvSpPr>
        <p:spPr/>
        <p:txBody>
          <a:bodyPr/>
          <a:lstStyle/>
          <a:p>
            <a:endParaRPr lang="en-PK"/>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PK"/>
          </a:p>
        </p:txBody>
      </p:sp>
      <p:sp>
        <p:nvSpPr>
          <p:cNvPr id="3" name="Notes Placeholder 2"/>
          <p:cNvSpPr>
            <a:spLocks noGrp="1"/>
          </p:cNvSpPr>
          <p:nvPr>
            <p:ph type="body" sz="quarter" idx="3"/>
          </p:nvPr>
        </p:nvSpPr>
        <p:spPr/>
        <p:txBody>
          <a:bodyPr/>
          <a:lstStyle/>
          <a:p>
            <a:r>
              <a:t>Key point: we dropped 1 636 duplicate rows. If we hadn't, the test set could have contained rows that the model already saw in training — inflating accuracy artificially. This is called 'data leakage' and is a viva-favourite question.</a:t>
            </a:r>
          </a:p>
        </p:txBody>
      </p:sp>
      <p:sp>
        <p:nvSpPr>
          <p:cNvPr id="4" name="Slide Number Placeholder 3"/>
          <p:cNvSpPr>
            <a:spLocks noGrp="1"/>
          </p:cNvSpPr>
          <p:nvPr>
            <p:ph type="sldNum" sz="quarter" idx="5"/>
          </p:nvPr>
        </p:nvSpPr>
        <p:spPr/>
        <p:txBody>
          <a:bodyPr/>
          <a:lstStyle/>
          <a:p>
            <a:endParaRPr lang="en-PK"/>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PK"/>
          </a:p>
        </p:txBody>
      </p:sp>
      <p:sp>
        <p:nvSpPr>
          <p:cNvPr id="3" name="Notes Placeholder 2"/>
          <p:cNvSpPr>
            <a:spLocks noGrp="1"/>
          </p:cNvSpPr>
          <p:nvPr>
            <p:ph type="body" sz="quarter" idx="3"/>
          </p:nvPr>
        </p:nvSpPr>
        <p:spPr/>
        <p:txBody>
          <a:bodyPr/>
          <a:lstStyle/>
          <a:p>
            <a:r>
              <a:t>Show 4 EDA charts: class balance (perfectly 50/50), BMI distribution, BMI boxplot, and BP/Cholesterol counts. Key takeaway: diabetic patients have visibly higher BMI and more HighBP / HighChol cases.</a:t>
            </a:r>
          </a:p>
        </p:txBody>
      </p:sp>
      <p:sp>
        <p:nvSpPr>
          <p:cNvPr id="4" name="Slide Number Placeholder 3"/>
          <p:cNvSpPr>
            <a:spLocks noGrp="1"/>
          </p:cNvSpPr>
          <p:nvPr>
            <p:ph type="sldNum" sz="quarter" idx="5"/>
          </p:nvPr>
        </p:nvSpPr>
        <p:spPr/>
        <p:txBody>
          <a:bodyPr/>
          <a:lstStyle/>
          <a:p>
            <a:endParaRPr lang="en-PK"/>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PK"/>
          </a:p>
        </p:txBody>
      </p:sp>
      <p:sp>
        <p:nvSpPr>
          <p:cNvPr id="3" name="Notes Placeholder 2"/>
          <p:cNvSpPr>
            <a:spLocks noGrp="1"/>
          </p:cNvSpPr>
          <p:nvPr>
            <p:ph type="body" sz="quarter" idx="3"/>
          </p:nvPr>
        </p:nvSpPr>
        <p:spPr/>
        <p:txBody>
          <a:bodyPr/>
          <a:lstStyle/>
          <a:p>
            <a:r>
              <a:t>Heatmap shows feature relationships. The strongest correlations with diabetes are General Health (0.40), High Blood Pressure (0.37), BMI (0.29), and High Cholesterol (0.28). These are also the top features in the model — good cross-validation.</a:t>
            </a:r>
          </a:p>
        </p:txBody>
      </p:sp>
      <p:sp>
        <p:nvSpPr>
          <p:cNvPr id="4" name="Slide Number Placeholder 3"/>
          <p:cNvSpPr>
            <a:spLocks noGrp="1"/>
          </p:cNvSpPr>
          <p:nvPr>
            <p:ph type="sldNum" sz="quarter" idx="5"/>
          </p:nvPr>
        </p:nvSpPr>
        <p:spPr/>
        <p:txBody>
          <a:bodyPr/>
          <a:lstStyle/>
          <a:p>
            <a:endParaRPr lang="en-PK"/>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PK"/>
          </a:p>
        </p:txBody>
      </p:sp>
      <p:sp>
        <p:nvSpPr>
          <p:cNvPr id="3" name="Notes Placeholder 2"/>
          <p:cNvSpPr>
            <a:spLocks noGrp="1"/>
          </p:cNvSpPr>
          <p:nvPr>
            <p:ph type="body" sz="quarter" idx="3"/>
          </p:nvPr>
        </p:nvSpPr>
        <p:spPr/>
        <p:txBody>
          <a:bodyPr/>
          <a:lstStyle/>
          <a:p>
            <a:r>
              <a:t>This is the most important methodology point. Mention 'data leakage' by name — it shows mastery. Explain we split first so the test set is truly unseen.</a:t>
            </a:r>
          </a:p>
        </p:txBody>
      </p:sp>
      <p:sp>
        <p:nvSpPr>
          <p:cNvPr id="4" name="Slide Number Placeholder 3"/>
          <p:cNvSpPr>
            <a:spLocks noGrp="1"/>
          </p:cNvSpPr>
          <p:nvPr>
            <p:ph type="sldNum" sz="quarter" idx="5"/>
          </p:nvPr>
        </p:nvSpPr>
        <p:spPr/>
        <p:txBody>
          <a:bodyPr/>
          <a:lstStyle/>
          <a:p>
            <a:endParaRPr lang="en-PK"/>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PK"/>
          </a:p>
        </p:txBody>
      </p:sp>
      <p:sp>
        <p:nvSpPr>
          <p:cNvPr id="3" name="Notes Placeholder 2"/>
          <p:cNvSpPr>
            <a:spLocks noGrp="1"/>
          </p:cNvSpPr>
          <p:nvPr>
            <p:ph type="body" sz="quarter" idx="3"/>
          </p:nvPr>
        </p:nvSpPr>
        <p:spPr/>
        <p:txBody>
          <a:bodyPr/>
          <a:lstStyle/>
          <a:p>
            <a:r>
              <a:t>State clearly: this is supervised binary classification. We have labeled examples, two classes, and we use the patterns to predict diabetes for new patients.</a:t>
            </a:r>
          </a:p>
        </p:txBody>
      </p:sp>
      <p:sp>
        <p:nvSpPr>
          <p:cNvPr id="4" name="Slide Number Placeholder 3"/>
          <p:cNvSpPr>
            <a:spLocks noGrp="1"/>
          </p:cNvSpPr>
          <p:nvPr>
            <p:ph type="sldNum" sz="quarter" idx="5"/>
          </p:nvPr>
        </p:nvSpPr>
        <p:spPr/>
        <p:txBody>
          <a:bodyPr/>
          <a:lstStyle/>
          <a:p>
            <a:endParaRPr lang="en-PK"/>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PK"/>
          </a:p>
        </p:txBody>
      </p:sp>
      <p:sp>
        <p:nvSpPr>
          <p:cNvPr id="3" name="Notes Placeholder 2"/>
          <p:cNvSpPr>
            <a:spLocks noGrp="1"/>
          </p:cNvSpPr>
          <p:nvPr>
            <p:ph type="body" sz="quarter" idx="3"/>
          </p:nvPr>
        </p:nvSpPr>
        <p:spPr/>
        <p:txBody>
          <a:bodyPr/>
          <a:lstStyle/>
          <a:p>
            <a:r>
              <a:t>These are the 4 supervised classifiers we considered. We tested all four to make a data-driven choice — not just pick a favourite. RF was chosen for best F1 + feature importance for clinical interpretability.</a:t>
            </a:r>
          </a:p>
        </p:txBody>
      </p:sp>
      <p:sp>
        <p:nvSpPr>
          <p:cNvPr id="4" name="Slide Number Placeholder 3"/>
          <p:cNvSpPr>
            <a:spLocks noGrp="1"/>
          </p:cNvSpPr>
          <p:nvPr>
            <p:ph type="sldNum" sz="quarter" idx="5"/>
          </p:nvPr>
        </p:nvSpPr>
        <p:spPr/>
        <p:txBody>
          <a:bodyPr/>
          <a:lstStyle/>
          <a:p>
            <a:endParaRPr lang="en-PK"/>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PK"/>
          </a:p>
        </p:txBody>
      </p:sp>
      <p:sp>
        <p:nvSpPr>
          <p:cNvPr id="3" name="Notes Placeholder 2"/>
          <p:cNvSpPr>
            <a:spLocks noGrp="1"/>
          </p:cNvSpPr>
          <p:nvPr>
            <p:ph type="body" sz="quarter" idx="3"/>
          </p:nvPr>
        </p:nvSpPr>
        <p:spPr/>
        <p:txBody>
          <a:bodyPr/>
          <a:lstStyle/>
          <a:p>
            <a:r>
              <a:t>Be honest: Logistic Regression actually has slightly higher accuracy. But Random Forest has the best F1 score AND gives us feature importance for free. F1 matters more in medical apps because we balance precision and recall. That's why we chose RF.</a:t>
            </a:r>
          </a:p>
        </p:txBody>
      </p:sp>
      <p:sp>
        <p:nvSpPr>
          <p:cNvPr id="4" name="Slide Number Placeholder 3"/>
          <p:cNvSpPr>
            <a:spLocks noGrp="1"/>
          </p:cNvSpPr>
          <p:nvPr>
            <p:ph type="sldNum" sz="quarter" idx="5"/>
          </p:nvPr>
        </p:nvSpPr>
        <p:spPr/>
        <p:txBody>
          <a:bodyPr/>
          <a:lstStyle/>
          <a:p>
            <a:endParaRPr lang="en-PK"/>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PK"/>
          </a:p>
        </p:txBody>
      </p:sp>
      <p:sp>
        <p:nvSpPr>
          <p:cNvPr id="3" name="Notes Placeholder 2"/>
          <p:cNvSpPr>
            <a:spLocks noGrp="1"/>
          </p:cNvSpPr>
          <p:nvPr>
            <p:ph type="body" sz="quarter" idx="3"/>
          </p:nvPr>
        </p:nvSpPr>
        <p:spPr/>
        <p:txBody>
          <a:bodyPr/>
          <a:lstStyle/>
          <a:p>
            <a:r>
              <a:t>Confusion matrix on the left: 4 696 true negatives and 5 574 true positives. Recall of 0.79 means we caught 79% of real diabetics — this is what matters most in medical screening. False negatives are more dangerous than false positives.</a:t>
            </a:r>
          </a:p>
        </p:txBody>
      </p:sp>
      <p:sp>
        <p:nvSpPr>
          <p:cNvPr id="4" name="Slide Number Placeholder 3"/>
          <p:cNvSpPr>
            <a:spLocks noGrp="1"/>
          </p:cNvSpPr>
          <p:nvPr>
            <p:ph type="sldNum" sz="quarter" idx="5"/>
          </p:nvPr>
        </p:nvSpPr>
        <p:spPr/>
        <p:txBody>
          <a:bodyPr/>
          <a:lstStyle/>
          <a:p>
            <a:endParaRPr lang="en-PK"/>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PK"/>
          </a:p>
        </p:txBody>
      </p:sp>
      <p:sp>
        <p:nvSpPr>
          <p:cNvPr id="3" name="Notes Placeholder 2"/>
          <p:cNvSpPr>
            <a:spLocks noGrp="1"/>
          </p:cNvSpPr>
          <p:nvPr>
            <p:ph type="body" sz="quarter" idx="3"/>
          </p:nvPr>
        </p:nvSpPr>
        <p:spPr/>
        <p:txBody>
          <a:bodyPr/>
          <a:lstStyle/>
          <a:p>
            <a:r>
              <a:t>The model identified the 5 most important risk factors entirely from data: General Health, High BP, BMI, Age, and High Cholesterol. These match what doctors would tell you — validating that the model learned something meaningful.</a:t>
            </a:r>
          </a:p>
        </p:txBody>
      </p:sp>
      <p:sp>
        <p:nvSpPr>
          <p:cNvPr id="4" name="Slide Number Placeholder 3"/>
          <p:cNvSpPr>
            <a:spLocks noGrp="1"/>
          </p:cNvSpPr>
          <p:nvPr>
            <p:ph type="sldNum" sz="quarter" idx="5"/>
          </p:nvPr>
        </p:nvSpPr>
        <p:spPr/>
        <p:txBody>
          <a:bodyPr/>
          <a:lstStyle/>
          <a:p>
            <a:endParaRPr lang="en-PK"/>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PK"/>
          </a:p>
        </p:txBody>
      </p:sp>
      <p:sp>
        <p:nvSpPr>
          <p:cNvPr id="3" name="Notes Placeholder 2"/>
          <p:cNvSpPr>
            <a:spLocks noGrp="1"/>
          </p:cNvSpPr>
          <p:nvPr>
            <p:ph type="body" sz="quarter" idx="3"/>
          </p:nvPr>
        </p:nvSpPr>
        <p:spPr/>
        <p:txBody>
          <a:bodyPr/>
          <a:lstStyle/>
          <a:p>
            <a:r>
              <a:t>Show or describe the live app. If on Streamlit Cloud, show the URL. The app loads the trained model and lets anyone enter data to get an instant prediction. Mention this is your 'demo moment' if you can run it live.</a:t>
            </a:r>
          </a:p>
        </p:txBody>
      </p:sp>
      <p:sp>
        <p:nvSpPr>
          <p:cNvPr id="4" name="Slide Number Placeholder 3"/>
          <p:cNvSpPr>
            <a:spLocks noGrp="1"/>
          </p:cNvSpPr>
          <p:nvPr>
            <p:ph type="sldNum" sz="quarter" idx="5"/>
          </p:nvPr>
        </p:nvSpPr>
        <p:spPr/>
        <p:txBody>
          <a:bodyPr/>
          <a:lstStyle/>
          <a:p>
            <a:endParaRPr lang="en-PK"/>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PK"/>
          </a:p>
        </p:txBody>
      </p:sp>
      <p:sp>
        <p:nvSpPr>
          <p:cNvPr id="3" name="Notes Placeholder 2"/>
          <p:cNvSpPr>
            <a:spLocks noGrp="1"/>
          </p:cNvSpPr>
          <p:nvPr>
            <p:ph type="body" sz="quarter" idx="3"/>
          </p:nvPr>
        </p:nvSpPr>
        <p:spPr/>
        <p:txBody>
          <a:bodyPr/>
          <a:lstStyle/>
          <a:p>
            <a:r>
              <a:t>Close with humility (limitations) then confidence (conclusion). The Q&amp;A panel preemptively answers the most common questions. Always end with 'Thank you — any questions?'</a:t>
            </a:r>
          </a:p>
        </p:txBody>
      </p:sp>
      <p:sp>
        <p:nvSpPr>
          <p:cNvPr id="4" name="Slide Number Placeholder 3"/>
          <p:cNvSpPr>
            <a:spLocks noGrp="1"/>
          </p:cNvSpPr>
          <p:nvPr>
            <p:ph type="sldNum" sz="quarter" idx="5"/>
          </p:nvPr>
        </p:nvSpPr>
        <p:spPr/>
        <p:txBody>
          <a:bodyPr/>
          <a:lstStyle/>
          <a:p>
            <a:endParaRPr lang="en-PK"/>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hyperlink" Target="https://github.com/muhammadammarff-design/diabetes-risk-prediction" TargetMode="External"/><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hyperlink" Target="https://diabetesriskpredictions.streamlit.app/" TargetMode="Externa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1280160"/>
            <a:ext cx="9144000" cy="365760"/>
          </a:xfrm>
          <a:prstGeom prst="rect">
            <a:avLst/>
          </a:prstGeom>
          <a:noFill/>
        </p:spPr>
        <p:txBody>
          <a:bodyPr wrap="square" lIns="0" tIns="0" rIns="0" bIns="0" anchor="t">
            <a:spAutoFit/>
          </a:bodyPr>
          <a:lstStyle/>
          <a:p>
            <a:pPr algn="l">
              <a:lnSpc>
                <a:spcPct val="115000"/>
              </a:lnSpc>
            </a:pPr>
            <a:r>
              <a:rPr sz="1100" b="1">
                <a:solidFill>
                  <a:srgbClr val="F59E0B"/>
                </a:solidFill>
                <a:latin typeface="Calibri"/>
              </a:rPr>
              <a:t>INTRODUCTION TO DATA SCIENCE  ·  FINAL PRESENTATION</a:t>
            </a:r>
          </a:p>
        </p:txBody>
      </p:sp>
      <p:sp>
        <p:nvSpPr>
          <p:cNvPr id="4" name="TextBox 3"/>
          <p:cNvSpPr txBox="1"/>
          <p:nvPr/>
        </p:nvSpPr>
        <p:spPr>
          <a:xfrm>
            <a:off x="822960" y="1783080"/>
            <a:ext cx="10972800" cy="1280160"/>
          </a:xfrm>
          <a:prstGeom prst="rect">
            <a:avLst/>
          </a:prstGeom>
          <a:noFill/>
        </p:spPr>
        <p:txBody>
          <a:bodyPr wrap="square" lIns="0" tIns="0" rIns="0" bIns="0" anchor="t">
            <a:spAutoFit/>
          </a:bodyPr>
          <a:lstStyle/>
          <a:p>
            <a:pPr algn="l">
              <a:lnSpc>
                <a:spcPct val="115000"/>
              </a:lnSpc>
            </a:pPr>
            <a:r>
              <a:rPr sz="5400" b="1">
                <a:solidFill>
                  <a:srgbClr val="1E293B"/>
                </a:solidFill>
                <a:latin typeface="Calibri"/>
              </a:rPr>
              <a:t>Diabetes Risk Prediction</a:t>
            </a:r>
          </a:p>
        </p:txBody>
      </p:sp>
      <p:sp>
        <p:nvSpPr>
          <p:cNvPr id="5" name="TextBox 4"/>
          <p:cNvSpPr txBox="1"/>
          <p:nvPr/>
        </p:nvSpPr>
        <p:spPr>
          <a:xfrm>
            <a:off x="822960" y="3154680"/>
            <a:ext cx="10515600" cy="640080"/>
          </a:xfrm>
          <a:prstGeom prst="rect">
            <a:avLst/>
          </a:prstGeom>
          <a:noFill/>
        </p:spPr>
        <p:txBody>
          <a:bodyPr wrap="square" lIns="0" tIns="0" rIns="0" bIns="0" anchor="t">
            <a:spAutoFit/>
          </a:bodyPr>
          <a:lstStyle/>
          <a:p>
            <a:pPr algn="l">
              <a:lnSpc>
                <a:spcPct val="115000"/>
              </a:lnSpc>
            </a:pPr>
            <a:r>
              <a:rPr sz="1800" b="0">
                <a:solidFill>
                  <a:srgbClr val="475569"/>
                </a:solidFill>
                <a:latin typeface="Calibri"/>
              </a:rPr>
              <a:t>Predicting diabetes from 21 health indicators using supervised machine learning</a:t>
            </a:r>
          </a:p>
        </p:txBody>
      </p:sp>
      <p:sp>
        <p:nvSpPr>
          <p:cNvPr id="6" name="Rectangle 5"/>
          <p:cNvSpPr/>
          <p:nvPr/>
        </p:nvSpPr>
        <p:spPr>
          <a:xfrm>
            <a:off x="822960" y="4069080"/>
            <a:ext cx="914400" cy="365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4343400"/>
            <a:ext cx="4572000" cy="274320"/>
          </a:xfrm>
          <a:prstGeom prst="rect">
            <a:avLst/>
          </a:prstGeom>
          <a:noFill/>
        </p:spPr>
        <p:txBody>
          <a:bodyPr wrap="square" lIns="0" tIns="0" rIns="0" bIns="0" anchor="t">
            <a:spAutoFit/>
          </a:bodyPr>
          <a:lstStyle/>
          <a:p>
            <a:pPr algn="l">
              <a:lnSpc>
                <a:spcPct val="115000"/>
              </a:lnSpc>
            </a:pPr>
            <a:r>
              <a:rPr sz="1000" b="1">
                <a:solidFill>
                  <a:srgbClr val="0F766E"/>
                </a:solidFill>
                <a:latin typeface="Calibri"/>
              </a:rPr>
              <a:t>GROUP</a:t>
            </a:r>
          </a:p>
        </p:txBody>
      </p:sp>
      <p:sp>
        <p:nvSpPr>
          <p:cNvPr id="8" name="TextBox 7"/>
          <p:cNvSpPr txBox="1"/>
          <p:nvPr/>
        </p:nvSpPr>
        <p:spPr>
          <a:xfrm>
            <a:off x="822960" y="4663440"/>
            <a:ext cx="5486400" cy="1002967"/>
          </a:xfrm>
          <a:prstGeom prst="rect">
            <a:avLst/>
          </a:prstGeom>
          <a:noFill/>
        </p:spPr>
        <p:txBody>
          <a:bodyPr wrap="square" lIns="0" tIns="0" rIns="0" bIns="0" anchor="t">
            <a:spAutoFit/>
          </a:bodyPr>
          <a:lstStyle/>
          <a:p>
            <a:pPr algn="l">
              <a:lnSpc>
                <a:spcPct val="150000"/>
              </a:lnSpc>
            </a:pPr>
            <a:r>
              <a:rPr sz="1500" b="0" dirty="0">
                <a:solidFill>
                  <a:srgbClr val="1E293B"/>
                </a:solidFill>
                <a:latin typeface="Calibri"/>
              </a:rPr>
              <a:t>Ali Raza</a:t>
            </a:r>
            <a:r>
              <a:rPr lang="en-US" sz="1500" dirty="0">
                <a:solidFill>
                  <a:srgbClr val="1E293B"/>
                </a:solidFill>
                <a:latin typeface="Calibri"/>
              </a:rPr>
              <a:t> </a:t>
            </a:r>
            <a:r>
              <a:rPr lang="en-US" sz="1500" b="0" dirty="0">
                <a:solidFill>
                  <a:srgbClr val="1E293B"/>
                </a:solidFill>
                <a:latin typeface="Calibri"/>
              </a:rPr>
              <a:t>-</a:t>
            </a:r>
            <a:r>
              <a:rPr sz="1500" b="0" dirty="0">
                <a:solidFill>
                  <a:srgbClr val="1E293B"/>
                </a:solidFill>
                <a:latin typeface="Calibri"/>
              </a:rPr>
              <a:t>  2540010</a:t>
            </a:r>
          </a:p>
          <a:p>
            <a:pPr algn="l">
              <a:lnSpc>
                <a:spcPct val="150000"/>
              </a:lnSpc>
            </a:pPr>
            <a:r>
              <a:rPr lang="en-US" sz="1500" dirty="0">
                <a:solidFill>
                  <a:srgbClr val="1E293B"/>
                </a:solidFill>
                <a:latin typeface="Calibri"/>
              </a:rPr>
              <a:t>M. </a:t>
            </a:r>
            <a:r>
              <a:rPr sz="1500" b="0" dirty="0">
                <a:solidFill>
                  <a:srgbClr val="1E293B"/>
                </a:solidFill>
                <a:latin typeface="Calibri"/>
              </a:rPr>
              <a:t>Ammar</a:t>
            </a:r>
            <a:r>
              <a:rPr lang="en-US" sz="1500" b="0" dirty="0">
                <a:solidFill>
                  <a:srgbClr val="1E293B"/>
                </a:solidFill>
                <a:latin typeface="Calibri"/>
              </a:rPr>
              <a:t> -</a:t>
            </a:r>
            <a:r>
              <a:rPr sz="1500" b="0" dirty="0">
                <a:solidFill>
                  <a:srgbClr val="1E293B"/>
                </a:solidFill>
                <a:latin typeface="Calibri"/>
              </a:rPr>
              <a:t>  254000</a:t>
            </a:r>
            <a:r>
              <a:rPr lang="en-US" sz="1500" b="0" dirty="0">
                <a:solidFill>
                  <a:srgbClr val="1E293B"/>
                </a:solidFill>
                <a:latin typeface="Calibri"/>
              </a:rPr>
              <a:t>4</a:t>
            </a:r>
            <a:endParaRPr sz="1500" b="0" dirty="0">
              <a:solidFill>
                <a:srgbClr val="1E293B"/>
              </a:solidFill>
              <a:latin typeface="Calibri"/>
            </a:endParaRPr>
          </a:p>
          <a:p>
            <a:pPr algn="l">
              <a:lnSpc>
                <a:spcPct val="150000"/>
              </a:lnSpc>
            </a:pPr>
            <a:r>
              <a:rPr sz="1500" b="0" dirty="0">
                <a:solidFill>
                  <a:srgbClr val="1E293B"/>
                </a:solidFill>
                <a:latin typeface="Calibri"/>
              </a:rPr>
              <a:t>Taha Ali</a:t>
            </a:r>
            <a:r>
              <a:rPr lang="en-US" sz="1500" b="0" dirty="0">
                <a:solidFill>
                  <a:srgbClr val="1E293B"/>
                </a:solidFill>
                <a:latin typeface="Calibri"/>
              </a:rPr>
              <a:t> -</a:t>
            </a:r>
            <a:r>
              <a:rPr sz="1500" b="0" dirty="0">
                <a:solidFill>
                  <a:srgbClr val="1E293B"/>
                </a:solidFill>
                <a:latin typeface="Calibri"/>
              </a:rPr>
              <a:t>  2540008</a:t>
            </a:r>
          </a:p>
        </p:txBody>
      </p:sp>
      <p:sp>
        <p:nvSpPr>
          <p:cNvPr id="9" name="TextBox 8"/>
          <p:cNvSpPr txBox="1"/>
          <p:nvPr/>
        </p:nvSpPr>
        <p:spPr>
          <a:xfrm>
            <a:off x="6858000" y="4343400"/>
            <a:ext cx="4572000" cy="274320"/>
          </a:xfrm>
          <a:prstGeom prst="rect">
            <a:avLst/>
          </a:prstGeom>
          <a:noFill/>
        </p:spPr>
        <p:txBody>
          <a:bodyPr wrap="square" lIns="0" tIns="0" rIns="0" bIns="0" anchor="t">
            <a:spAutoFit/>
          </a:bodyPr>
          <a:lstStyle/>
          <a:p>
            <a:pPr algn="l">
              <a:lnSpc>
                <a:spcPct val="115000"/>
              </a:lnSpc>
            </a:pPr>
            <a:r>
              <a:rPr sz="1000" b="1">
                <a:solidFill>
                  <a:srgbClr val="0F766E"/>
                </a:solidFill>
                <a:latin typeface="Calibri"/>
              </a:rPr>
              <a:t>INSTRUCTOR</a:t>
            </a:r>
          </a:p>
        </p:txBody>
      </p:sp>
      <p:sp>
        <p:nvSpPr>
          <p:cNvPr id="10" name="TextBox 9"/>
          <p:cNvSpPr txBox="1"/>
          <p:nvPr/>
        </p:nvSpPr>
        <p:spPr>
          <a:xfrm>
            <a:off x="6858000" y="4663440"/>
            <a:ext cx="4572000" cy="365760"/>
          </a:xfrm>
          <a:prstGeom prst="rect">
            <a:avLst/>
          </a:prstGeom>
          <a:noFill/>
        </p:spPr>
        <p:txBody>
          <a:bodyPr wrap="square" lIns="0" tIns="0" rIns="0" bIns="0" anchor="t">
            <a:spAutoFit/>
          </a:bodyPr>
          <a:lstStyle/>
          <a:p>
            <a:pPr algn="l">
              <a:lnSpc>
                <a:spcPct val="115000"/>
              </a:lnSpc>
            </a:pPr>
            <a:r>
              <a:rPr sz="1500" b="0">
                <a:solidFill>
                  <a:srgbClr val="1E293B"/>
                </a:solidFill>
                <a:latin typeface="Calibri"/>
              </a:rPr>
              <a:t>Sir Zaki</a:t>
            </a:r>
          </a:p>
        </p:txBody>
      </p:sp>
      <p:sp>
        <p:nvSpPr>
          <p:cNvPr id="11" name="TextBox 10"/>
          <p:cNvSpPr txBox="1"/>
          <p:nvPr/>
        </p:nvSpPr>
        <p:spPr>
          <a:xfrm>
            <a:off x="6858000" y="5212080"/>
            <a:ext cx="4572000" cy="274320"/>
          </a:xfrm>
          <a:prstGeom prst="rect">
            <a:avLst/>
          </a:prstGeom>
          <a:noFill/>
        </p:spPr>
        <p:txBody>
          <a:bodyPr wrap="square" lIns="0" tIns="0" rIns="0" bIns="0" anchor="t">
            <a:spAutoFit/>
          </a:bodyPr>
          <a:lstStyle/>
          <a:p>
            <a:pPr algn="l">
              <a:lnSpc>
                <a:spcPct val="115000"/>
              </a:lnSpc>
            </a:pPr>
            <a:r>
              <a:rPr sz="1000" b="1">
                <a:solidFill>
                  <a:srgbClr val="0F766E"/>
                </a:solidFill>
                <a:latin typeface="Calibri"/>
              </a:rPr>
              <a:t>SEMESTER · DATE</a:t>
            </a:r>
          </a:p>
        </p:txBody>
      </p:sp>
      <p:sp>
        <p:nvSpPr>
          <p:cNvPr id="12" name="TextBox 11"/>
          <p:cNvSpPr txBox="1"/>
          <p:nvPr/>
        </p:nvSpPr>
        <p:spPr>
          <a:xfrm>
            <a:off x="6858000" y="5532120"/>
            <a:ext cx="4572000" cy="365760"/>
          </a:xfrm>
          <a:prstGeom prst="rect">
            <a:avLst/>
          </a:prstGeom>
          <a:noFill/>
        </p:spPr>
        <p:txBody>
          <a:bodyPr wrap="square" lIns="0" tIns="0" rIns="0" bIns="0" anchor="t">
            <a:spAutoFit/>
          </a:bodyPr>
          <a:lstStyle/>
          <a:p>
            <a:pPr algn="l">
              <a:lnSpc>
                <a:spcPct val="115000"/>
              </a:lnSpc>
            </a:pPr>
            <a:r>
              <a:rPr sz="1500" b="0">
                <a:solidFill>
                  <a:srgbClr val="1E293B"/>
                </a:solidFill>
                <a:latin typeface="Calibri"/>
              </a:rPr>
              <a:t>Semester 2  ·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6510528"/>
            <a:ext cx="7315200" cy="274320"/>
          </a:xfrm>
          <a:prstGeom prst="rect">
            <a:avLst/>
          </a:prstGeom>
          <a:noFill/>
        </p:spPr>
        <p:txBody>
          <a:bodyPr wrap="square" lIns="0" tIns="0" rIns="0" bIns="0" anchor="t">
            <a:spAutoFit/>
          </a:bodyPr>
          <a:lstStyle/>
          <a:p>
            <a:pPr algn="l">
              <a:lnSpc>
                <a:spcPct val="115000"/>
              </a:lnSpc>
            </a:pPr>
            <a:r>
              <a:rPr sz="900" b="0">
                <a:solidFill>
                  <a:srgbClr val="94A3B8"/>
                </a:solidFill>
                <a:latin typeface="Calibri"/>
              </a:rPr>
              <a:t>Diabetes Risk Prediction  ·  Intro to Data Science  ·  Sem 2</a:t>
            </a:r>
          </a:p>
        </p:txBody>
      </p:sp>
      <p:sp>
        <p:nvSpPr>
          <p:cNvPr id="4" name="TextBox 3"/>
          <p:cNvSpPr txBox="1"/>
          <p:nvPr/>
        </p:nvSpPr>
        <p:spPr>
          <a:xfrm>
            <a:off x="11094415" y="6510528"/>
            <a:ext cx="822960" cy="274320"/>
          </a:xfrm>
          <a:prstGeom prst="rect">
            <a:avLst/>
          </a:prstGeom>
          <a:noFill/>
        </p:spPr>
        <p:txBody>
          <a:bodyPr wrap="square" lIns="0" tIns="0" rIns="0" bIns="0" anchor="t">
            <a:spAutoFit/>
          </a:bodyPr>
          <a:lstStyle/>
          <a:p>
            <a:pPr algn="r">
              <a:lnSpc>
                <a:spcPct val="115000"/>
              </a:lnSpc>
            </a:pPr>
            <a:r>
              <a:rPr sz="900" b="0">
                <a:solidFill>
                  <a:srgbClr val="94A3B8"/>
                </a:solidFill>
                <a:latin typeface="Calibri"/>
              </a:rPr>
              <a:t>2 / 17</a:t>
            </a:r>
          </a:p>
        </p:txBody>
      </p:sp>
      <p:sp>
        <p:nvSpPr>
          <p:cNvPr id="5" name="TextBox 4"/>
          <p:cNvSpPr txBox="1"/>
          <p:nvPr/>
        </p:nvSpPr>
        <p:spPr>
          <a:xfrm>
            <a:off x="640080" y="502920"/>
            <a:ext cx="10972800" cy="274320"/>
          </a:xfrm>
          <a:prstGeom prst="rect">
            <a:avLst/>
          </a:prstGeom>
          <a:noFill/>
        </p:spPr>
        <p:txBody>
          <a:bodyPr wrap="square" lIns="0" tIns="0" rIns="0" bIns="0" anchor="t">
            <a:spAutoFit/>
          </a:bodyPr>
          <a:lstStyle/>
          <a:p>
            <a:pPr algn="l">
              <a:lnSpc>
                <a:spcPct val="115000"/>
              </a:lnSpc>
            </a:pPr>
            <a:r>
              <a:rPr sz="1000" b="1">
                <a:solidFill>
                  <a:srgbClr val="F59E0B"/>
                </a:solidFill>
                <a:latin typeface="Calibri"/>
              </a:rPr>
              <a:t>OUTLINE</a:t>
            </a:r>
          </a:p>
        </p:txBody>
      </p:sp>
      <p:sp>
        <p:nvSpPr>
          <p:cNvPr id="6" name="TextBox 5"/>
          <p:cNvSpPr txBox="1"/>
          <p:nvPr/>
        </p:nvSpPr>
        <p:spPr>
          <a:xfrm>
            <a:off x="640080" y="822960"/>
            <a:ext cx="10972800" cy="685800"/>
          </a:xfrm>
          <a:prstGeom prst="rect">
            <a:avLst/>
          </a:prstGeom>
          <a:noFill/>
        </p:spPr>
        <p:txBody>
          <a:bodyPr wrap="square" lIns="0" tIns="0" rIns="0" bIns="0" anchor="t">
            <a:spAutoFit/>
          </a:bodyPr>
          <a:lstStyle/>
          <a:p>
            <a:pPr algn="l">
              <a:lnSpc>
                <a:spcPct val="115000"/>
              </a:lnSpc>
            </a:pPr>
            <a:r>
              <a:rPr sz="2800" b="1">
                <a:solidFill>
                  <a:srgbClr val="1E293B"/>
                </a:solidFill>
                <a:latin typeface="Calibri"/>
              </a:rPr>
              <a:t>What we will cover today</a:t>
            </a:r>
          </a:p>
        </p:txBody>
      </p:sp>
      <p:sp>
        <p:nvSpPr>
          <p:cNvPr id="7" name="Rectangle 6"/>
          <p:cNvSpPr/>
          <p:nvPr/>
        </p:nvSpPr>
        <p:spPr>
          <a:xfrm>
            <a:off x="640080" y="1463040"/>
            <a:ext cx="457200" cy="45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2011680"/>
            <a:ext cx="5486400" cy="4572000"/>
          </a:xfrm>
          <a:prstGeom prst="rect">
            <a:avLst/>
          </a:prstGeom>
          <a:noFill/>
        </p:spPr>
        <p:txBody>
          <a:bodyPr wrap="square" lIns="0" tIns="0" rIns="0" bIns="0">
            <a:spAutoFit/>
          </a:bodyPr>
          <a:lstStyle/>
          <a:p>
            <a:pPr algn="l">
              <a:lnSpc>
                <a:spcPct val="135000"/>
              </a:lnSpc>
              <a:spcAft>
                <a:spcPts val="800"/>
              </a:spcAft>
            </a:pPr>
            <a:r>
              <a:rPr sz="1400" b="1">
                <a:solidFill>
                  <a:srgbClr val="F59E0B"/>
                </a:solidFill>
                <a:latin typeface="Calibri"/>
              </a:rPr>
              <a:t>·  </a:t>
            </a:r>
            <a:r>
              <a:rPr sz="1400">
                <a:solidFill>
                  <a:srgbClr val="1E293B"/>
                </a:solidFill>
                <a:latin typeface="Calibri"/>
              </a:rPr>
              <a:t>01  ·  Problem statement</a:t>
            </a:r>
          </a:p>
          <a:p>
            <a:pPr algn="l">
              <a:lnSpc>
                <a:spcPct val="135000"/>
              </a:lnSpc>
              <a:spcAft>
                <a:spcPts val="800"/>
              </a:spcAft>
            </a:pPr>
            <a:r>
              <a:rPr sz="1400" b="1">
                <a:solidFill>
                  <a:srgbClr val="F59E0B"/>
                </a:solidFill>
                <a:latin typeface="Calibri"/>
              </a:rPr>
              <a:t>·  </a:t>
            </a:r>
            <a:r>
              <a:rPr sz="1400">
                <a:solidFill>
                  <a:srgbClr val="1E293B"/>
                </a:solidFill>
                <a:latin typeface="Calibri"/>
              </a:rPr>
              <a:t>02  ·  Dataset overview</a:t>
            </a:r>
          </a:p>
          <a:p>
            <a:pPr algn="l">
              <a:lnSpc>
                <a:spcPct val="135000"/>
              </a:lnSpc>
              <a:spcAft>
                <a:spcPts val="800"/>
              </a:spcAft>
            </a:pPr>
            <a:r>
              <a:rPr sz="1400" b="1">
                <a:solidFill>
                  <a:srgbClr val="F59E0B"/>
                </a:solidFill>
                <a:latin typeface="Calibri"/>
              </a:rPr>
              <a:t>·  </a:t>
            </a:r>
            <a:r>
              <a:rPr sz="1400">
                <a:solidFill>
                  <a:srgbClr val="1E293B"/>
                </a:solidFill>
                <a:latin typeface="Calibri"/>
              </a:rPr>
              <a:t>03  ·  Target &amp; features</a:t>
            </a:r>
          </a:p>
          <a:p>
            <a:pPr algn="l">
              <a:lnSpc>
                <a:spcPct val="135000"/>
              </a:lnSpc>
              <a:spcAft>
                <a:spcPts val="800"/>
              </a:spcAft>
            </a:pPr>
            <a:r>
              <a:rPr sz="1400" b="1">
                <a:solidFill>
                  <a:srgbClr val="F59E0B"/>
                </a:solidFill>
                <a:latin typeface="Calibri"/>
              </a:rPr>
              <a:t>·  </a:t>
            </a:r>
            <a:r>
              <a:rPr sz="1400">
                <a:solidFill>
                  <a:srgbClr val="1E293B"/>
                </a:solidFill>
                <a:latin typeface="Calibri"/>
              </a:rPr>
              <a:t>04  ·  Project workflow</a:t>
            </a:r>
          </a:p>
          <a:p>
            <a:pPr algn="l">
              <a:lnSpc>
                <a:spcPct val="135000"/>
              </a:lnSpc>
              <a:spcAft>
                <a:spcPts val="800"/>
              </a:spcAft>
            </a:pPr>
            <a:r>
              <a:rPr sz="1400" b="1">
                <a:solidFill>
                  <a:srgbClr val="F59E0B"/>
                </a:solidFill>
                <a:latin typeface="Calibri"/>
              </a:rPr>
              <a:t>·  </a:t>
            </a:r>
            <a:r>
              <a:rPr sz="1400">
                <a:solidFill>
                  <a:srgbClr val="1E293B"/>
                </a:solidFill>
                <a:latin typeface="Calibri"/>
              </a:rPr>
              <a:t>05  ·  Data cleaning</a:t>
            </a:r>
          </a:p>
          <a:p>
            <a:pPr algn="l">
              <a:lnSpc>
                <a:spcPct val="135000"/>
              </a:lnSpc>
              <a:spcAft>
                <a:spcPts val="800"/>
              </a:spcAft>
            </a:pPr>
            <a:r>
              <a:rPr sz="1400" b="1">
                <a:solidFill>
                  <a:srgbClr val="F59E0B"/>
                </a:solidFill>
                <a:latin typeface="Calibri"/>
              </a:rPr>
              <a:t>·  </a:t>
            </a:r>
            <a:r>
              <a:rPr sz="1400">
                <a:solidFill>
                  <a:srgbClr val="1E293B"/>
                </a:solidFill>
                <a:latin typeface="Calibri"/>
              </a:rPr>
              <a:t>06  ·  Exploratory data analysis</a:t>
            </a:r>
          </a:p>
          <a:p>
            <a:pPr algn="l">
              <a:lnSpc>
                <a:spcPct val="135000"/>
              </a:lnSpc>
              <a:spcAft>
                <a:spcPts val="800"/>
              </a:spcAft>
            </a:pPr>
            <a:r>
              <a:rPr sz="1400" b="1">
                <a:solidFill>
                  <a:srgbClr val="F59E0B"/>
                </a:solidFill>
                <a:latin typeface="Calibri"/>
              </a:rPr>
              <a:t>·  </a:t>
            </a:r>
            <a:r>
              <a:rPr sz="1400">
                <a:solidFill>
                  <a:srgbClr val="1E293B"/>
                </a:solidFill>
                <a:latin typeface="Calibri"/>
              </a:rPr>
              <a:t>07  ·  Correlation analysis</a:t>
            </a:r>
          </a:p>
          <a:p>
            <a:pPr algn="l">
              <a:lnSpc>
                <a:spcPct val="135000"/>
              </a:lnSpc>
              <a:spcAft>
                <a:spcPts val="800"/>
              </a:spcAft>
            </a:pPr>
            <a:r>
              <a:rPr sz="1400" b="1">
                <a:solidFill>
                  <a:srgbClr val="F59E0B"/>
                </a:solidFill>
                <a:latin typeface="Calibri"/>
              </a:rPr>
              <a:t>·  </a:t>
            </a:r>
            <a:r>
              <a:rPr sz="1400">
                <a:solidFill>
                  <a:srgbClr val="1E293B"/>
                </a:solidFill>
                <a:latin typeface="Calibri"/>
              </a:rPr>
              <a:t>08  ·  Train / test split</a:t>
            </a:r>
          </a:p>
        </p:txBody>
      </p:sp>
      <p:sp>
        <p:nvSpPr>
          <p:cNvPr id="9" name="TextBox 8"/>
          <p:cNvSpPr txBox="1"/>
          <p:nvPr/>
        </p:nvSpPr>
        <p:spPr>
          <a:xfrm>
            <a:off x="6583680" y="2011680"/>
            <a:ext cx="5486400" cy="4572000"/>
          </a:xfrm>
          <a:prstGeom prst="rect">
            <a:avLst/>
          </a:prstGeom>
          <a:noFill/>
        </p:spPr>
        <p:txBody>
          <a:bodyPr wrap="square" lIns="0" tIns="0" rIns="0" bIns="0">
            <a:spAutoFit/>
          </a:bodyPr>
          <a:lstStyle/>
          <a:p>
            <a:pPr algn="l">
              <a:lnSpc>
                <a:spcPct val="135000"/>
              </a:lnSpc>
              <a:spcAft>
                <a:spcPts val="800"/>
              </a:spcAft>
            </a:pPr>
            <a:r>
              <a:rPr sz="1400" b="1">
                <a:solidFill>
                  <a:srgbClr val="F59E0B"/>
                </a:solidFill>
                <a:latin typeface="Calibri"/>
              </a:rPr>
              <a:t>·  </a:t>
            </a:r>
            <a:r>
              <a:rPr sz="1400">
                <a:solidFill>
                  <a:srgbClr val="1E293B"/>
                </a:solidFill>
                <a:latin typeface="Calibri"/>
              </a:rPr>
              <a:t>09  ·  Why machine learning?</a:t>
            </a:r>
          </a:p>
          <a:p>
            <a:pPr algn="l">
              <a:lnSpc>
                <a:spcPct val="135000"/>
              </a:lnSpc>
              <a:spcAft>
                <a:spcPts val="800"/>
              </a:spcAft>
            </a:pPr>
            <a:r>
              <a:rPr sz="1400" b="1">
                <a:solidFill>
                  <a:srgbClr val="F59E0B"/>
                </a:solidFill>
                <a:latin typeface="Calibri"/>
              </a:rPr>
              <a:t>·  </a:t>
            </a:r>
            <a:r>
              <a:rPr sz="1400">
                <a:solidFill>
                  <a:srgbClr val="1E293B"/>
                </a:solidFill>
                <a:latin typeface="Calibri"/>
              </a:rPr>
              <a:t>10  ·  4 candidate ML models</a:t>
            </a:r>
          </a:p>
          <a:p>
            <a:pPr algn="l">
              <a:lnSpc>
                <a:spcPct val="135000"/>
              </a:lnSpc>
              <a:spcAft>
                <a:spcPts val="800"/>
              </a:spcAft>
            </a:pPr>
            <a:r>
              <a:rPr sz="1400" b="1">
                <a:solidFill>
                  <a:srgbClr val="F59E0B"/>
                </a:solidFill>
                <a:latin typeface="Calibri"/>
              </a:rPr>
              <a:t>·  </a:t>
            </a:r>
            <a:r>
              <a:rPr sz="1400">
                <a:solidFill>
                  <a:srgbClr val="1E293B"/>
                </a:solidFill>
                <a:latin typeface="Calibri"/>
              </a:rPr>
              <a:t>11  ·  Model comparison</a:t>
            </a:r>
          </a:p>
          <a:p>
            <a:pPr algn="l">
              <a:lnSpc>
                <a:spcPct val="135000"/>
              </a:lnSpc>
              <a:spcAft>
                <a:spcPts val="800"/>
              </a:spcAft>
            </a:pPr>
            <a:r>
              <a:rPr sz="1400" b="1">
                <a:solidFill>
                  <a:srgbClr val="F59E0B"/>
                </a:solidFill>
                <a:latin typeface="Calibri"/>
              </a:rPr>
              <a:t>·  </a:t>
            </a:r>
            <a:r>
              <a:rPr sz="1400">
                <a:solidFill>
                  <a:srgbClr val="1E293B"/>
                </a:solidFill>
                <a:latin typeface="Calibri"/>
              </a:rPr>
              <a:t>12  ·  Random Forest results</a:t>
            </a:r>
          </a:p>
          <a:p>
            <a:pPr algn="l">
              <a:lnSpc>
                <a:spcPct val="135000"/>
              </a:lnSpc>
              <a:spcAft>
                <a:spcPts val="800"/>
              </a:spcAft>
            </a:pPr>
            <a:r>
              <a:rPr sz="1400" b="1">
                <a:solidFill>
                  <a:srgbClr val="F59E0B"/>
                </a:solidFill>
                <a:latin typeface="Calibri"/>
              </a:rPr>
              <a:t>·  </a:t>
            </a:r>
            <a:r>
              <a:rPr sz="1400">
                <a:solidFill>
                  <a:srgbClr val="1E293B"/>
                </a:solidFill>
                <a:latin typeface="Calibri"/>
              </a:rPr>
              <a:t>13  ·  Top diabetes risk factors</a:t>
            </a:r>
          </a:p>
          <a:p>
            <a:pPr algn="l">
              <a:lnSpc>
                <a:spcPct val="135000"/>
              </a:lnSpc>
              <a:spcAft>
                <a:spcPts val="800"/>
              </a:spcAft>
            </a:pPr>
            <a:r>
              <a:rPr sz="1400" b="1">
                <a:solidFill>
                  <a:srgbClr val="F59E0B"/>
                </a:solidFill>
                <a:latin typeface="Calibri"/>
              </a:rPr>
              <a:t>·  </a:t>
            </a:r>
            <a:r>
              <a:rPr sz="1400">
                <a:solidFill>
                  <a:srgbClr val="1E293B"/>
                </a:solidFill>
                <a:latin typeface="Calibri"/>
              </a:rPr>
              <a:t>14  ·  Streamlit web app</a:t>
            </a:r>
          </a:p>
          <a:p>
            <a:pPr algn="l">
              <a:lnSpc>
                <a:spcPct val="135000"/>
              </a:lnSpc>
              <a:spcAft>
                <a:spcPts val="800"/>
              </a:spcAft>
            </a:pPr>
            <a:r>
              <a:rPr sz="1400" b="1">
                <a:solidFill>
                  <a:srgbClr val="F59E0B"/>
                </a:solidFill>
                <a:latin typeface="Calibri"/>
              </a:rPr>
              <a:t>·  </a:t>
            </a:r>
            <a:r>
              <a:rPr sz="1400">
                <a:solidFill>
                  <a:srgbClr val="1E293B"/>
                </a:solidFill>
                <a:latin typeface="Calibri"/>
              </a:rPr>
              <a:t>15  ·  Limitations</a:t>
            </a:r>
          </a:p>
          <a:p>
            <a:pPr algn="l">
              <a:lnSpc>
                <a:spcPct val="135000"/>
              </a:lnSpc>
              <a:spcAft>
                <a:spcPts val="800"/>
              </a:spcAft>
            </a:pPr>
            <a:r>
              <a:rPr sz="1400" b="1">
                <a:solidFill>
                  <a:srgbClr val="F59E0B"/>
                </a:solidFill>
                <a:latin typeface="Calibri"/>
              </a:rPr>
              <a:t>·  </a:t>
            </a:r>
            <a:r>
              <a:rPr sz="1400">
                <a:solidFill>
                  <a:srgbClr val="1E293B"/>
                </a:solidFill>
                <a:latin typeface="Calibri"/>
              </a:rPr>
              <a:t>16  ·  Conclusion &amp; Q&amp;A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6510528"/>
            <a:ext cx="7315200" cy="274320"/>
          </a:xfrm>
          <a:prstGeom prst="rect">
            <a:avLst/>
          </a:prstGeom>
          <a:noFill/>
        </p:spPr>
        <p:txBody>
          <a:bodyPr wrap="square" lIns="0" tIns="0" rIns="0" bIns="0" anchor="t">
            <a:spAutoFit/>
          </a:bodyPr>
          <a:lstStyle/>
          <a:p>
            <a:pPr algn="l">
              <a:lnSpc>
                <a:spcPct val="115000"/>
              </a:lnSpc>
            </a:pPr>
            <a:r>
              <a:rPr sz="900" b="0">
                <a:solidFill>
                  <a:srgbClr val="94A3B8"/>
                </a:solidFill>
                <a:latin typeface="Calibri"/>
              </a:rPr>
              <a:t>Diabetes Risk Prediction  ·  Intro to Data Science  ·  Sem 2</a:t>
            </a:r>
          </a:p>
        </p:txBody>
      </p:sp>
      <p:sp>
        <p:nvSpPr>
          <p:cNvPr id="4" name="TextBox 3"/>
          <p:cNvSpPr txBox="1"/>
          <p:nvPr/>
        </p:nvSpPr>
        <p:spPr>
          <a:xfrm>
            <a:off x="11094415" y="6510528"/>
            <a:ext cx="822960" cy="274320"/>
          </a:xfrm>
          <a:prstGeom prst="rect">
            <a:avLst/>
          </a:prstGeom>
          <a:noFill/>
        </p:spPr>
        <p:txBody>
          <a:bodyPr wrap="square" lIns="0" tIns="0" rIns="0" bIns="0" anchor="t">
            <a:spAutoFit/>
          </a:bodyPr>
          <a:lstStyle/>
          <a:p>
            <a:pPr algn="r">
              <a:lnSpc>
                <a:spcPct val="115000"/>
              </a:lnSpc>
            </a:pPr>
            <a:r>
              <a:rPr sz="900" b="0">
                <a:solidFill>
                  <a:srgbClr val="94A3B8"/>
                </a:solidFill>
                <a:latin typeface="Calibri"/>
              </a:rPr>
              <a:t>3 / 17</a:t>
            </a:r>
          </a:p>
        </p:txBody>
      </p:sp>
      <p:sp>
        <p:nvSpPr>
          <p:cNvPr id="5" name="TextBox 4"/>
          <p:cNvSpPr txBox="1"/>
          <p:nvPr/>
        </p:nvSpPr>
        <p:spPr>
          <a:xfrm>
            <a:off x="640080" y="502920"/>
            <a:ext cx="10972800" cy="274320"/>
          </a:xfrm>
          <a:prstGeom prst="rect">
            <a:avLst/>
          </a:prstGeom>
          <a:noFill/>
        </p:spPr>
        <p:txBody>
          <a:bodyPr wrap="square" lIns="0" tIns="0" rIns="0" bIns="0" anchor="t">
            <a:spAutoFit/>
          </a:bodyPr>
          <a:lstStyle/>
          <a:p>
            <a:pPr algn="l">
              <a:lnSpc>
                <a:spcPct val="115000"/>
              </a:lnSpc>
            </a:pPr>
            <a:r>
              <a:rPr sz="1000" b="1" dirty="0">
                <a:solidFill>
                  <a:srgbClr val="F59E0B"/>
                </a:solidFill>
                <a:latin typeface="Calibri"/>
              </a:rPr>
              <a:t>01  ·  WHY THIS MATTERS</a:t>
            </a:r>
          </a:p>
        </p:txBody>
      </p:sp>
      <p:sp>
        <p:nvSpPr>
          <p:cNvPr id="6" name="TextBox 5"/>
          <p:cNvSpPr txBox="1"/>
          <p:nvPr/>
        </p:nvSpPr>
        <p:spPr>
          <a:xfrm>
            <a:off x="640080" y="822960"/>
            <a:ext cx="10972800" cy="685800"/>
          </a:xfrm>
          <a:prstGeom prst="rect">
            <a:avLst/>
          </a:prstGeom>
          <a:noFill/>
        </p:spPr>
        <p:txBody>
          <a:bodyPr wrap="square" lIns="0" tIns="0" rIns="0" bIns="0" anchor="t">
            <a:spAutoFit/>
          </a:bodyPr>
          <a:lstStyle/>
          <a:p>
            <a:pPr algn="l">
              <a:lnSpc>
                <a:spcPct val="115000"/>
              </a:lnSpc>
            </a:pPr>
            <a:r>
              <a:rPr sz="2800" b="1" dirty="0">
                <a:solidFill>
                  <a:srgbClr val="1E293B"/>
                </a:solidFill>
                <a:latin typeface="Calibri"/>
              </a:rPr>
              <a:t>The diabetes problem</a:t>
            </a:r>
          </a:p>
        </p:txBody>
      </p:sp>
      <p:sp>
        <p:nvSpPr>
          <p:cNvPr id="7" name="Rectangle 6"/>
          <p:cNvSpPr/>
          <p:nvPr/>
        </p:nvSpPr>
        <p:spPr>
          <a:xfrm>
            <a:off x="640080" y="1463040"/>
            <a:ext cx="457200" cy="45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2011680"/>
            <a:ext cx="6675120" cy="4114800"/>
          </a:xfrm>
          <a:prstGeom prst="rect">
            <a:avLst/>
          </a:prstGeom>
          <a:noFill/>
        </p:spPr>
        <p:txBody>
          <a:bodyPr wrap="square" lIns="0" tIns="0" rIns="0" bIns="0">
            <a:spAutoFit/>
          </a:bodyPr>
          <a:lstStyle/>
          <a:p>
            <a:pPr algn="l">
              <a:lnSpc>
                <a:spcPct val="145000"/>
              </a:lnSpc>
              <a:spcAft>
                <a:spcPts val="1000"/>
              </a:spcAft>
            </a:pPr>
            <a:r>
              <a:rPr sz="1500" b="1" dirty="0">
                <a:solidFill>
                  <a:srgbClr val="F59E0B"/>
                </a:solidFill>
                <a:latin typeface="Calibri"/>
              </a:rPr>
              <a:t>■  </a:t>
            </a:r>
            <a:r>
              <a:rPr sz="1500" dirty="0">
                <a:solidFill>
                  <a:srgbClr val="475569"/>
                </a:solidFill>
                <a:latin typeface="Calibri"/>
              </a:rPr>
              <a:t>Diabetes affects 1 in 11 adults worldwide (~537 million people).</a:t>
            </a:r>
          </a:p>
          <a:p>
            <a:pPr algn="l">
              <a:lnSpc>
                <a:spcPct val="145000"/>
              </a:lnSpc>
              <a:spcAft>
                <a:spcPts val="1000"/>
              </a:spcAft>
            </a:pPr>
            <a:r>
              <a:rPr sz="1500" b="1" dirty="0">
                <a:solidFill>
                  <a:srgbClr val="F59E0B"/>
                </a:solidFill>
                <a:latin typeface="Calibri"/>
              </a:rPr>
              <a:t>■  </a:t>
            </a:r>
            <a:r>
              <a:rPr sz="1500" dirty="0">
                <a:solidFill>
                  <a:srgbClr val="475569"/>
                </a:solidFill>
                <a:latin typeface="Calibri"/>
              </a:rPr>
              <a:t>Early detection drastically reduces complications and costs.</a:t>
            </a:r>
          </a:p>
          <a:p>
            <a:pPr algn="l">
              <a:lnSpc>
                <a:spcPct val="145000"/>
              </a:lnSpc>
              <a:spcAft>
                <a:spcPts val="1000"/>
              </a:spcAft>
            </a:pPr>
            <a:r>
              <a:rPr sz="1500" b="1" dirty="0">
                <a:solidFill>
                  <a:srgbClr val="F59E0B"/>
                </a:solidFill>
                <a:latin typeface="Calibri"/>
              </a:rPr>
              <a:t>■  </a:t>
            </a:r>
            <a:r>
              <a:rPr sz="1500" dirty="0">
                <a:solidFill>
                  <a:srgbClr val="475569"/>
                </a:solidFill>
                <a:latin typeface="Calibri"/>
              </a:rPr>
              <a:t>Many people are unaware they have prediabetes or diabetes.</a:t>
            </a:r>
          </a:p>
          <a:p>
            <a:pPr algn="l">
              <a:lnSpc>
                <a:spcPct val="145000"/>
              </a:lnSpc>
              <a:spcAft>
                <a:spcPts val="1000"/>
              </a:spcAft>
            </a:pPr>
            <a:r>
              <a:rPr sz="1500" b="1" dirty="0">
                <a:solidFill>
                  <a:srgbClr val="F59E0B"/>
                </a:solidFill>
                <a:latin typeface="Calibri"/>
              </a:rPr>
              <a:t>■  </a:t>
            </a:r>
            <a:r>
              <a:rPr sz="1500" dirty="0">
                <a:solidFill>
                  <a:srgbClr val="475569"/>
                </a:solidFill>
                <a:latin typeface="Calibri"/>
              </a:rPr>
              <a:t>Doctors need low-cost, fast screening tools.</a:t>
            </a:r>
          </a:p>
          <a:p>
            <a:pPr algn="l">
              <a:lnSpc>
                <a:spcPct val="145000"/>
              </a:lnSpc>
              <a:spcAft>
                <a:spcPts val="1000"/>
              </a:spcAft>
            </a:pPr>
            <a:r>
              <a:rPr sz="1500" b="1" dirty="0">
                <a:solidFill>
                  <a:srgbClr val="F59E0B"/>
                </a:solidFill>
                <a:latin typeface="Calibri"/>
              </a:rPr>
              <a:t>■  </a:t>
            </a:r>
            <a:r>
              <a:rPr sz="1500" dirty="0">
                <a:solidFill>
                  <a:srgbClr val="475569"/>
                </a:solidFill>
                <a:latin typeface="Calibri"/>
              </a:rPr>
              <a:t>Patient survey data is cheap to collect — no lab tests required.</a:t>
            </a:r>
          </a:p>
        </p:txBody>
      </p:sp>
      <p:sp>
        <p:nvSpPr>
          <p:cNvPr id="9" name="Rectangle 8"/>
          <p:cNvSpPr/>
          <p:nvPr/>
        </p:nvSpPr>
        <p:spPr>
          <a:xfrm>
            <a:off x="7589520" y="2194560"/>
            <a:ext cx="4023360" cy="3657600"/>
          </a:xfrm>
          <a:prstGeom prst="rect">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863840" y="2514600"/>
            <a:ext cx="3474720" cy="320040"/>
          </a:xfrm>
          <a:prstGeom prst="rect">
            <a:avLst/>
          </a:prstGeom>
          <a:noFill/>
        </p:spPr>
        <p:txBody>
          <a:bodyPr wrap="square" lIns="0" tIns="0" rIns="0" bIns="0" anchor="t">
            <a:spAutoFit/>
          </a:bodyPr>
          <a:lstStyle/>
          <a:p>
            <a:pPr algn="l">
              <a:lnSpc>
                <a:spcPct val="115000"/>
              </a:lnSpc>
            </a:pPr>
            <a:r>
              <a:rPr sz="1000" b="1" dirty="0">
                <a:solidFill>
                  <a:srgbClr val="F59E0B"/>
                </a:solidFill>
                <a:latin typeface="Calibri"/>
              </a:rPr>
              <a:t>GLOBAL IMPACT</a:t>
            </a:r>
          </a:p>
        </p:txBody>
      </p:sp>
      <p:sp>
        <p:nvSpPr>
          <p:cNvPr id="11" name="TextBox 10"/>
          <p:cNvSpPr txBox="1"/>
          <p:nvPr/>
        </p:nvSpPr>
        <p:spPr>
          <a:xfrm>
            <a:off x="7863840" y="2971800"/>
            <a:ext cx="3474720" cy="1371600"/>
          </a:xfrm>
          <a:prstGeom prst="rect">
            <a:avLst/>
          </a:prstGeom>
          <a:noFill/>
        </p:spPr>
        <p:txBody>
          <a:bodyPr wrap="square" lIns="0" tIns="0" rIns="0" bIns="0" anchor="t">
            <a:spAutoFit/>
          </a:bodyPr>
          <a:lstStyle/>
          <a:p>
            <a:pPr algn="l">
              <a:lnSpc>
                <a:spcPct val="115000"/>
              </a:lnSpc>
            </a:pPr>
            <a:r>
              <a:rPr sz="7200" b="1" dirty="0">
                <a:solidFill>
                  <a:srgbClr val="0B4F4A"/>
                </a:solidFill>
                <a:latin typeface="Calibri"/>
              </a:rPr>
              <a:t>537M</a:t>
            </a:r>
          </a:p>
        </p:txBody>
      </p:sp>
      <p:sp>
        <p:nvSpPr>
          <p:cNvPr id="12" name="TextBox 11"/>
          <p:cNvSpPr txBox="1"/>
          <p:nvPr/>
        </p:nvSpPr>
        <p:spPr>
          <a:xfrm>
            <a:off x="7863840" y="4389120"/>
            <a:ext cx="3474720" cy="457200"/>
          </a:xfrm>
          <a:prstGeom prst="rect">
            <a:avLst/>
          </a:prstGeom>
          <a:noFill/>
        </p:spPr>
        <p:txBody>
          <a:bodyPr wrap="square" lIns="0" tIns="0" rIns="0" bIns="0" anchor="t">
            <a:spAutoFit/>
          </a:bodyPr>
          <a:lstStyle/>
          <a:p>
            <a:pPr algn="l">
              <a:lnSpc>
                <a:spcPct val="115000"/>
              </a:lnSpc>
            </a:pPr>
            <a:r>
              <a:rPr sz="1400" b="0" dirty="0">
                <a:solidFill>
                  <a:srgbClr val="475569"/>
                </a:solidFill>
                <a:latin typeface="Calibri"/>
              </a:rPr>
              <a:t>adults living with diabetes</a:t>
            </a:r>
          </a:p>
        </p:txBody>
      </p:sp>
      <p:sp>
        <p:nvSpPr>
          <p:cNvPr id="13" name="TextBox 12"/>
          <p:cNvSpPr txBox="1"/>
          <p:nvPr/>
        </p:nvSpPr>
        <p:spPr>
          <a:xfrm>
            <a:off x="7863840" y="5029200"/>
            <a:ext cx="3474720" cy="640080"/>
          </a:xfrm>
          <a:prstGeom prst="rect">
            <a:avLst/>
          </a:prstGeom>
          <a:noFill/>
        </p:spPr>
        <p:txBody>
          <a:bodyPr wrap="square" lIns="0" tIns="0" rIns="0" bIns="0" anchor="t">
            <a:spAutoFit/>
          </a:bodyPr>
          <a:lstStyle/>
          <a:p>
            <a:pPr algn="l">
              <a:lnSpc>
                <a:spcPct val="115000"/>
              </a:lnSpc>
            </a:pPr>
            <a:r>
              <a:rPr sz="1000" b="0">
                <a:solidFill>
                  <a:srgbClr val="94A3B8"/>
                </a:solidFill>
                <a:latin typeface="Calibri"/>
              </a:rPr>
              <a:t>Source: IDF Diabetes Atlas 2021</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6510528"/>
            <a:ext cx="7315200" cy="274320"/>
          </a:xfrm>
          <a:prstGeom prst="rect">
            <a:avLst/>
          </a:prstGeom>
          <a:noFill/>
        </p:spPr>
        <p:txBody>
          <a:bodyPr wrap="square" lIns="0" tIns="0" rIns="0" bIns="0" anchor="t">
            <a:spAutoFit/>
          </a:bodyPr>
          <a:lstStyle/>
          <a:p>
            <a:pPr algn="l">
              <a:lnSpc>
                <a:spcPct val="115000"/>
              </a:lnSpc>
            </a:pPr>
            <a:r>
              <a:rPr sz="900" b="0">
                <a:solidFill>
                  <a:srgbClr val="94A3B8"/>
                </a:solidFill>
                <a:latin typeface="Calibri"/>
              </a:rPr>
              <a:t>Diabetes Risk Prediction  ·  Intro to Data Science  ·  Sem 2</a:t>
            </a:r>
          </a:p>
        </p:txBody>
      </p:sp>
      <p:sp>
        <p:nvSpPr>
          <p:cNvPr id="4" name="TextBox 3"/>
          <p:cNvSpPr txBox="1"/>
          <p:nvPr/>
        </p:nvSpPr>
        <p:spPr>
          <a:xfrm>
            <a:off x="11094415" y="6510528"/>
            <a:ext cx="822960" cy="274320"/>
          </a:xfrm>
          <a:prstGeom prst="rect">
            <a:avLst/>
          </a:prstGeom>
          <a:noFill/>
        </p:spPr>
        <p:txBody>
          <a:bodyPr wrap="square" lIns="0" tIns="0" rIns="0" bIns="0" anchor="t">
            <a:spAutoFit/>
          </a:bodyPr>
          <a:lstStyle/>
          <a:p>
            <a:pPr algn="r">
              <a:lnSpc>
                <a:spcPct val="115000"/>
              </a:lnSpc>
            </a:pPr>
            <a:r>
              <a:rPr sz="900" b="0">
                <a:solidFill>
                  <a:srgbClr val="94A3B8"/>
                </a:solidFill>
                <a:latin typeface="Calibri"/>
              </a:rPr>
              <a:t>4 / 17</a:t>
            </a:r>
          </a:p>
        </p:txBody>
      </p:sp>
      <p:sp>
        <p:nvSpPr>
          <p:cNvPr id="5" name="TextBox 4"/>
          <p:cNvSpPr txBox="1"/>
          <p:nvPr/>
        </p:nvSpPr>
        <p:spPr>
          <a:xfrm>
            <a:off x="640080" y="502920"/>
            <a:ext cx="10972800" cy="274320"/>
          </a:xfrm>
          <a:prstGeom prst="rect">
            <a:avLst/>
          </a:prstGeom>
          <a:noFill/>
        </p:spPr>
        <p:txBody>
          <a:bodyPr wrap="square" lIns="0" tIns="0" rIns="0" bIns="0" anchor="t">
            <a:spAutoFit/>
          </a:bodyPr>
          <a:lstStyle/>
          <a:p>
            <a:pPr algn="l">
              <a:lnSpc>
                <a:spcPct val="115000"/>
              </a:lnSpc>
            </a:pPr>
            <a:r>
              <a:rPr sz="1000" b="1">
                <a:solidFill>
                  <a:srgbClr val="F59E0B"/>
                </a:solidFill>
                <a:latin typeface="Calibri"/>
              </a:rPr>
              <a:t>02  ·  DATA</a:t>
            </a:r>
          </a:p>
        </p:txBody>
      </p:sp>
      <p:sp>
        <p:nvSpPr>
          <p:cNvPr id="6" name="TextBox 5"/>
          <p:cNvSpPr txBox="1"/>
          <p:nvPr/>
        </p:nvSpPr>
        <p:spPr>
          <a:xfrm>
            <a:off x="640080" y="822960"/>
            <a:ext cx="10972800" cy="685800"/>
          </a:xfrm>
          <a:prstGeom prst="rect">
            <a:avLst/>
          </a:prstGeom>
          <a:noFill/>
        </p:spPr>
        <p:txBody>
          <a:bodyPr wrap="square" lIns="0" tIns="0" rIns="0" bIns="0" anchor="t">
            <a:spAutoFit/>
          </a:bodyPr>
          <a:lstStyle/>
          <a:p>
            <a:pPr algn="l">
              <a:lnSpc>
                <a:spcPct val="115000"/>
              </a:lnSpc>
            </a:pPr>
            <a:r>
              <a:rPr sz="2800" b="1">
                <a:solidFill>
                  <a:srgbClr val="1E293B"/>
                </a:solidFill>
                <a:latin typeface="Calibri"/>
              </a:rPr>
              <a:t>Dataset overview</a:t>
            </a:r>
          </a:p>
        </p:txBody>
      </p:sp>
      <p:sp>
        <p:nvSpPr>
          <p:cNvPr id="7" name="Rectangle 6"/>
          <p:cNvSpPr/>
          <p:nvPr/>
        </p:nvSpPr>
        <p:spPr>
          <a:xfrm>
            <a:off x="640080" y="1463040"/>
            <a:ext cx="457200" cy="45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2011680"/>
            <a:ext cx="5943600" cy="4114800"/>
          </a:xfrm>
          <a:prstGeom prst="rect">
            <a:avLst/>
          </a:prstGeom>
          <a:noFill/>
        </p:spPr>
        <p:txBody>
          <a:bodyPr wrap="square" lIns="0" tIns="0" rIns="0" bIns="0">
            <a:spAutoFit/>
          </a:bodyPr>
          <a:lstStyle/>
          <a:p>
            <a:pPr algn="l">
              <a:lnSpc>
                <a:spcPct val="145000"/>
              </a:lnSpc>
              <a:spcAft>
                <a:spcPts val="800"/>
              </a:spcAft>
            </a:pPr>
            <a:r>
              <a:rPr sz="1400" b="1">
                <a:solidFill>
                  <a:srgbClr val="F59E0B"/>
                </a:solidFill>
                <a:latin typeface="Calibri"/>
              </a:rPr>
              <a:t>■  </a:t>
            </a:r>
            <a:r>
              <a:rPr sz="1400">
                <a:solidFill>
                  <a:srgbClr val="475569"/>
                </a:solidFill>
                <a:latin typeface="Calibri"/>
              </a:rPr>
              <a:t>Source: CDC Behavioral Risk Factor Surveillance System (BRFSS), 2015.</a:t>
            </a:r>
          </a:p>
          <a:p>
            <a:pPr algn="l">
              <a:lnSpc>
                <a:spcPct val="145000"/>
              </a:lnSpc>
              <a:spcAft>
                <a:spcPts val="800"/>
              </a:spcAft>
            </a:pPr>
            <a:r>
              <a:rPr sz="1400" b="1">
                <a:solidFill>
                  <a:srgbClr val="F59E0B"/>
                </a:solidFill>
                <a:latin typeface="Calibri"/>
              </a:rPr>
              <a:t>■  </a:t>
            </a:r>
            <a:r>
              <a:rPr sz="1400">
                <a:solidFill>
                  <a:srgbClr val="475569"/>
                </a:solidFill>
                <a:latin typeface="Calibri"/>
              </a:rPr>
              <a:t>Collected through annual phone interviews across the United States.</a:t>
            </a:r>
          </a:p>
          <a:p>
            <a:pPr algn="l">
              <a:lnSpc>
                <a:spcPct val="145000"/>
              </a:lnSpc>
              <a:spcAft>
                <a:spcPts val="800"/>
              </a:spcAft>
            </a:pPr>
            <a:r>
              <a:rPr sz="1400" b="1">
                <a:solidFill>
                  <a:srgbClr val="F59E0B"/>
                </a:solidFill>
                <a:latin typeface="Calibri"/>
              </a:rPr>
              <a:t>■  </a:t>
            </a:r>
            <a:r>
              <a:rPr sz="1400">
                <a:solidFill>
                  <a:srgbClr val="475569"/>
                </a:solidFill>
                <a:latin typeface="Calibri"/>
              </a:rPr>
              <a:t>Cleaned version published on Kaggle by Alex Teboul.</a:t>
            </a:r>
          </a:p>
          <a:p>
            <a:pPr algn="l">
              <a:lnSpc>
                <a:spcPct val="145000"/>
              </a:lnSpc>
              <a:spcAft>
                <a:spcPts val="800"/>
              </a:spcAft>
            </a:pPr>
            <a:r>
              <a:rPr sz="1400" b="1">
                <a:solidFill>
                  <a:srgbClr val="F59E0B"/>
                </a:solidFill>
                <a:latin typeface="Calibri"/>
              </a:rPr>
              <a:t>■  </a:t>
            </a:r>
            <a:r>
              <a:rPr sz="1400">
                <a:solidFill>
                  <a:srgbClr val="475569"/>
                </a:solidFill>
                <a:latin typeface="Calibri"/>
              </a:rPr>
              <a:t>Pre-balanced 50 / 50 between diabetic and non-diabetic patients.</a:t>
            </a:r>
          </a:p>
          <a:p>
            <a:pPr algn="l">
              <a:lnSpc>
                <a:spcPct val="145000"/>
              </a:lnSpc>
              <a:spcAft>
                <a:spcPts val="800"/>
              </a:spcAft>
            </a:pPr>
            <a:r>
              <a:rPr sz="1400" b="1">
                <a:solidFill>
                  <a:srgbClr val="F59E0B"/>
                </a:solidFill>
                <a:latin typeface="Calibri"/>
              </a:rPr>
              <a:t>■  </a:t>
            </a:r>
            <a:r>
              <a:rPr sz="1400">
                <a:solidFill>
                  <a:srgbClr val="475569"/>
                </a:solidFill>
                <a:latin typeface="Calibri"/>
              </a:rPr>
              <a:t>Each row = one patient  ·  each column = one health indicator.</a:t>
            </a:r>
          </a:p>
        </p:txBody>
      </p:sp>
      <p:sp>
        <p:nvSpPr>
          <p:cNvPr id="9" name="Rectangle 8"/>
          <p:cNvSpPr/>
          <p:nvPr/>
        </p:nvSpPr>
        <p:spPr>
          <a:xfrm>
            <a:off x="7132320" y="2011680"/>
            <a:ext cx="4480560" cy="4206240"/>
          </a:xfrm>
          <a:prstGeom prst="rect">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132320" y="2011680"/>
            <a:ext cx="4480560" cy="41148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406640" y="2075688"/>
            <a:ext cx="3931920" cy="365760"/>
          </a:xfrm>
          <a:prstGeom prst="rect">
            <a:avLst/>
          </a:prstGeom>
          <a:noFill/>
        </p:spPr>
        <p:txBody>
          <a:bodyPr wrap="square" lIns="0" tIns="0" rIns="0" bIns="0" anchor="t">
            <a:spAutoFit/>
          </a:bodyPr>
          <a:lstStyle/>
          <a:p>
            <a:pPr algn="l">
              <a:lnSpc>
                <a:spcPct val="115000"/>
              </a:lnSpc>
            </a:pPr>
            <a:r>
              <a:rPr sz="1100" b="1">
                <a:solidFill>
                  <a:srgbClr val="FFFFFF"/>
                </a:solidFill>
                <a:latin typeface="Calibri"/>
              </a:rPr>
              <a:t>DATASET AT A GLANCE</a:t>
            </a:r>
          </a:p>
        </p:txBody>
      </p:sp>
      <p:sp>
        <p:nvSpPr>
          <p:cNvPr id="12" name="TextBox 11"/>
          <p:cNvSpPr txBox="1"/>
          <p:nvPr/>
        </p:nvSpPr>
        <p:spPr>
          <a:xfrm>
            <a:off x="7406640" y="2697480"/>
            <a:ext cx="1371600" cy="365760"/>
          </a:xfrm>
          <a:prstGeom prst="rect">
            <a:avLst/>
          </a:prstGeom>
          <a:noFill/>
        </p:spPr>
        <p:txBody>
          <a:bodyPr wrap="square" lIns="0" tIns="0" rIns="0" bIns="0" anchor="t">
            <a:spAutoFit/>
          </a:bodyPr>
          <a:lstStyle/>
          <a:p>
            <a:pPr algn="l">
              <a:lnSpc>
                <a:spcPct val="115000"/>
              </a:lnSpc>
            </a:pPr>
            <a:r>
              <a:rPr sz="1100" b="1">
                <a:solidFill>
                  <a:srgbClr val="0F766E"/>
                </a:solidFill>
                <a:latin typeface="Calibri"/>
              </a:rPr>
              <a:t>Records</a:t>
            </a:r>
          </a:p>
        </p:txBody>
      </p:sp>
      <p:sp>
        <p:nvSpPr>
          <p:cNvPr id="13" name="TextBox 12"/>
          <p:cNvSpPr txBox="1"/>
          <p:nvPr/>
        </p:nvSpPr>
        <p:spPr>
          <a:xfrm>
            <a:off x="8869680" y="2697480"/>
            <a:ext cx="2560320" cy="365760"/>
          </a:xfrm>
          <a:prstGeom prst="rect">
            <a:avLst/>
          </a:prstGeom>
          <a:noFill/>
        </p:spPr>
        <p:txBody>
          <a:bodyPr wrap="square" lIns="0" tIns="0" rIns="0" bIns="0" anchor="t">
            <a:spAutoFit/>
          </a:bodyPr>
          <a:lstStyle/>
          <a:p>
            <a:pPr algn="l">
              <a:lnSpc>
                <a:spcPct val="115000"/>
              </a:lnSpc>
            </a:pPr>
            <a:r>
              <a:rPr sz="1100" b="0">
                <a:solidFill>
                  <a:srgbClr val="1E293B"/>
                </a:solidFill>
                <a:latin typeface="Calibri"/>
              </a:rPr>
              <a:t>70,693 patients</a:t>
            </a:r>
          </a:p>
        </p:txBody>
      </p:sp>
      <p:sp>
        <p:nvSpPr>
          <p:cNvPr id="14" name="TextBox 13"/>
          <p:cNvSpPr txBox="1"/>
          <p:nvPr/>
        </p:nvSpPr>
        <p:spPr>
          <a:xfrm>
            <a:off x="7406640" y="3200400"/>
            <a:ext cx="1371600" cy="365760"/>
          </a:xfrm>
          <a:prstGeom prst="rect">
            <a:avLst/>
          </a:prstGeom>
          <a:noFill/>
        </p:spPr>
        <p:txBody>
          <a:bodyPr wrap="square" lIns="0" tIns="0" rIns="0" bIns="0" anchor="t">
            <a:spAutoFit/>
          </a:bodyPr>
          <a:lstStyle/>
          <a:p>
            <a:pPr algn="l">
              <a:lnSpc>
                <a:spcPct val="115000"/>
              </a:lnSpc>
            </a:pPr>
            <a:r>
              <a:rPr sz="1100" b="1">
                <a:solidFill>
                  <a:srgbClr val="0F766E"/>
                </a:solidFill>
                <a:latin typeface="Calibri"/>
              </a:rPr>
              <a:t>Features</a:t>
            </a:r>
          </a:p>
        </p:txBody>
      </p:sp>
      <p:sp>
        <p:nvSpPr>
          <p:cNvPr id="15" name="TextBox 14"/>
          <p:cNvSpPr txBox="1"/>
          <p:nvPr/>
        </p:nvSpPr>
        <p:spPr>
          <a:xfrm>
            <a:off x="8869680" y="3200400"/>
            <a:ext cx="2560320" cy="365760"/>
          </a:xfrm>
          <a:prstGeom prst="rect">
            <a:avLst/>
          </a:prstGeom>
          <a:noFill/>
        </p:spPr>
        <p:txBody>
          <a:bodyPr wrap="square" lIns="0" tIns="0" rIns="0" bIns="0" anchor="t">
            <a:spAutoFit/>
          </a:bodyPr>
          <a:lstStyle/>
          <a:p>
            <a:pPr algn="l">
              <a:lnSpc>
                <a:spcPct val="115000"/>
              </a:lnSpc>
            </a:pPr>
            <a:r>
              <a:rPr sz="1100" b="0">
                <a:solidFill>
                  <a:srgbClr val="1E293B"/>
                </a:solidFill>
                <a:latin typeface="Calibri"/>
              </a:rPr>
              <a:t>21 health indicators</a:t>
            </a:r>
          </a:p>
        </p:txBody>
      </p:sp>
      <p:sp>
        <p:nvSpPr>
          <p:cNvPr id="16" name="TextBox 15"/>
          <p:cNvSpPr txBox="1"/>
          <p:nvPr/>
        </p:nvSpPr>
        <p:spPr>
          <a:xfrm>
            <a:off x="7406640" y="3703320"/>
            <a:ext cx="1371600" cy="365760"/>
          </a:xfrm>
          <a:prstGeom prst="rect">
            <a:avLst/>
          </a:prstGeom>
          <a:noFill/>
        </p:spPr>
        <p:txBody>
          <a:bodyPr wrap="square" lIns="0" tIns="0" rIns="0" bIns="0" anchor="t">
            <a:spAutoFit/>
          </a:bodyPr>
          <a:lstStyle/>
          <a:p>
            <a:pPr algn="l">
              <a:lnSpc>
                <a:spcPct val="115000"/>
              </a:lnSpc>
            </a:pPr>
            <a:r>
              <a:rPr sz="1100" b="1">
                <a:solidFill>
                  <a:srgbClr val="0F766E"/>
                </a:solidFill>
                <a:latin typeface="Calibri"/>
              </a:rPr>
              <a:t>Target</a:t>
            </a:r>
          </a:p>
        </p:txBody>
      </p:sp>
      <p:sp>
        <p:nvSpPr>
          <p:cNvPr id="17" name="TextBox 16"/>
          <p:cNvSpPr txBox="1"/>
          <p:nvPr/>
        </p:nvSpPr>
        <p:spPr>
          <a:xfrm>
            <a:off x="8869680" y="3703320"/>
            <a:ext cx="2560320" cy="365760"/>
          </a:xfrm>
          <a:prstGeom prst="rect">
            <a:avLst/>
          </a:prstGeom>
          <a:noFill/>
        </p:spPr>
        <p:txBody>
          <a:bodyPr wrap="square" lIns="0" tIns="0" rIns="0" bIns="0" anchor="t">
            <a:spAutoFit/>
          </a:bodyPr>
          <a:lstStyle/>
          <a:p>
            <a:pPr algn="l">
              <a:lnSpc>
                <a:spcPct val="115000"/>
              </a:lnSpc>
            </a:pPr>
            <a:r>
              <a:rPr sz="1100" b="0">
                <a:solidFill>
                  <a:srgbClr val="1E293B"/>
                </a:solidFill>
                <a:latin typeface="Calibri"/>
              </a:rPr>
              <a:t>Diabetes_binary  (0 / 1)</a:t>
            </a:r>
          </a:p>
        </p:txBody>
      </p:sp>
      <p:sp>
        <p:nvSpPr>
          <p:cNvPr id="18" name="TextBox 17"/>
          <p:cNvSpPr txBox="1"/>
          <p:nvPr/>
        </p:nvSpPr>
        <p:spPr>
          <a:xfrm>
            <a:off x="7406640" y="4206240"/>
            <a:ext cx="1371600" cy="365760"/>
          </a:xfrm>
          <a:prstGeom prst="rect">
            <a:avLst/>
          </a:prstGeom>
          <a:noFill/>
        </p:spPr>
        <p:txBody>
          <a:bodyPr wrap="square" lIns="0" tIns="0" rIns="0" bIns="0" anchor="t">
            <a:spAutoFit/>
          </a:bodyPr>
          <a:lstStyle/>
          <a:p>
            <a:pPr algn="l">
              <a:lnSpc>
                <a:spcPct val="115000"/>
              </a:lnSpc>
            </a:pPr>
            <a:r>
              <a:rPr sz="1100" b="1">
                <a:solidFill>
                  <a:srgbClr val="0F766E"/>
                </a:solidFill>
                <a:latin typeface="Calibri"/>
              </a:rPr>
              <a:t>Balance</a:t>
            </a:r>
          </a:p>
        </p:txBody>
      </p:sp>
      <p:sp>
        <p:nvSpPr>
          <p:cNvPr id="19" name="TextBox 18"/>
          <p:cNvSpPr txBox="1"/>
          <p:nvPr/>
        </p:nvSpPr>
        <p:spPr>
          <a:xfrm>
            <a:off x="8869680" y="4206240"/>
            <a:ext cx="2560320" cy="365760"/>
          </a:xfrm>
          <a:prstGeom prst="rect">
            <a:avLst/>
          </a:prstGeom>
          <a:noFill/>
        </p:spPr>
        <p:txBody>
          <a:bodyPr wrap="square" lIns="0" tIns="0" rIns="0" bIns="0" anchor="t">
            <a:spAutoFit/>
          </a:bodyPr>
          <a:lstStyle/>
          <a:p>
            <a:pPr algn="l">
              <a:lnSpc>
                <a:spcPct val="115000"/>
              </a:lnSpc>
            </a:pPr>
            <a:r>
              <a:rPr sz="1100" b="0">
                <a:solidFill>
                  <a:srgbClr val="1E293B"/>
                </a:solidFill>
                <a:latin typeface="Calibri"/>
              </a:rPr>
              <a:t>50 % / 50 %</a:t>
            </a:r>
          </a:p>
        </p:txBody>
      </p:sp>
      <p:sp>
        <p:nvSpPr>
          <p:cNvPr id="20" name="TextBox 19"/>
          <p:cNvSpPr txBox="1"/>
          <p:nvPr/>
        </p:nvSpPr>
        <p:spPr>
          <a:xfrm>
            <a:off x="7406640" y="4709160"/>
            <a:ext cx="1371600" cy="365760"/>
          </a:xfrm>
          <a:prstGeom prst="rect">
            <a:avLst/>
          </a:prstGeom>
          <a:noFill/>
        </p:spPr>
        <p:txBody>
          <a:bodyPr wrap="square" lIns="0" tIns="0" rIns="0" bIns="0" anchor="t">
            <a:spAutoFit/>
          </a:bodyPr>
          <a:lstStyle/>
          <a:p>
            <a:pPr algn="l">
              <a:lnSpc>
                <a:spcPct val="115000"/>
              </a:lnSpc>
            </a:pPr>
            <a:r>
              <a:rPr sz="1100" b="1">
                <a:solidFill>
                  <a:srgbClr val="0F766E"/>
                </a:solidFill>
                <a:latin typeface="Calibri"/>
              </a:rPr>
              <a:t>Type</a:t>
            </a:r>
          </a:p>
        </p:txBody>
      </p:sp>
      <p:sp>
        <p:nvSpPr>
          <p:cNvPr id="21" name="TextBox 20"/>
          <p:cNvSpPr txBox="1"/>
          <p:nvPr/>
        </p:nvSpPr>
        <p:spPr>
          <a:xfrm>
            <a:off x="8869680" y="4709160"/>
            <a:ext cx="2560320" cy="365760"/>
          </a:xfrm>
          <a:prstGeom prst="rect">
            <a:avLst/>
          </a:prstGeom>
          <a:noFill/>
        </p:spPr>
        <p:txBody>
          <a:bodyPr wrap="square" lIns="0" tIns="0" rIns="0" bIns="0" anchor="t">
            <a:spAutoFit/>
          </a:bodyPr>
          <a:lstStyle/>
          <a:p>
            <a:pPr algn="l">
              <a:lnSpc>
                <a:spcPct val="115000"/>
              </a:lnSpc>
            </a:pPr>
            <a:r>
              <a:rPr sz="1100" b="0">
                <a:solidFill>
                  <a:srgbClr val="1E293B"/>
                </a:solidFill>
                <a:latin typeface="Calibri"/>
              </a:rPr>
              <a:t>Tabular · structured</a:t>
            </a:r>
          </a:p>
        </p:txBody>
      </p:sp>
      <p:sp>
        <p:nvSpPr>
          <p:cNvPr id="22" name="TextBox 21"/>
          <p:cNvSpPr txBox="1"/>
          <p:nvPr/>
        </p:nvSpPr>
        <p:spPr>
          <a:xfrm>
            <a:off x="7406640" y="5212080"/>
            <a:ext cx="1371600" cy="365760"/>
          </a:xfrm>
          <a:prstGeom prst="rect">
            <a:avLst/>
          </a:prstGeom>
          <a:noFill/>
        </p:spPr>
        <p:txBody>
          <a:bodyPr wrap="square" lIns="0" tIns="0" rIns="0" bIns="0" anchor="t">
            <a:spAutoFit/>
          </a:bodyPr>
          <a:lstStyle/>
          <a:p>
            <a:pPr algn="l">
              <a:lnSpc>
                <a:spcPct val="115000"/>
              </a:lnSpc>
            </a:pPr>
            <a:r>
              <a:rPr sz="1100" b="1">
                <a:solidFill>
                  <a:srgbClr val="0F766E"/>
                </a:solidFill>
                <a:latin typeface="Calibri"/>
              </a:rPr>
              <a:t>Task</a:t>
            </a:r>
          </a:p>
        </p:txBody>
      </p:sp>
      <p:sp>
        <p:nvSpPr>
          <p:cNvPr id="23" name="TextBox 22"/>
          <p:cNvSpPr txBox="1"/>
          <p:nvPr/>
        </p:nvSpPr>
        <p:spPr>
          <a:xfrm>
            <a:off x="8869680" y="5212080"/>
            <a:ext cx="2560320" cy="365760"/>
          </a:xfrm>
          <a:prstGeom prst="rect">
            <a:avLst/>
          </a:prstGeom>
          <a:noFill/>
        </p:spPr>
        <p:txBody>
          <a:bodyPr wrap="square" lIns="0" tIns="0" rIns="0" bIns="0" anchor="t">
            <a:spAutoFit/>
          </a:bodyPr>
          <a:lstStyle/>
          <a:p>
            <a:pPr algn="l">
              <a:lnSpc>
                <a:spcPct val="115000"/>
              </a:lnSpc>
            </a:pPr>
            <a:r>
              <a:rPr sz="1100" b="0">
                <a:solidFill>
                  <a:srgbClr val="1E293B"/>
                </a:solidFill>
                <a:latin typeface="Calibri"/>
              </a:rPr>
              <a:t>Binary classification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6510528"/>
            <a:ext cx="7315200" cy="274320"/>
          </a:xfrm>
          <a:prstGeom prst="rect">
            <a:avLst/>
          </a:prstGeom>
          <a:noFill/>
        </p:spPr>
        <p:txBody>
          <a:bodyPr wrap="square" lIns="0" tIns="0" rIns="0" bIns="0" anchor="t">
            <a:spAutoFit/>
          </a:bodyPr>
          <a:lstStyle/>
          <a:p>
            <a:pPr algn="l">
              <a:lnSpc>
                <a:spcPct val="115000"/>
              </a:lnSpc>
            </a:pPr>
            <a:r>
              <a:rPr sz="900" b="0">
                <a:solidFill>
                  <a:srgbClr val="94A3B8"/>
                </a:solidFill>
                <a:latin typeface="Calibri"/>
              </a:rPr>
              <a:t>Diabetes Risk Prediction  ·  Intro to Data Science  ·  Sem 2</a:t>
            </a:r>
          </a:p>
        </p:txBody>
      </p:sp>
      <p:sp>
        <p:nvSpPr>
          <p:cNvPr id="4" name="TextBox 3"/>
          <p:cNvSpPr txBox="1"/>
          <p:nvPr/>
        </p:nvSpPr>
        <p:spPr>
          <a:xfrm>
            <a:off x="11094415" y="6510528"/>
            <a:ext cx="822960" cy="274320"/>
          </a:xfrm>
          <a:prstGeom prst="rect">
            <a:avLst/>
          </a:prstGeom>
          <a:noFill/>
        </p:spPr>
        <p:txBody>
          <a:bodyPr wrap="square" lIns="0" tIns="0" rIns="0" bIns="0" anchor="t">
            <a:spAutoFit/>
          </a:bodyPr>
          <a:lstStyle/>
          <a:p>
            <a:pPr algn="r">
              <a:lnSpc>
                <a:spcPct val="115000"/>
              </a:lnSpc>
            </a:pPr>
            <a:r>
              <a:rPr sz="900" b="0">
                <a:solidFill>
                  <a:srgbClr val="94A3B8"/>
                </a:solidFill>
                <a:latin typeface="Calibri"/>
              </a:rPr>
              <a:t>5 / 17</a:t>
            </a:r>
          </a:p>
        </p:txBody>
      </p:sp>
      <p:sp>
        <p:nvSpPr>
          <p:cNvPr id="5" name="TextBox 4"/>
          <p:cNvSpPr txBox="1"/>
          <p:nvPr/>
        </p:nvSpPr>
        <p:spPr>
          <a:xfrm>
            <a:off x="640080" y="502920"/>
            <a:ext cx="10972800" cy="274320"/>
          </a:xfrm>
          <a:prstGeom prst="rect">
            <a:avLst/>
          </a:prstGeom>
          <a:noFill/>
        </p:spPr>
        <p:txBody>
          <a:bodyPr wrap="square" lIns="0" tIns="0" rIns="0" bIns="0" anchor="t">
            <a:spAutoFit/>
          </a:bodyPr>
          <a:lstStyle/>
          <a:p>
            <a:pPr algn="l">
              <a:lnSpc>
                <a:spcPct val="115000"/>
              </a:lnSpc>
            </a:pPr>
            <a:r>
              <a:rPr sz="1000" b="1">
                <a:solidFill>
                  <a:srgbClr val="F59E0B"/>
                </a:solidFill>
                <a:latin typeface="Calibri"/>
              </a:rPr>
              <a:t>03  ·  VARIABLES</a:t>
            </a:r>
          </a:p>
        </p:txBody>
      </p:sp>
      <p:sp>
        <p:nvSpPr>
          <p:cNvPr id="6" name="TextBox 5"/>
          <p:cNvSpPr txBox="1"/>
          <p:nvPr/>
        </p:nvSpPr>
        <p:spPr>
          <a:xfrm>
            <a:off x="640080" y="822960"/>
            <a:ext cx="10972800" cy="685800"/>
          </a:xfrm>
          <a:prstGeom prst="rect">
            <a:avLst/>
          </a:prstGeom>
          <a:noFill/>
        </p:spPr>
        <p:txBody>
          <a:bodyPr wrap="square" lIns="0" tIns="0" rIns="0" bIns="0" anchor="t">
            <a:spAutoFit/>
          </a:bodyPr>
          <a:lstStyle/>
          <a:p>
            <a:pPr algn="l">
              <a:lnSpc>
                <a:spcPct val="115000"/>
              </a:lnSpc>
            </a:pPr>
            <a:r>
              <a:rPr sz="2800" b="1">
                <a:solidFill>
                  <a:srgbClr val="1E293B"/>
                </a:solidFill>
                <a:latin typeface="Calibri"/>
              </a:rPr>
              <a:t>Target and features</a:t>
            </a:r>
          </a:p>
        </p:txBody>
      </p:sp>
      <p:sp>
        <p:nvSpPr>
          <p:cNvPr id="7" name="Rectangle 6"/>
          <p:cNvSpPr/>
          <p:nvPr/>
        </p:nvSpPr>
        <p:spPr>
          <a:xfrm>
            <a:off x="640080" y="1463040"/>
            <a:ext cx="457200" cy="45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0080" y="1920240"/>
            <a:ext cx="10972800" cy="868680"/>
          </a:xfrm>
          <a:prstGeom prst="rect">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40080" y="1920240"/>
            <a:ext cx="73152" cy="8686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2011680"/>
            <a:ext cx="2743200" cy="274320"/>
          </a:xfrm>
          <a:prstGeom prst="rect">
            <a:avLst/>
          </a:prstGeom>
          <a:noFill/>
        </p:spPr>
        <p:txBody>
          <a:bodyPr wrap="square" lIns="0" tIns="0" rIns="0" bIns="0" anchor="t">
            <a:spAutoFit/>
          </a:bodyPr>
          <a:lstStyle/>
          <a:p>
            <a:pPr algn="l">
              <a:lnSpc>
                <a:spcPct val="115000"/>
              </a:lnSpc>
            </a:pPr>
            <a:r>
              <a:rPr sz="1000" b="1">
                <a:solidFill>
                  <a:srgbClr val="F59E0B"/>
                </a:solidFill>
                <a:latin typeface="Calibri"/>
              </a:rPr>
              <a:t>TARGET VARIABLE  (y)</a:t>
            </a:r>
          </a:p>
        </p:txBody>
      </p:sp>
      <p:sp>
        <p:nvSpPr>
          <p:cNvPr id="11" name="TextBox 10"/>
          <p:cNvSpPr txBox="1"/>
          <p:nvPr/>
        </p:nvSpPr>
        <p:spPr>
          <a:xfrm>
            <a:off x="868680" y="2286000"/>
            <a:ext cx="10972800" cy="457200"/>
          </a:xfrm>
          <a:prstGeom prst="rect">
            <a:avLst/>
          </a:prstGeom>
          <a:noFill/>
        </p:spPr>
        <p:txBody>
          <a:bodyPr wrap="square" lIns="0" tIns="0" rIns="0" bIns="0" anchor="t">
            <a:spAutoFit/>
          </a:bodyPr>
          <a:lstStyle/>
          <a:p>
            <a:pPr algn="l">
              <a:lnSpc>
                <a:spcPct val="115000"/>
              </a:lnSpc>
            </a:pPr>
            <a:r>
              <a:rPr sz="1600" b="1">
                <a:solidFill>
                  <a:srgbClr val="1E293B"/>
                </a:solidFill>
                <a:latin typeface="Calibri"/>
              </a:rPr>
              <a:t>Diabetes_binary  →  0 = No Diabetes   ·   1 = Diabetes / Prediabetes</a:t>
            </a:r>
          </a:p>
        </p:txBody>
      </p:sp>
      <p:sp>
        <p:nvSpPr>
          <p:cNvPr id="12" name="TextBox 11"/>
          <p:cNvSpPr txBox="1"/>
          <p:nvPr/>
        </p:nvSpPr>
        <p:spPr>
          <a:xfrm>
            <a:off x="640080" y="2971800"/>
            <a:ext cx="7315200" cy="365760"/>
          </a:xfrm>
          <a:prstGeom prst="rect">
            <a:avLst/>
          </a:prstGeom>
          <a:noFill/>
        </p:spPr>
        <p:txBody>
          <a:bodyPr wrap="square" lIns="0" tIns="0" rIns="0" bIns="0" anchor="t">
            <a:spAutoFit/>
          </a:bodyPr>
          <a:lstStyle/>
          <a:p>
            <a:pPr algn="l">
              <a:lnSpc>
                <a:spcPct val="115000"/>
              </a:lnSpc>
            </a:pPr>
            <a:r>
              <a:rPr sz="1000" b="1">
                <a:solidFill>
                  <a:srgbClr val="F59E0B"/>
                </a:solidFill>
                <a:latin typeface="Calibri"/>
              </a:rPr>
              <a:t>21 FEATURES  (X)</a:t>
            </a:r>
          </a:p>
        </p:txBody>
      </p:sp>
      <p:sp>
        <p:nvSpPr>
          <p:cNvPr id="13" name="Rectangle 12"/>
          <p:cNvSpPr/>
          <p:nvPr/>
        </p:nvSpPr>
        <p:spPr>
          <a:xfrm>
            <a:off x="640080" y="3383280"/>
            <a:ext cx="3749039" cy="301752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40080" y="3383280"/>
            <a:ext cx="3749039" cy="36576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68680" y="3447288"/>
            <a:ext cx="3383279" cy="274320"/>
          </a:xfrm>
          <a:prstGeom prst="rect">
            <a:avLst/>
          </a:prstGeom>
          <a:noFill/>
        </p:spPr>
        <p:txBody>
          <a:bodyPr wrap="square" lIns="0" tIns="0" rIns="0" bIns="0" anchor="t">
            <a:spAutoFit/>
          </a:bodyPr>
          <a:lstStyle/>
          <a:p>
            <a:pPr algn="l">
              <a:lnSpc>
                <a:spcPct val="115000"/>
              </a:lnSpc>
            </a:pPr>
            <a:r>
              <a:rPr sz="1000" b="1">
                <a:solidFill>
                  <a:srgbClr val="FFFFFF"/>
                </a:solidFill>
                <a:latin typeface="Calibri"/>
              </a:rPr>
              <a:t>VITAL  ·  CLINICAL</a:t>
            </a:r>
          </a:p>
        </p:txBody>
      </p:sp>
      <p:sp>
        <p:nvSpPr>
          <p:cNvPr id="16" name="TextBox 15"/>
          <p:cNvSpPr txBox="1"/>
          <p:nvPr/>
        </p:nvSpPr>
        <p:spPr>
          <a:xfrm>
            <a:off x="868680" y="3886200"/>
            <a:ext cx="3383279" cy="2468880"/>
          </a:xfrm>
          <a:prstGeom prst="rect">
            <a:avLst/>
          </a:prstGeom>
          <a:noFill/>
        </p:spPr>
        <p:txBody>
          <a:bodyPr wrap="square" lIns="0" tIns="0" rIns="0" bIns="0">
            <a:spAutoFit/>
          </a:bodyPr>
          <a:lstStyle/>
          <a:p>
            <a:pPr algn="l">
              <a:lnSpc>
                <a:spcPct val="125000"/>
              </a:lnSpc>
              <a:spcAft>
                <a:spcPts val="400"/>
              </a:spcAft>
            </a:pPr>
            <a:r>
              <a:rPr sz="1100" b="1">
                <a:solidFill>
                  <a:srgbClr val="0F766E"/>
                </a:solidFill>
                <a:latin typeface="Calibri"/>
              </a:rPr>
              <a:t>·  </a:t>
            </a:r>
            <a:r>
              <a:rPr sz="1100">
                <a:solidFill>
                  <a:srgbClr val="1E293B"/>
                </a:solidFill>
                <a:latin typeface="Calibri"/>
              </a:rPr>
              <a:t>HighBP — high blood pressure</a:t>
            </a:r>
          </a:p>
          <a:p>
            <a:pPr algn="l">
              <a:lnSpc>
                <a:spcPct val="125000"/>
              </a:lnSpc>
              <a:spcAft>
                <a:spcPts val="400"/>
              </a:spcAft>
            </a:pPr>
            <a:r>
              <a:rPr sz="1100" b="1">
                <a:solidFill>
                  <a:srgbClr val="0F766E"/>
                </a:solidFill>
                <a:latin typeface="Calibri"/>
              </a:rPr>
              <a:t>·  </a:t>
            </a:r>
            <a:r>
              <a:rPr sz="1100">
                <a:solidFill>
                  <a:srgbClr val="1E293B"/>
                </a:solidFill>
                <a:latin typeface="Calibri"/>
              </a:rPr>
              <a:t>HighChol — high cholesterol</a:t>
            </a:r>
          </a:p>
          <a:p>
            <a:pPr algn="l">
              <a:lnSpc>
                <a:spcPct val="125000"/>
              </a:lnSpc>
              <a:spcAft>
                <a:spcPts val="400"/>
              </a:spcAft>
            </a:pPr>
            <a:r>
              <a:rPr sz="1100" b="1">
                <a:solidFill>
                  <a:srgbClr val="0F766E"/>
                </a:solidFill>
                <a:latin typeface="Calibri"/>
              </a:rPr>
              <a:t>·  </a:t>
            </a:r>
            <a:r>
              <a:rPr sz="1100">
                <a:solidFill>
                  <a:srgbClr val="1E293B"/>
                </a:solidFill>
                <a:latin typeface="Calibri"/>
              </a:rPr>
              <a:t>CholCheck — checked in 5 years</a:t>
            </a:r>
          </a:p>
          <a:p>
            <a:pPr algn="l">
              <a:lnSpc>
                <a:spcPct val="125000"/>
              </a:lnSpc>
              <a:spcAft>
                <a:spcPts val="400"/>
              </a:spcAft>
            </a:pPr>
            <a:r>
              <a:rPr sz="1100" b="1">
                <a:solidFill>
                  <a:srgbClr val="0F766E"/>
                </a:solidFill>
                <a:latin typeface="Calibri"/>
              </a:rPr>
              <a:t>·  </a:t>
            </a:r>
            <a:r>
              <a:rPr sz="1100">
                <a:solidFill>
                  <a:srgbClr val="1E293B"/>
                </a:solidFill>
                <a:latin typeface="Calibri"/>
              </a:rPr>
              <a:t>BMI — Body Mass Index</a:t>
            </a:r>
          </a:p>
          <a:p>
            <a:pPr algn="l">
              <a:lnSpc>
                <a:spcPct val="125000"/>
              </a:lnSpc>
              <a:spcAft>
                <a:spcPts val="400"/>
              </a:spcAft>
            </a:pPr>
            <a:r>
              <a:rPr sz="1100" b="1">
                <a:solidFill>
                  <a:srgbClr val="0F766E"/>
                </a:solidFill>
                <a:latin typeface="Calibri"/>
              </a:rPr>
              <a:t>·  </a:t>
            </a:r>
            <a:r>
              <a:rPr sz="1100">
                <a:solidFill>
                  <a:srgbClr val="1E293B"/>
                </a:solidFill>
                <a:latin typeface="Calibri"/>
              </a:rPr>
              <a:t>Stroke — ever had a stroke</a:t>
            </a:r>
          </a:p>
          <a:p>
            <a:pPr algn="l">
              <a:lnSpc>
                <a:spcPct val="125000"/>
              </a:lnSpc>
              <a:spcAft>
                <a:spcPts val="400"/>
              </a:spcAft>
            </a:pPr>
            <a:r>
              <a:rPr sz="1100" b="1">
                <a:solidFill>
                  <a:srgbClr val="0F766E"/>
                </a:solidFill>
                <a:latin typeface="Calibri"/>
              </a:rPr>
              <a:t>·  </a:t>
            </a:r>
            <a:r>
              <a:rPr sz="1100">
                <a:solidFill>
                  <a:srgbClr val="1E293B"/>
                </a:solidFill>
                <a:latin typeface="Calibri"/>
              </a:rPr>
              <a:t>HeartDiseaseorAttack</a:t>
            </a:r>
          </a:p>
          <a:p>
            <a:pPr algn="l">
              <a:lnSpc>
                <a:spcPct val="125000"/>
              </a:lnSpc>
              <a:spcAft>
                <a:spcPts val="400"/>
              </a:spcAft>
            </a:pPr>
            <a:r>
              <a:rPr sz="1100" b="1">
                <a:solidFill>
                  <a:srgbClr val="0F766E"/>
                </a:solidFill>
                <a:latin typeface="Calibri"/>
              </a:rPr>
              <a:t>·  </a:t>
            </a:r>
            <a:r>
              <a:rPr sz="1100">
                <a:solidFill>
                  <a:srgbClr val="1E293B"/>
                </a:solidFill>
                <a:latin typeface="Calibri"/>
              </a:rPr>
              <a:t>DiffWalk — difficulty walking</a:t>
            </a:r>
          </a:p>
        </p:txBody>
      </p:sp>
      <p:sp>
        <p:nvSpPr>
          <p:cNvPr id="17" name="Rectangle 16"/>
          <p:cNvSpPr/>
          <p:nvPr/>
        </p:nvSpPr>
        <p:spPr>
          <a:xfrm>
            <a:off x="4572000" y="3383280"/>
            <a:ext cx="3749039" cy="301752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572000" y="3383280"/>
            <a:ext cx="3749039" cy="36576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800600" y="3447288"/>
            <a:ext cx="3383279" cy="274320"/>
          </a:xfrm>
          <a:prstGeom prst="rect">
            <a:avLst/>
          </a:prstGeom>
          <a:noFill/>
        </p:spPr>
        <p:txBody>
          <a:bodyPr wrap="square" lIns="0" tIns="0" rIns="0" bIns="0" anchor="t">
            <a:spAutoFit/>
          </a:bodyPr>
          <a:lstStyle/>
          <a:p>
            <a:pPr algn="l">
              <a:lnSpc>
                <a:spcPct val="115000"/>
              </a:lnSpc>
            </a:pPr>
            <a:r>
              <a:rPr sz="1000" b="1">
                <a:solidFill>
                  <a:srgbClr val="FFFFFF"/>
                </a:solidFill>
                <a:latin typeface="Calibri"/>
              </a:rPr>
              <a:t>LIFESTYLE</a:t>
            </a:r>
          </a:p>
        </p:txBody>
      </p:sp>
      <p:sp>
        <p:nvSpPr>
          <p:cNvPr id="20" name="TextBox 19"/>
          <p:cNvSpPr txBox="1"/>
          <p:nvPr/>
        </p:nvSpPr>
        <p:spPr>
          <a:xfrm>
            <a:off x="4800600" y="3886200"/>
            <a:ext cx="3383279" cy="2468880"/>
          </a:xfrm>
          <a:prstGeom prst="rect">
            <a:avLst/>
          </a:prstGeom>
          <a:noFill/>
        </p:spPr>
        <p:txBody>
          <a:bodyPr wrap="square" lIns="0" tIns="0" rIns="0" bIns="0">
            <a:spAutoFit/>
          </a:bodyPr>
          <a:lstStyle/>
          <a:p>
            <a:pPr algn="l">
              <a:lnSpc>
                <a:spcPct val="125000"/>
              </a:lnSpc>
              <a:spcAft>
                <a:spcPts val="400"/>
              </a:spcAft>
            </a:pPr>
            <a:r>
              <a:rPr sz="1100" b="1">
                <a:solidFill>
                  <a:srgbClr val="0F766E"/>
                </a:solidFill>
                <a:latin typeface="Calibri"/>
              </a:rPr>
              <a:t>·  </a:t>
            </a:r>
            <a:r>
              <a:rPr sz="1100">
                <a:solidFill>
                  <a:srgbClr val="1E293B"/>
                </a:solidFill>
                <a:latin typeface="Calibri"/>
              </a:rPr>
              <a:t>Smoker</a:t>
            </a:r>
          </a:p>
          <a:p>
            <a:pPr algn="l">
              <a:lnSpc>
                <a:spcPct val="125000"/>
              </a:lnSpc>
              <a:spcAft>
                <a:spcPts val="400"/>
              </a:spcAft>
            </a:pPr>
            <a:r>
              <a:rPr sz="1100" b="1">
                <a:solidFill>
                  <a:srgbClr val="0F766E"/>
                </a:solidFill>
                <a:latin typeface="Calibri"/>
              </a:rPr>
              <a:t>·  </a:t>
            </a:r>
            <a:r>
              <a:rPr sz="1100">
                <a:solidFill>
                  <a:srgbClr val="1E293B"/>
                </a:solidFill>
                <a:latin typeface="Calibri"/>
              </a:rPr>
              <a:t>PhysActivity</a:t>
            </a:r>
          </a:p>
          <a:p>
            <a:pPr algn="l">
              <a:lnSpc>
                <a:spcPct val="125000"/>
              </a:lnSpc>
              <a:spcAft>
                <a:spcPts val="400"/>
              </a:spcAft>
            </a:pPr>
            <a:r>
              <a:rPr sz="1100" b="1">
                <a:solidFill>
                  <a:srgbClr val="0F766E"/>
                </a:solidFill>
                <a:latin typeface="Calibri"/>
              </a:rPr>
              <a:t>·  </a:t>
            </a:r>
            <a:r>
              <a:rPr sz="1100">
                <a:solidFill>
                  <a:srgbClr val="1E293B"/>
                </a:solidFill>
                <a:latin typeface="Calibri"/>
              </a:rPr>
              <a:t>Fruits</a:t>
            </a:r>
          </a:p>
          <a:p>
            <a:pPr algn="l">
              <a:lnSpc>
                <a:spcPct val="125000"/>
              </a:lnSpc>
              <a:spcAft>
                <a:spcPts val="400"/>
              </a:spcAft>
            </a:pPr>
            <a:r>
              <a:rPr sz="1100" b="1">
                <a:solidFill>
                  <a:srgbClr val="0F766E"/>
                </a:solidFill>
                <a:latin typeface="Calibri"/>
              </a:rPr>
              <a:t>·  </a:t>
            </a:r>
            <a:r>
              <a:rPr sz="1100">
                <a:solidFill>
                  <a:srgbClr val="1E293B"/>
                </a:solidFill>
                <a:latin typeface="Calibri"/>
              </a:rPr>
              <a:t>Veggies</a:t>
            </a:r>
          </a:p>
          <a:p>
            <a:pPr algn="l">
              <a:lnSpc>
                <a:spcPct val="125000"/>
              </a:lnSpc>
              <a:spcAft>
                <a:spcPts val="400"/>
              </a:spcAft>
            </a:pPr>
            <a:r>
              <a:rPr sz="1100" b="1">
                <a:solidFill>
                  <a:srgbClr val="0F766E"/>
                </a:solidFill>
                <a:latin typeface="Calibri"/>
              </a:rPr>
              <a:t>·  </a:t>
            </a:r>
            <a:r>
              <a:rPr sz="1100">
                <a:solidFill>
                  <a:srgbClr val="1E293B"/>
                </a:solidFill>
                <a:latin typeface="Calibri"/>
              </a:rPr>
              <a:t>HvyAlcoholConsump</a:t>
            </a:r>
          </a:p>
          <a:p>
            <a:pPr algn="l">
              <a:lnSpc>
                <a:spcPct val="125000"/>
              </a:lnSpc>
              <a:spcAft>
                <a:spcPts val="400"/>
              </a:spcAft>
            </a:pPr>
            <a:r>
              <a:rPr sz="1100" b="1">
                <a:solidFill>
                  <a:srgbClr val="0F766E"/>
                </a:solidFill>
                <a:latin typeface="Calibri"/>
              </a:rPr>
              <a:t>·  </a:t>
            </a:r>
            <a:r>
              <a:rPr sz="1100">
                <a:solidFill>
                  <a:srgbClr val="1E293B"/>
                </a:solidFill>
                <a:latin typeface="Calibri"/>
              </a:rPr>
              <a:t>AnyHealthcare</a:t>
            </a:r>
          </a:p>
          <a:p>
            <a:pPr algn="l">
              <a:lnSpc>
                <a:spcPct val="125000"/>
              </a:lnSpc>
              <a:spcAft>
                <a:spcPts val="400"/>
              </a:spcAft>
            </a:pPr>
            <a:r>
              <a:rPr sz="1100" b="1">
                <a:solidFill>
                  <a:srgbClr val="0F766E"/>
                </a:solidFill>
                <a:latin typeface="Calibri"/>
              </a:rPr>
              <a:t>·  </a:t>
            </a:r>
            <a:r>
              <a:rPr sz="1100">
                <a:solidFill>
                  <a:srgbClr val="1E293B"/>
                </a:solidFill>
                <a:latin typeface="Calibri"/>
              </a:rPr>
              <a:t>NoDocbcCost</a:t>
            </a:r>
          </a:p>
        </p:txBody>
      </p:sp>
      <p:sp>
        <p:nvSpPr>
          <p:cNvPr id="21" name="Rectangle 20"/>
          <p:cNvSpPr/>
          <p:nvPr/>
        </p:nvSpPr>
        <p:spPr>
          <a:xfrm>
            <a:off x="8503921" y="3383280"/>
            <a:ext cx="3538728" cy="301752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503920" y="3383280"/>
            <a:ext cx="3538729" cy="36576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732520" y="3447288"/>
            <a:ext cx="3310129" cy="166584"/>
          </a:xfrm>
          <a:prstGeom prst="rect">
            <a:avLst/>
          </a:prstGeom>
          <a:noFill/>
        </p:spPr>
        <p:txBody>
          <a:bodyPr wrap="square" lIns="0" tIns="0" rIns="0" bIns="0" anchor="t">
            <a:spAutoFit/>
          </a:bodyPr>
          <a:lstStyle/>
          <a:p>
            <a:pPr algn="l">
              <a:lnSpc>
                <a:spcPct val="115000"/>
              </a:lnSpc>
            </a:pPr>
            <a:r>
              <a:rPr sz="1000" b="1">
                <a:solidFill>
                  <a:srgbClr val="FFFFFF"/>
                </a:solidFill>
                <a:latin typeface="Calibri"/>
              </a:rPr>
              <a:t>SELF-REPORTED  ·  DEMOGRAPHICS</a:t>
            </a:r>
          </a:p>
        </p:txBody>
      </p:sp>
      <p:sp>
        <p:nvSpPr>
          <p:cNvPr id="24" name="TextBox 23"/>
          <p:cNvSpPr txBox="1"/>
          <p:nvPr/>
        </p:nvSpPr>
        <p:spPr>
          <a:xfrm>
            <a:off x="8732520" y="3886200"/>
            <a:ext cx="3383279" cy="2468880"/>
          </a:xfrm>
          <a:prstGeom prst="rect">
            <a:avLst/>
          </a:prstGeom>
          <a:noFill/>
        </p:spPr>
        <p:txBody>
          <a:bodyPr wrap="square" lIns="0" tIns="0" rIns="0" bIns="0">
            <a:spAutoFit/>
          </a:bodyPr>
          <a:lstStyle/>
          <a:p>
            <a:pPr algn="l">
              <a:lnSpc>
                <a:spcPct val="125000"/>
              </a:lnSpc>
              <a:spcAft>
                <a:spcPts val="400"/>
              </a:spcAft>
            </a:pPr>
            <a:r>
              <a:rPr sz="1100" b="1">
                <a:solidFill>
                  <a:srgbClr val="0F766E"/>
                </a:solidFill>
                <a:latin typeface="Calibri"/>
              </a:rPr>
              <a:t>·  </a:t>
            </a:r>
            <a:r>
              <a:rPr sz="1100">
                <a:solidFill>
                  <a:srgbClr val="1E293B"/>
                </a:solidFill>
                <a:latin typeface="Calibri"/>
              </a:rPr>
              <a:t>GenHlth — general health (1-5)</a:t>
            </a:r>
          </a:p>
          <a:p>
            <a:pPr algn="l">
              <a:lnSpc>
                <a:spcPct val="125000"/>
              </a:lnSpc>
              <a:spcAft>
                <a:spcPts val="400"/>
              </a:spcAft>
            </a:pPr>
            <a:r>
              <a:rPr sz="1100" b="1">
                <a:solidFill>
                  <a:srgbClr val="0F766E"/>
                </a:solidFill>
                <a:latin typeface="Calibri"/>
              </a:rPr>
              <a:t>·  </a:t>
            </a:r>
            <a:r>
              <a:rPr sz="1100">
                <a:solidFill>
                  <a:srgbClr val="1E293B"/>
                </a:solidFill>
                <a:latin typeface="Calibri"/>
              </a:rPr>
              <a:t>MentHlth — bad-mood days</a:t>
            </a:r>
          </a:p>
          <a:p>
            <a:pPr algn="l">
              <a:lnSpc>
                <a:spcPct val="125000"/>
              </a:lnSpc>
              <a:spcAft>
                <a:spcPts val="400"/>
              </a:spcAft>
            </a:pPr>
            <a:r>
              <a:rPr sz="1100" b="1">
                <a:solidFill>
                  <a:srgbClr val="0F766E"/>
                </a:solidFill>
                <a:latin typeface="Calibri"/>
              </a:rPr>
              <a:t>·  </a:t>
            </a:r>
            <a:r>
              <a:rPr sz="1100">
                <a:solidFill>
                  <a:srgbClr val="1E293B"/>
                </a:solidFill>
                <a:latin typeface="Calibri"/>
              </a:rPr>
              <a:t>PhysHlth — sick days</a:t>
            </a:r>
          </a:p>
          <a:p>
            <a:pPr algn="l">
              <a:lnSpc>
                <a:spcPct val="125000"/>
              </a:lnSpc>
              <a:spcAft>
                <a:spcPts val="400"/>
              </a:spcAft>
            </a:pPr>
            <a:r>
              <a:rPr sz="1100" b="1">
                <a:solidFill>
                  <a:srgbClr val="0F766E"/>
                </a:solidFill>
                <a:latin typeface="Calibri"/>
              </a:rPr>
              <a:t>·  </a:t>
            </a:r>
            <a:r>
              <a:rPr sz="1100">
                <a:solidFill>
                  <a:srgbClr val="1E293B"/>
                </a:solidFill>
                <a:latin typeface="Calibri"/>
              </a:rPr>
              <a:t>Sex — 0 female / 1 male</a:t>
            </a:r>
          </a:p>
          <a:p>
            <a:pPr algn="l">
              <a:lnSpc>
                <a:spcPct val="125000"/>
              </a:lnSpc>
              <a:spcAft>
                <a:spcPts val="400"/>
              </a:spcAft>
            </a:pPr>
            <a:r>
              <a:rPr sz="1100" b="1">
                <a:solidFill>
                  <a:srgbClr val="0F766E"/>
                </a:solidFill>
                <a:latin typeface="Calibri"/>
              </a:rPr>
              <a:t>·  </a:t>
            </a:r>
            <a:r>
              <a:rPr sz="1100">
                <a:solidFill>
                  <a:srgbClr val="1E293B"/>
                </a:solidFill>
                <a:latin typeface="Calibri"/>
              </a:rPr>
              <a:t>Age — group (1-13)</a:t>
            </a:r>
          </a:p>
          <a:p>
            <a:pPr algn="l">
              <a:lnSpc>
                <a:spcPct val="125000"/>
              </a:lnSpc>
              <a:spcAft>
                <a:spcPts val="400"/>
              </a:spcAft>
            </a:pPr>
            <a:r>
              <a:rPr sz="1100" b="1">
                <a:solidFill>
                  <a:srgbClr val="0F766E"/>
                </a:solidFill>
                <a:latin typeface="Calibri"/>
              </a:rPr>
              <a:t>·  </a:t>
            </a:r>
            <a:r>
              <a:rPr sz="1100">
                <a:solidFill>
                  <a:srgbClr val="1E293B"/>
                </a:solidFill>
                <a:latin typeface="Calibri"/>
              </a:rPr>
              <a:t>Education — level (1-6)</a:t>
            </a:r>
          </a:p>
          <a:p>
            <a:pPr algn="l">
              <a:lnSpc>
                <a:spcPct val="125000"/>
              </a:lnSpc>
              <a:spcAft>
                <a:spcPts val="400"/>
              </a:spcAft>
            </a:pPr>
            <a:r>
              <a:rPr sz="1100" b="1">
                <a:solidFill>
                  <a:srgbClr val="0F766E"/>
                </a:solidFill>
                <a:latin typeface="Calibri"/>
              </a:rPr>
              <a:t>·  </a:t>
            </a:r>
            <a:r>
              <a:rPr sz="1100">
                <a:solidFill>
                  <a:srgbClr val="1E293B"/>
                </a:solidFill>
                <a:latin typeface="Calibri"/>
              </a:rPr>
              <a:t>Income — bracket (1-8)</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6510528"/>
            <a:ext cx="7315200" cy="274320"/>
          </a:xfrm>
          <a:prstGeom prst="rect">
            <a:avLst/>
          </a:prstGeom>
          <a:noFill/>
        </p:spPr>
        <p:txBody>
          <a:bodyPr wrap="square" lIns="0" tIns="0" rIns="0" bIns="0" anchor="t">
            <a:spAutoFit/>
          </a:bodyPr>
          <a:lstStyle/>
          <a:p>
            <a:pPr algn="l">
              <a:lnSpc>
                <a:spcPct val="115000"/>
              </a:lnSpc>
            </a:pPr>
            <a:r>
              <a:rPr sz="900" b="0">
                <a:solidFill>
                  <a:srgbClr val="94A3B8"/>
                </a:solidFill>
                <a:latin typeface="Calibri"/>
              </a:rPr>
              <a:t>Diabetes Risk Prediction  ·  Intro to Data Science  ·  Sem 2</a:t>
            </a:r>
          </a:p>
        </p:txBody>
      </p:sp>
      <p:sp>
        <p:nvSpPr>
          <p:cNvPr id="4" name="TextBox 3"/>
          <p:cNvSpPr txBox="1"/>
          <p:nvPr/>
        </p:nvSpPr>
        <p:spPr>
          <a:xfrm>
            <a:off x="11094415" y="6510528"/>
            <a:ext cx="822960" cy="274320"/>
          </a:xfrm>
          <a:prstGeom prst="rect">
            <a:avLst/>
          </a:prstGeom>
          <a:noFill/>
        </p:spPr>
        <p:txBody>
          <a:bodyPr wrap="square" lIns="0" tIns="0" rIns="0" bIns="0" anchor="t">
            <a:spAutoFit/>
          </a:bodyPr>
          <a:lstStyle/>
          <a:p>
            <a:pPr algn="r">
              <a:lnSpc>
                <a:spcPct val="115000"/>
              </a:lnSpc>
            </a:pPr>
            <a:r>
              <a:rPr sz="900" b="0">
                <a:solidFill>
                  <a:srgbClr val="94A3B8"/>
                </a:solidFill>
                <a:latin typeface="Calibri"/>
              </a:rPr>
              <a:t>6 / 17</a:t>
            </a:r>
          </a:p>
        </p:txBody>
      </p:sp>
      <p:sp>
        <p:nvSpPr>
          <p:cNvPr id="5" name="TextBox 4"/>
          <p:cNvSpPr txBox="1"/>
          <p:nvPr/>
        </p:nvSpPr>
        <p:spPr>
          <a:xfrm>
            <a:off x="640080" y="502920"/>
            <a:ext cx="10972800" cy="274320"/>
          </a:xfrm>
          <a:prstGeom prst="rect">
            <a:avLst/>
          </a:prstGeom>
          <a:noFill/>
        </p:spPr>
        <p:txBody>
          <a:bodyPr wrap="square" lIns="0" tIns="0" rIns="0" bIns="0" anchor="t">
            <a:spAutoFit/>
          </a:bodyPr>
          <a:lstStyle/>
          <a:p>
            <a:pPr algn="l">
              <a:lnSpc>
                <a:spcPct val="115000"/>
              </a:lnSpc>
            </a:pPr>
            <a:r>
              <a:rPr sz="1000" b="1">
                <a:solidFill>
                  <a:srgbClr val="F59E0B"/>
                </a:solidFill>
                <a:latin typeface="Calibri"/>
              </a:rPr>
              <a:t>04  ·  METHOD</a:t>
            </a:r>
          </a:p>
        </p:txBody>
      </p:sp>
      <p:sp>
        <p:nvSpPr>
          <p:cNvPr id="6" name="TextBox 5"/>
          <p:cNvSpPr txBox="1"/>
          <p:nvPr/>
        </p:nvSpPr>
        <p:spPr>
          <a:xfrm>
            <a:off x="640080" y="822960"/>
            <a:ext cx="10972800" cy="685800"/>
          </a:xfrm>
          <a:prstGeom prst="rect">
            <a:avLst/>
          </a:prstGeom>
          <a:noFill/>
        </p:spPr>
        <p:txBody>
          <a:bodyPr wrap="square" lIns="0" tIns="0" rIns="0" bIns="0" anchor="t">
            <a:spAutoFit/>
          </a:bodyPr>
          <a:lstStyle/>
          <a:p>
            <a:pPr algn="l">
              <a:lnSpc>
                <a:spcPct val="115000"/>
              </a:lnSpc>
            </a:pPr>
            <a:r>
              <a:rPr sz="2800" b="1">
                <a:solidFill>
                  <a:srgbClr val="1E293B"/>
                </a:solidFill>
                <a:latin typeface="Calibri"/>
              </a:rPr>
              <a:t>Project workflow</a:t>
            </a:r>
          </a:p>
        </p:txBody>
      </p:sp>
      <p:sp>
        <p:nvSpPr>
          <p:cNvPr id="7" name="Rectangle 6"/>
          <p:cNvSpPr/>
          <p:nvPr/>
        </p:nvSpPr>
        <p:spPr>
          <a:xfrm>
            <a:off x="640080" y="1463040"/>
            <a:ext cx="457200" cy="45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02920" y="2194560"/>
            <a:ext cx="3383280" cy="1554480"/>
          </a:xfrm>
          <a:prstGeom prst="roundRect">
            <a:avLst/>
          </a:prstGeom>
          <a:solidFill>
            <a:srgbClr val="FFFFFF"/>
          </a:solidFill>
          <a:ln w="15875">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731520" y="2395728"/>
            <a:ext cx="502920" cy="320040"/>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Calibri"/>
              </a:rPr>
              <a:t>01</a:t>
            </a:r>
          </a:p>
        </p:txBody>
      </p:sp>
      <p:sp>
        <p:nvSpPr>
          <p:cNvPr id="10" name="TextBox 9"/>
          <p:cNvSpPr txBox="1"/>
          <p:nvPr/>
        </p:nvSpPr>
        <p:spPr>
          <a:xfrm>
            <a:off x="1325880" y="2359152"/>
            <a:ext cx="2468880" cy="640080"/>
          </a:xfrm>
          <a:prstGeom prst="rect">
            <a:avLst/>
          </a:prstGeom>
          <a:noFill/>
        </p:spPr>
        <p:txBody>
          <a:bodyPr wrap="square" lIns="0" tIns="0" rIns="0" bIns="0" anchor="t">
            <a:spAutoFit/>
          </a:bodyPr>
          <a:lstStyle/>
          <a:p>
            <a:pPr algn="l">
              <a:lnSpc>
                <a:spcPct val="110000"/>
              </a:lnSpc>
            </a:pPr>
            <a:r>
              <a:rPr sz="1400" b="1">
                <a:solidFill>
                  <a:srgbClr val="1E293B"/>
                </a:solidFill>
                <a:latin typeface="Calibri"/>
              </a:rPr>
              <a:t>Data</a:t>
            </a:r>
          </a:p>
          <a:p>
            <a:pPr algn="l">
              <a:lnSpc>
                <a:spcPct val="110000"/>
              </a:lnSpc>
            </a:pPr>
            <a:r>
              <a:rPr sz="1400" b="1">
                <a:solidFill>
                  <a:srgbClr val="1E293B"/>
                </a:solidFill>
                <a:latin typeface="Calibri"/>
              </a:rPr>
              <a:t>Collection</a:t>
            </a:r>
          </a:p>
        </p:txBody>
      </p:sp>
      <p:sp>
        <p:nvSpPr>
          <p:cNvPr id="11" name="TextBox 10"/>
          <p:cNvSpPr txBox="1"/>
          <p:nvPr/>
        </p:nvSpPr>
        <p:spPr>
          <a:xfrm>
            <a:off x="777240" y="3154680"/>
            <a:ext cx="2926080" cy="548640"/>
          </a:xfrm>
          <a:prstGeom prst="rect">
            <a:avLst/>
          </a:prstGeom>
          <a:noFill/>
        </p:spPr>
        <p:txBody>
          <a:bodyPr wrap="square" lIns="0" tIns="0" rIns="0" bIns="0" anchor="t">
            <a:spAutoFit/>
          </a:bodyPr>
          <a:lstStyle/>
          <a:p>
            <a:pPr algn="l">
              <a:lnSpc>
                <a:spcPct val="115000"/>
              </a:lnSpc>
            </a:pPr>
            <a:r>
              <a:rPr sz="1100" b="0">
                <a:solidFill>
                  <a:srgbClr val="475569"/>
                </a:solidFill>
                <a:latin typeface="Calibri"/>
              </a:rPr>
              <a:t>Load CSV</a:t>
            </a:r>
          </a:p>
        </p:txBody>
      </p:sp>
      <p:sp>
        <p:nvSpPr>
          <p:cNvPr id="12" name="Rounded Rectangle 11"/>
          <p:cNvSpPr/>
          <p:nvPr/>
        </p:nvSpPr>
        <p:spPr>
          <a:xfrm>
            <a:off x="4389120" y="2194560"/>
            <a:ext cx="3383280" cy="1554480"/>
          </a:xfrm>
          <a:prstGeom prst="roundRect">
            <a:avLst/>
          </a:prstGeom>
          <a:solidFill>
            <a:srgbClr val="FFFFFF"/>
          </a:solidFill>
          <a:ln w="15875">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4617720" y="2395728"/>
            <a:ext cx="502920" cy="320040"/>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Calibri"/>
              </a:rPr>
              <a:t>02</a:t>
            </a:r>
          </a:p>
        </p:txBody>
      </p:sp>
      <p:sp>
        <p:nvSpPr>
          <p:cNvPr id="14" name="TextBox 13"/>
          <p:cNvSpPr txBox="1"/>
          <p:nvPr/>
        </p:nvSpPr>
        <p:spPr>
          <a:xfrm>
            <a:off x="5212080" y="2359152"/>
            <a:ext cx="2468880" cy="640080"/>
          </a:xfrm>
          <a:prstGeom prst="rect">
            <a:avLst/>
          </a:prstGeom>
          <a:noFill/>
        </p:spPr>
        <p:txBody>
          <a:bodyPr wrap="square" lIns="0" tIns="0" rIns="0" bIns="0" anchor="t">
            <a:spAutoFit/>
          </a:bodyPr>
          <a:lstStyle/>
          <a:p>
            <a:pPr algn="l">
              <a:lnSpc>
                <a:spcPct val="110000"/>
              </a:lnSpc>
            </a:pPr>
            <a:r>
              <a:rPr sz="1400" b="1">
                <a:solidFill>
                  <a:srgbClr val="1E293B"/>
                </a:solidFill>
                <a:latin typeface="Calibri"/>
              </a:rPr>
              <a:t>Data</a:t>
            </a:r>
          </a:p>
          <a:p>
            <a:pPr algn="l">
              <a:lnSpc>
                <a:spcPct val="110000"/>
              </a:lnSpc>
            </a:pPr>
            <a:r>
              <a:rPr sz="1400" b="1">
                <a:solidFill>
                  <a:srgbClr val="1E293B"/>
                </a:solidFill>
                <a:latin typeface="Calibri"/>
              </a:rPr>
              <a:t>Cleaning</a:t>
            </a:r>
          </a:p>
        </p:txBody>
      </p:sp>
      <p:sp>
        <p:nvSpPr>
          <p:cNvPr id="15" name="TextBox 14"/>
          <p:cNvSpPr txBox="1"/>
          <p:nvPr/>
        </p:nvSpPr>
        <p:spPr>
          <a:xfrm>
            <a:off x="4663440" y="3154680"/>
            <a:ext cx="2926080" cy="548640"/>
          </a:xfrm>
          <a:prstGeom prst="rect">
            <a:avLst/>
          </a:prstGeom>
          <a:noFill/>
        </p:spPr>
        <p:txBody>
          <a:bodyPr wrap="square" lIns="0" tIns="0" rIns="0" bIns="0" anchor="t">
            <a:spAutoFit/>
          </a:bodyPr>
          <a:lstStyle/>
          <a:p>
            <a:pPr algn="l">
              <a:lnSpc>
                <a:spcPct val="115000"/>
              </a:lnSpc>
            </a:pPr>
            <a:r>
              <a:rPr sz="1100" b="0">
                <a:solidFill>
                  <a:srgbClr val="475569"/>
                </a:solidFill>
                <a:latin typeface="Calibri"/>
              </a:rPr>
              <a:t>Duplicates · dtypes</a:t>
            </a:r>
          </a:p>
        </p:txBody>
      </p:sp>
      <p:sp>
        <p:nvSpPr>
          <p:cNvPr id="16" name="Rounded Rectangle 15"/>
          <p:cNvSpPr/>
          <p:nvPr/>
        </p:nvSpPr>
        <p:spPr>
          <a:xfrm>
            <a:off x="8275320" y="2194560"/>
            <a:ext cx="3383280" cy="1554480"/>
          </a:xfrm>
          <a:prstGeom prst="roundRect">
            <a:avLst/>
          </a:prstGeom>
          <a:solidFill>
            <a:srgbClr val="FFFFFF"/>
          </a:solidFill>
          <a:ln w="15875">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8503920" y="2395728"/>
            <a:ext cx="502920" cy="320040"/>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Calibri"/>
              </a:rPr>
              <a:t>03</a:t>
            </a:r>
          </a:p>
        </p:txBody>
      </p:sp>
      <p:sp>
        <p:nvSpPr>
          <p:cNvPr id="18" name="TextBox 17"/>
          <p:cNvSpPr txBox="1"/>
          <p:nvPr/>
        </p:nvSpPr>
        <p:spPr>
          <a:xfrm>
            <a:off x="9098280" y="2359152"/>
            <a:ext cx="2468880" cy="640080"/>
          </a:xfrm>
          <a:prstGeom prst="rect">
            <a:avLst/>
          </a:prstGeom>
          <a:noFill/>
        </p:spPr>
        <p:txBody>
          <a:bodyPr wrap="square" lIns="0" tIns="0" rIns="0" bIns="0" anchor="t">
            <a:spAutoFit/>
          </a:bodyPr>
          <a:lstStyle/>
          <a:p>
            <a:pPr algn="l">
              <a:lnSpc>
                <a:spcPct val="110000"/>
              </a:lnSpc>
            </a:pPr>
            <a:r>
              <a:rPr sz="1400" b="1">
                <a:solidFill>
                  <a:srgbClr val="1E293B"/>
                </a:solidFill>
                <a:latin typeface="Calibri"/>
              </a:rPr>
              <a:t>EDA &amp;</a:t>
            </a:r>
          </a:p>
          <a:p>
            <a:pPr algn="l">
              <a:lnSpc>
                <a:spcPct val="110000"/>
              </a:lnSpc>
            </a:pPr>
            <a:r>
              <a:rPr sz="1400" b="1">
                <a:solidFill>
                  <a:srgbClr val="1E293B"/>
                </a:solidFill>
                <a:latin typeface="Calibri"/>
              </a:rPr>
              <a:t>Correlation</a:t>
            </a:r>
          </a:p>
        </p:txBody>
      </p:sp>
      <p:sp>
        <p:nvSpPr>
          <p:cNvPr id="19" name="TextBox 18"/>
          <p:cNvSpPr txBox="1"/>
          <p:nvPr/>
        </p:nvSpPr>
        <p:spPr>
          <a:xfrm>
            <a:off x="8549640" y="3154680"/>
            <a:ext cx="2926080" cy="548640"/>
          </a:xfrm>
          <a:prstGeom prst="rect">
            <a:avLst/>
          </a:prstGeom>
          <a:noFill/>
        </p:spPr>
        <p:txBody>
          <a:bodyPr wrap="square" lIns="0" tIns="0" rIns="0" bIns="0" anchor="t">
            <a:spAutoFit/>
          </a:bodyPr>
          <a:lstStyle/>
          <a:p>
            <a:pPr algn="l">
              <a:lnSpc>
                <a:spcPct val="115000"/>
              </a:lnSpc>
            </a:pPr>
            <a:r>
              <a:rPr sz="1100" b="0">
                <a:solidFill>
                  <a:srgbClr val="475569"/>
                </a:solidFill>
                <a:latin typeface="Calibri"/>
              </a:rPr>
              <a:t>Stats · heatmap</a:t>
            </a:r>
          </a:p>
        </p:txBody>
      </p:sp>
      <p:sp>
        <p:nvSpPr>
          <p:cNvPr id="20" name="Right Arrow 19"/>
          <p:cNvSpPr/>
          <p:nvPr/>
        </p:nvSpPr>
        <p:spPr>
          <a:xfrm>
            <a:off x="3931920" y="2807208"/>
            <a:ext cx="411480" cy="329184"/>
          </a:xfrm>
          <a:prstGeom prst="right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ight Arrow 20"/>
          <p:cNvSpPr/>
          <p:nvPr/>
        </p:nvSpPr>
        <p:spPr>
          <a:xfrm>
            <a:off x="7818120" y="2807208"/>
            <a:ext cx="411480" cy="329184"/>
          </a:xfrm>
          <a:prstGeom prst="right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8275320" y="4572000"/>
            <a:ext cx="3383280" cy="1554480"/>
          </a:xfrm>
          <a:prstGeom prst="roundRect">
            <a:avLst/>
          </a:prstGeom>
          <a:solidFill>
            <a:srgbClr val="FFFFFF"/>
          </a:solidFill>
          <a:ln w="15875">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8503920" y="4773168"/>
            <a:ext cx="502920" cy="320040"/>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Calibri"/>
              </a:rPr>
              <a:t>04</a:t>
            </a:r>
          </a:p>
        </p:txBody>
      </p:sp>
      <p:sp>
        <p:nvSpPr>
          <p:cNvPr id="24" name="TextBox 23"/>
          <p:cNvSpPr txBox="1"/>
          <p:nvPr/>
        </p:nvSpPr>
        <p:spPr>
          <a:xfrm>
            <a:off x="9098280" y="4736592"/>
            <a:ext cx="2468880" cy="640080"/>
          </a:xfrm>
          <a:prstGeom prst="rect">
            <a:avLst/>
          </a:prstGeom>
          <a:noFill/>
        </p:spPr>
        <p:txBody>
          <a:bodyPr wrap="square" lIns="0" tIns="0" rIns="0" bIns="0" anchor="t">
            <a:spAutoFit/>
          </a:bodyPr>
          <a:lstStyle/>
          <a:p>
            <a:pPr algn="l">
              <a:lnSpc>
                <a:spcPct val="110000"/>
              </a:lnSpc>
            </a:pPr>
            <a:r>
              <a:rPr sz="1400" b="1">
                <a:solidFill>
                  <a:srgbClr val="1E293B"/>
                </a:solidFill>
                <a:latin typeface="Calibri"/>
              </a:rPr>
              <a:t>Model</a:t>
            </a:r>
          </a:p>
          <a:p>
            <a:pPr algn="l">
              <a:lnSpc>
                <a:spcPct val="110000"/>
              </a:lnSpc>
            </a:pPr>
            <a:r>
              <a:rPr sz="1400" b="1">
                <a:solidFill>
                  <a:srgbClr val="1E293B"/>
                </a:solidFill>
                <a:latin typeface="Calibri"/>
              </a:rPr>
              <a:t>Training</a:t>
            </a:r>
          </a:p>
        </p:txBody>
      </p:sp>
      <p:sp>
        <p:nvSpPr>
          <p:cNvPr id="25" name="TextBox 24"/>
          <p:cNvSpPr txBox="1"/>
          <p:nvPr/>
        </p:nvSpPr>
        <p:spPr>
          <a:xfrm>
            <a:off x="8549640" y="5532120"/>
            <a:ext cx="2926080" cy="548640"/>
          </a:xfrm>
          <a:prstGeom prst="rect">
            <a:avLst/>
          </a:prstGeom>
          <a:noFill/>
        </p:spPr>
        <p:txBody>
          <a:bodyPr wrap="square" lIns="0" tIns="0" rIns="0" bIns="0" anchor="t">
            <a:spAutoFit/>
          </a:bodyPr>
          <a:lstStyle/>
          <a:p>
            <a:pPr algn="l">
              <a:lnSpc>
                <a:spcPct val="115000"/>
              </a:lnSpc>
            </a:pPr>
            <a:r>
              <a:rPr sz="1100" b="0">
                <a:solidFill>
                  <a:srgbClr val="475569"/>
                </a:solidFill>
                <a:latin typeface="Calibri"/>
              </a:rPr>
              <a:t>Random Forest</a:t>
            </a:r>
          </a:p>
        </p:txBody>
      </p:sp>
      <p:sp>
        <p:nvSpPr>
          <p:cNvPr id="26" name="Rounded Rectangle 25"/>
          <p:cNvSpPr/>
          <p:nvPr/>
        </p:nvSpPr>
        <p:spPr>
          <a:xfrm>
            <a:off x="4389120" y="4572000"/>
            <a:ext cx="3383280" cy="1554480"/>
          </a:xfrm>
          <a:prstGeom prst="roundRect">
            <a:avLst/>
          </a:prstGeom>
          <a:solidFill>
            <a:srgbClr val="FFFFFF"/>
          </a:solidFill>
          <a:ln w="15875">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4617720" y="4773168"/>
            <a:ext cx="502920" cy="320040"/>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Calibri"/>
              </a:rPr>
              <a:t>05</a:t>
            </a:r>
          </a:p>
        </p:txBody>
      </p:sp>
      <p:sp>
        <p:nvSpPr>
          <p:cNvPr id="28" name="TextBox 27"/>
          <p:cNvSpPr txBox="1"/>
          <p:nvPr/>
        </p:nvSpPr>
        <p:spPr>
          <a:xfrm>
            <a:off x="5212080" y="4736592"/>
            <a:ext cx="2468880" cy="640080"/>
          </a:xfrm>
          <a:prstGeom prst="rect">
            <a:avLst/>
          </a:prstGeom>
          <a:noFill/>
        </p:spPr>
        <p:txBody>
          <a:bodyPr wrap="square" lIns="0" tIns="0" rIns="0" bIns="0" anchor="t">
            <a:spAutoFit/>
          </a:bodyPr>
          <a:lstStyle/>
          <a:p>
            <a:pPr algn="l">
              <a:lnSpc>
                <a:spcPct val="110000"/>
              </a:lnSpc>
            </a:pPr>
            <a:r>
              <a:rPr sz="1400" b="1">
                <a:solidFill>
                  <a:srgbClr val="1E293B"/>
                </a:solidFill>
                <a:latin typeface="Calibri"/>
              </a:rPr>
              <a:t>Model</a:t>
            </a:r>
          </a:p>
          <a:p>
            <a:pPr algn="l">
              <a:lnSpc>
                <a:spcPct val="110000"/>
              </a:lnSpc>
            </a:pPr>
            <a:r>
              <a:rPr sz="1400" b="1">
                <a:solidFill>
                  <a:srgbClr val="1E293B"/>
                </a:solidFill>
                <a:latin typeface="Calibri"/>
              </a:rPr>
              <a:t>Evaluation</a:t>
            </a:r>
          </a:p>
        </p:txBody>
      </p:sp>
      <p:sp>
        <p:nvSpPr>
          <p:cNvPr id="29" name="TextBox 28"/>
          <p:cNvSpPr txBox="1"/>
          <p:nvPr/>
        </p:nvSpPr>
        <p:spPr>
          <a:xfrm>
            <a:off x="4663440" y="5532120"/>
            <a:ext cx="2926080" cy="548640"/>
          </a:xfrm>
          <a:prstGeom prst="rect">
            <a:avLst/>
          </a:prstGeom>
          <a:noFill/>
        </p:spPr>
        <p:txBody>
          <a:bodyPr wrap="square" lIns="0" tIns="0" rIns="0" bIns="0" anchor="t">
            <a:spAutoFit/>
          </a:bodyPr>
          <a:lstStyle/>
          <a:p>
            <a:pPr algn="l">
              <a:lnSpc>
                <a:spcPct val="115000"/>
              </a:lnSpc>
            </a:pPr>
            <a:r>
              <a:rPr sz="1100" b="0">
                <a:solidFill>
                  <a:srgbClr val="475569"/>
                </a:solidFill>
                <a:latin typeface="Calibri"/>
              </a:rPr>
              <a:t>Accuracy · matrix</a:t>
            </a:r>
          </a:p>
        </p:txBody>
      </p:sp>
      <p:sp>
        <p:nvSpPr>
          <p:cNvPr id="30" name="Rounded Rectangle 29"/>
          <p:cNvSpPr/>
          <p:nvPr/>
        </p:nvSpPr>
        <p:spPr>
          <a:xfrm>
            <a:off x="502920" y="4572000"/>
            <a:ext cx="3383280" cy="1554480"/>
          </a:xfrm>
          <a:prstGeom prst="roundRect">
            <a:avLst/>
          </a:prstGeom>
          <a:solidFill>
            <a:srgbClr val="FFFFFF"/>
          </a:solidFill>
          <a:ln w="15875">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731520" y="4773168"/>
            <a:ext cx="502920" cy="320040"/>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Calibri"/>
              </a:rPr>
              <a:t>06</a:t>
            </a:r>
          </a:p>
        </p:txBody>
      </p:sp>
      <p:sp>
        <p:nvSpPr>
          <p:cNvPr id="32" name="TextBox 31"/>
          <p:cNvSpPr txBox="1"/>
          <p:nvPr/>
        </p:nvSpPr>
        <p:spPr>
          <a:xfrm>
            <a:off x="1325880" y="4736592"/>
            <a:ext cx="2468880" cy="640080"/>
          </a:xfrm>
          <a:prstGeom prst="rect">
            <a:avLst/>
          </a:prstGeom>
          <a:noFill/>
        </p:spPr>
        <p:txBody>
          <a:bodyPr wrap="square" lIns="0" tIns="0" rIns="0" bIns="0" anchor="t">
            <a:spAutoFit/>
          </a:bodyPr>
          <a:lstStyle/>
          <a:p>
            <a:pPr algn="l">
              <a:lnSpc>
                <a:spcPct val="110000"/>
              </a:lnSpc>
            </a:pPr>
            <a:r>
              <a:rPr sz="1400" b="1">
                <a:solidFill>
                  <a:srgbClr val="1E293B"/>
                </a:solidFill>
                <a:latin typeface="Calibri"/>
              </a:rPr>
              <a:t>Insights &amp;</a:t>
            </a:r>
          </a:p>
          <a:p>
            <a:pPr algn="l">
              <a:lnSpc>
                <a:spcPct val="110000"/>
              </a:lnSpc>
            </a:pPr>
            <a:r>
              <a:rPr sz="1400" b="1">
                <a:solidFill>
                  <a:srgbClr val="1E293B"/>
                </a:solidFill>
                <a:latin typeface="Calibri"/>
              </a:rPr>
              <a:t>App</a:t>
            </a:r>
          </a:p>
        </p:txBody>
      </p:sp>
      <p:sp>
        <p:nvSpPr>
          <p:cNvPr id="33" name="TextBox 32"/>
          <p:cNvSpPr txBox="1"/>
          <p:nvPr/>
        </p:nvSpPr>
        <p:spPr>
          <a:xfrm>
            <a:off x="777240" y="5532120"/>
            <a:ext cx="2926080" cy="548640"/>
          </a:xfrm>
          <a:prstGeom prst="rect">
            <a:avLst/>
          </a:prstGeom>
          <a:noFill/>
        </p:spPr>
        <p:txBody>
          <a:bodyPr wrap="square" lIns="0" tIns="0" rIns="0" bIns="0" anchor="t">
            <a:spAutoFit/>
          </a:bodyPr>
          <a:lstStyle/>
          <a:p>
            <a:pPr algn="l">
              <a:lnSpc>
                <a:spcPct val="115000"/>
              </a:lnSpc>
            </a:pPr>
            <a:r>
              <a:rPr sz="1100" b="0">
                <a:solidFill>
                  <a:srgbClr val="475569"/>
                </a:solidFill>
                <a:latin typeface="Calibri"/>
              </a:rPr>
              <a:t>Top factors · GUI</a:t>
            </a:r>
          </a:p>
        </p:txBody>
      </p:sp>
      <p:sp>
        <p:nvSpPr>
          <p:cNvPr id="34" name="Left Arrow 33"/>
          <p:cNvSpPr/>
          <p:nvPr/>
        </p:nvSpPr>
        <p:spPr>
          <a:xfrm>
            <a:off x="7818120" y="5184648"/>
            <a:ext cx="411480" cy="329184"/>
          </a:xfrm>
          <a:prstGeom prst="left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Left Arrow 34"/>
          <p:cNvSpPr/>
          <p:nvPr/>
        </p:nvSpPr>
        <p:spPr>
          <a:xfrm>
            <a:off x="3931920" y="5184648"/>
            <a:ext cx="411480" cy="329184"/>
          </a:xfrm>
          <a:prstGeom prst="left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Down Arrow 35"/>
          <p:cNvSpPr/>
          <p:nvPr/>
        </p:nvSpPr>
        <p:spPr>
          <a:xfrm>
            <a:off x="9802368" y="3977640"/>
            <a:ext cx="329184" cy="365760"/>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6510528"/>
            <a:ext cx="7315200" cy="274320"/>
          </a:xfrm>
          <a:prstGeom prst="rect">
            <a:avLst/>
          </a:prstGeom>
          <a:noFill/>
        </p:spPr>
        <p:txBody>
          <a:bodyPr wrap="square" lIns="0" tIns="0" rIns="0" bIns="0" anchor="t">
            <a:spAutoFit/>
          </a:bodyPr>
          <a:lstStyle/>
          <a:p>
            <a:pPr algn="l">
              <a:lnSpc>
                <a:spcPct val="115000"/>
              </a:lnSpc>
            </a:pPr>
            <a:r>
              <a:rPr sz="900" b="0">
                <a:solidFill>
                  <a:srgbClr val="94A3B8"/>
                </a:solidFill>
                <a:latin typeface="Calibri"/>
              </a:rPr>
              <a:t>Diabetes Risk Prediction  ·  Intro to Data Science  ·  Sem 2</a:t>
            </a:r>
          </a:p>
        </p:txBody>
      </p:sp>
      <p:sp>
        <p:nvSpPr>
          <p:cNvPr id="4" name="TextBox 3"/>
          <p:cNvSpPr txBox="1"/>
          <p:nvPr/>
        </p:nvSpPr>
        <p:spPr>
          <a:xfrm>
            <a:off x="11094415" y="6510528"/>
            <a:ext cx="822960" cy="274320"/>
          </a:xfrm>
          <a:prstGeom prst="rect">
            <a:avLst/>
          </a:prstGeom>
          <a:noFill/>
        </p:spPr>
        <p:txBody>
          <a:bodyPr wrap="square" lIns="0" tIns="0" rIns="0" bIns="0" anchor="t">
            <a:spAutoFit/>
          </a:bodyPr>
          <a:lstStyle/>
          <a:p>
            <a:pPr algn="r">
              <a:lnSpc>
                <a:spcPct val="115000"/>
              </a:lnSpc>
            </a:pPr>
            <a:r>
              <a:rPr sz="900" b="0">
                <a:solidFill>
                  <a:srgbClr val="94A3B8"/>
                </a:solidFill>
                <a:latin typeface="Calibri"/>
              </a:rPr>
              <a:t>7 / 17</a:t>
            </a:r>
          </a:p>
        </p:txBody>
      </p:sp>
      <p:sp>
        <p:nvSpPr>
          <p:cNvPr id="5" name="TextBox 4"/>
          <p:cNvSpPr txBox="1"/>
          <p:nvPr/>
        </p:nvSpPr>
        <p:spPr>
          <a:xfrm>
            <a:off x="640080" y="502920"/>
            <a:ext cx="10972800" cy="274320"/>
          </a:xfrm>
          <a:prstGeom prst="rect">
            <a:avLst/>
          </a:prstGeom>
          <a:noFill/>
        </p:spPr>
        <p:txBody>
          <a:bodyPr wrap="square" lIns="0" tIns="0" rIns="0" bIns="0" anchor="t">
            <a:spAutoFit/>
          </a:bodyPr>
          <a:lstStyle/>
          <a:p>
            <a:pPr algn="l">
              <a:lnSpc>
                <a:spcPct val="115000"/>
              </a:lnSpc>
            </a:pPr>
            <a:r>
              <a:rPr sz="1000" b="1">
                <a:solidFill>
                  <a:srgbClr val="F59E0B"/>
                </a:solidFill>
                <a:latin typeface="Calibri"/>
              </a:rPr>
              <a:t>05  ·  PREPROCESSING</a:t>
            </a:r>
          </a:p>
        </p:txBody>
      </p:sp>
      <p:sp>
        <p:nvSpPr>
          <p:cNvPr id="6" name="TextBox 5"/>
          <p:cNvSpPr txBox="1"/>
          <p:nvPr/>
        </p:nvSpPr>
        <p:spPr>
          <a:xfrm>
            <a:off x="640080" y="822960"/>
            <a:ext cx="10972800" cy="685800"/>
          </a:xfrm>
          <a:prstGeom prst="rect">
            <a:avLst/>
          </a:prstGeom>
          <a:noFill/>
        </p:spPr>
        <p:txBody>
          <a:bodyPr wrap="square" lIns="0" tIns="0" rIns="0" bIns="0" anchor="t">
            <a:spAutoFit/>
          </a:bodyPr>
          <a:lstStyle/>
          <a:p>
            <a:pPr algn="l">
              <a:lnSpc>
                <a:spcPct val="115000"/>
              </a:lnSpc>
            </a:pPr>
            <a:r>
              <a:rPr sz="2800" b="1">
                <a:solidFill>
                  <a:srgbClr val="1E293B"/>
                </a:solidFill>
                <a:latin typeface="Calibri"/>
              </a:rPr>
              <a:t>Data cleaning — what we did</a:t>
            </a:r>
          </a:p>
        </p:txBody>
      </p:sp>
      <p:sp>
        <p:nvSpPr>
          <p:cNvPr id="7" name="Rectangle 6"/>
          <p:cNvSpPr/>
          <p:nvPr/>
        </p:nvSpPr>
        <p:spPr>
          <a:xfrm>
            <a:off x="640080" y="1463040"/>
            <a:ext cx="457200" cy="45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2011680"/>
            <a:ext cx="6400800" cy="3657600"/>
          </a:xfrm>
          <a:prstGeom prst="rect">
            <a:avLst/>
          </a:prstGeom>
          <a:noFill/>
        </p:spPr>
        <p:txBody>
          <a:bodyPr wrap="square" lIns="0" tIns="0" rIns="0" bIns="0">
            <a:spAutoFit/>
          </a:bodyPr>
          <a:lstStyle/>
          <a:p>
            <a:pPr algn="l">
              <a:lnSpc>
                <a:spcPct val="145000"/>
              </a:lnSpc>
              <a:spcAft>
                <a:spcPts val="1000"/>
              </a:spcAft>
            </a:pPr>
            <a:r>
              <a:rPr sz="1400" b="1">
                <a:solidFill>
                  <a:srgbClr val="F59E0B"/>
                </a:solidFill>
                <a:latin typeface="Calibri"/>
              </a:rPr>
              <a:t>■  </a:t>
            </a:r>
            <a:r>
              <a:rPr sz="1400">
                <a:solidFill>
                  <a:srgbClr val="475569"/>
                </a:solidFill>
                <a:latin typeface="Calibri"/>
              </a:rPr>
              <a:t>Checked for missing values  →  found 0  ✓</a:t>
            </a:r>
          </a:p>
          <a:p>
            <a:pPr algn="l">
              <a:lnSpc>
                <a:spcPct val="145000"/>
              </a:lnSpc>
              <a:spcAft>
                <a:spcPts val="1000"/>
              </a:spcAft>
            </a:pPr>
            <a:r>
              <a:rPr sz="1400" b="1">
                <a:solidFill>
                  <a:srgbClr val="F59E0B"/>
                </a:solidFill>
                <a:latin typeface="Calibri"/>
              </a:rPr>
              <a:t>■  </a:t>
            </a:r>
            <a:r>
              <a:rPr sz="1400">
                <a:solidFill>
                  <a:srgbClr val="475569"/>
                </a:solidFill>
                <a:latin typeface="Calibri"/>
              </a:rPr>
              <a:t>Removed duplicate rows  →  1 636 dropped</a:t>
            </a:r>
          </a:p>
          <a:p>
            <a:pPr algn="l">
              <a:lnSpc>
                <a:spcPct val="145000"/>
              </a:lnSpc>
              <a:spcAft>
                <a:spcPts val="1000"/>
              </a:spcAft>
            </a:pPr>
            <a:r>
              <a:rPr sz="1400" b="1">
                <a:solidFill>
                  <a:srgbClr val="F59E0B"/>
                </a:solidFill>
                <a:latin typeface="Calibri"/>
              </a:rPr>
              <a:t>■  </a:t>
            </a:r>
            <a:r>
              <a:rPr sz="1400">
                <a:solidFill>
                  <a:srgbClr val="475569"/>
                </a:solidFill>
                <a:latin typeface="Calibri"/>
              </a:rPr>
              <a:t>Final shape: 69 057 rows × 22 columns</a:t>
            </a:r>
          </a:p>
          <a:p>
            <a:pPr algn="l">
              <a:lnSpc>
                <a:spcPct val="145000"/>
              </a:lnSpc>
              <a:spcAft>
                <a:spcPts val="1000"/>
              </a:spcAft>
            </a:pPr>
            <a:r>
              <a:rPr sz="1400" b="1">
                <a:solidFill>
                  <a:srgbClr val="F59E0B"/>
                </a:solidFill>
                <a:latin typeface="Calibri"/>
              </a:rPr>
              <a:t>■  </a:t>
            </a:r>
            <a:r>
              <a:rPr sz="1400">
                <a:solidFill>
                  <a:srgbClr val="475569"/>
                </a:solidFill>
                <a:latin typeface="Calibri"/>
              </a:rPr>
              <a:t>Converted 21 columns to int (everything except BMI which is float)</a:t>
            </a:r>
          </a:p>
          <a:p>
            <a:pPr algn="l">
              <a:lnSpc>
                <a:spcPct val="145000"/>
              </a:lnSpc>
              <a:spcAft>
                <a:spcPts val="1000"/>
              </a:spcAft>
            </a:pPr>
            <a:r>
              <a:rPr sz="1400" b="1">
                <a:solidFill>
                  <a:srgbClr val="F59E0B"/>
                </a:solidFill>
                <a:latin typeface="Calibri"/>
              </a:rPr>
              <a:t>■  </a:t>
            </a:r>
            <a:r>
              <a:rPr sz="1400">
                <a:solidFill>
                  <a:srgbClr val="475569"/>
                </a:solidFill>
                <a:latin typeface="Calibri"/>
              </a:rPr>
              <a:t>Verified class balance still ~50 / 50</a:t>
            </a:r>
          </a:p>
        </p:txBody>
      </p:sp>
      <p:sp>
        <p:nvSpPr>
          <p:cNvPr id="9" name="Rectangle 8"/>
          <p:cNvSpPr/>
          <p:nvPr/>
        </p:nvSpPr>
        <p:spPr>
          <a:xfrm>
            <a:off x="7498079" y="2194560"/>
            <a:ext cx="4114800" cy="3291840"/>
          </a:xfrm>
          <a:prstGeom prst="rect">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399" y="2423160"/>
            <a:ext cx="3749040" cy="274320"/>
          </a:xfrm>
          <a:prstGeom prst="rect">
            <a:avLst/>
          </a:prstGeom>
          <a:noFill/>
        </p:spPr>
        <p:txBody>
          <a:bodyPr wrap="square" lIns="0" tIns="0" rIns="0" bIns="0" anchor="t">
            <a:spAutoFit/>
          </a:bodyPr>
          <a:lstStyle/>
          <a:p>
            <a:pPr algn="l">
              <a:lnSpc>
                <a:spcPct val="115000"/>
              </a:lnSpc>
            </a:pPr>
            <a:r>
              <a:rPr sz="1000" b="1">
                <a:solidFill>
                  <a:srgbClr val="F59E0B"/>
                </a:solidFill>
                <a:latin typeface="Calibri"/>
              </a:rPr>
              <a:t>BEFORE  →  AFTER</a:t>
            </a:r>
          </a:p>
        </p:txBody>
      </p:sp>
      <p:sp>
        <p:nvSpPr>
          <p:cNvPr id="11" name="TextBox 10"/>
          <p:cNvSpPr txBox="1"/>
          <p:nvPr/>
        </p:nvSpPr>
        <p:spPr>
          <a:xfrm>
            <a:off x="7772399" y="2834640"/>
            <a:ext cx="3749040" cy="365760"/>
          </a:xfrm>
          <a:prstGeom prst="rect">
            <a:avLst/>
          </a:prstGeom>
          <a:noFill/>
        </p:spPr>
        <p:txBody>
          <a:bodyPr wrap="square" lIns="0" tIns="0" rIns="0" bIns="0" anchor="t">
            <a:spAutoFit/>
          </a:bodyPr>
          <a:lstStyle/>
          <a:p>
            <a:pPr algn="l">
              <a:lnSpc>
                <a:spcPct val="115000"/>
              </a:lnSpc>
            </a:pPr>
            <a:r>
              <a:rPr sz="1100" b="1">
                <a:solidFill>
                  <a:srgbClr val="0F766E"/>
                </a:solidFill>
                <a:latin typeface="Calibri"/>
              </a:rPr>
              <a:t>Rows</a:t>
            </a:r>
          </a:p>
        </p:txBody>
      </p:sp>
      <p:sp>
        <p:nvSpPr>
          <p:cNvPr id="12" name="TextBox 11"/>
          <p:cNvSpPr txBox="1"/>
          <p:nvPr/>
        </p:nvSpPr>
        <p:spPr>
          <a:xfrm>
            <a:off x="7772399" y="3154680"/>
            <a:ext cx="3749040" cy="457200"/>
          </a:xfrm>
          <a:prstGeom prst="rect">
            <a:avLst/>
          </a:prstGeom>
          <a:noFill/>
        </p:spPr>
        <p:txBody>
          <a:bodyPr wrap="square" lIns="0" tIns="0" rIns="0" bIns="0" anchor="t">
            <a:spAutoFit/>
          </a:bodyPr>
          <a:lstStyle/>
          <a:p>
            <a:pPr algn="l">
              <a:lnSpc>
                <a:spcPct val="115000"/>
              </a:lnSpc>
            </a:pPr>
            <a:r>
              <a:rPr sz="2000" b="1">
                <a:solidFill>
                  <a:srgbClr val="1E293B"/>
                </a:solidFill>
                <a:latin typeface="Calibri"/>
              </a:rPr>
              <a:t>70 693  →  69 057</a:t>
            </a:r>
          </a:p>
        </p:txBody>
      </p:sp>
      <p:sp>
        <p:nvSpPr>
          <p:cNvPr id="13" name="TextBox 12"/>
          <p:cNvSpPr txBox="1"/>
          <p:nvPr/>
        </p:nvSpPr>
        <p:spPr>
          <a:xfrm>
            <a:off x="7772399" y="3840480"/>
            <a:ext cx="3749040" cy="365760"/>
          </a:xfrm>
          <a:prstGeom prst="rect">
            <a:avLst/>
          </a:prstGeom>
          <a:noFill/>
        </p:spPr>
        <p:txBody>
          <a:bodyPr wrap="square" lIns="0" tIns="0" rIns="0" bIns="0" anchor="t">
            <a:spAutoFit/>
          </a:bodyPr>
          <a:lstStyle/>
          <a:p>
            <a:pPr algn="l">
              <a:lnSpc>
                <a:spcPct val="115000"/>
              </a:lnSpc>
            </a:pPr>
            <a:r>
              <a:rPr sz="1100" b="1">
                <a:solidFill>
                  <a:srgbClr val="0F766E"/>
                </a:solidFill>
                <a:latin typeface="Calibri"/>
              </a:rPr>
              <a:t>Duplicates</a:t>
            </a:r>
          </a:p>
        </p:txBody>
      </p:sp>
      <p:sp>
        <p:nvSpPr>
          <p:cNvPr id="14" name="TextBox 13"/>
          <p:cNvSpPr txBox="1"/>
          <p:nvPr/>
        </p:nvSpPr>
        <p:spPr>
          <a:xfrm>
            <a:off x="7772399" y="4160520"/>
            <a:ext cx="3749040" cy="457200"/>
          </a:xfrm>
          <a:prstGeom prst="rect">
            <a:avLst/>
          </a:prstGeom>
          <a:noFill/>
        </p:spPr>
        <p:txBody>
          <a:bodyPr wrap="square" lIns="0" tIns="0" rIns="0" bIns="0" anchor="t">
            <a:spAutoFit/>
          </a:bodyPr>
          <a:lstStyle/>
          <a:p>
            <a:pPr algn="l">
              <a:lnSpc>
                <a:spcPct val="115000"/>
              </a:lnSpc>
            </a:pPr>
            <a:r>
              <a:rPr sz="2000" b="1">
                <a:solidFill>
                  <a:srgbClr val="1E293B"/>
                </a:solidFill>
                <a:latin typeface="Calibri"/>
              </a:rPr>
              <a:t>1 636  →  0</a:t>
            </a:r>
          </a:p>
        </p:txBody>
      </p:sp>
      <p:sp>
        <p:nvSpPr>
          <p:cNvPr id="15" name="TextBox 14"/>
          <p:cNvSpPr txBox="1"/>
          <p:nvPr/>
        </p:nvSpPr>
        <p:spPr>
          <a:xfrm>
            <a:off x="7772399" y="4846320"/>
            <a:ext cx="3749040" cy="365760"/>
          </a:xfrm>
          <a:prstGeom prst="rect">
            <a:avLst/>
          </a:prstGeom>
          <a:noFill/>
        </p:spPr>
        <p:txBody>
          <a:bodyPr wrap="square" lIns="0" tIns="0" rIns="0" bIns="0" anchor="t">
            <a:spAutoFit/>
          </a:bodyPr>
          <a:lstStyle/>
          <a:p>
            <a:pPr algn="l">
              <a:lnSpc>
                <a:spcPct val="115000"/>
              </a:lnSpc>
            </a:pPr>
            <a:r>
              <a:rPr sz="1100" b="1">
                <a:solidFill>
                  <a:srgbClr val="0F766E"/>
                </a:solidFill>
                <a:latin typeface="Calibri"/>
              </a:rPr>
              <a:t>Missing values</a:t>
            </a:r>
          </a:p>
        </p:txBody>
      </p:sp>
      <p:sp>
        <p:nvSpPr>
          <p:cNvPr id="16" name="TextBox 15"/>
          <p:cNvSpPr txBox="1"/>
          <p:nvPr/>
        </p:nvSpPr>
        <p:spPr>
          <a:xfrm>
            <a:off x="7772399" y="5166360"/>
            <a:ext cx="3749040" cy="274320"/>
          </a:xfrm>
          <a:prstGeom prst="rect">
            <a:avLst/>
          </a:prstGeom>
          <a:noFill/>
        </p:spPr>
        <p:txBody>
          <a:bodyPr wrap="square" lIns="0" tIns="0" rIns="0" bIns="0" anchor="t">
            <a:spAutoFit/>
          </a:bodyPr>
          <a:lstStyle/>
          <a:p>
            <a:pPr algn="l">
              <a:lnSpc>
                <a:spcPct val="115000"/>
              </a:lnSpc>
            </a:pPr>
            <a:r>
              <a:rPr sz="1400" b="0">
                <a:solidFill>
                  <a:srgbClr val="1E293B"/>
                </a:solidFill>
                <a:latin typeface="Calibri"/>
              </a:rPr>
              <a:t>0  →  0  ✓ already clean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6510528"/>
            <a:ext cx="7315200" cy="274320"/>
          </a:xfrm>
          <a:prstGeom prst="rect">
            <a:avLst/>
          </a:prstGeom>
          <a:noFill/>
        </p:spPr>
        <p:txBody>
          <a:bodyPr wrap="square" lIns="0" tIns="0" rIns="0" bIns="0" anchor="t">
            <a:spAutoFit/>
          </a:bodyPr>
          <a:lstStyle/>
          <a:p>
            <a:pPr algn="l">
              <a:lnSpc>
                <a:spcPct val="115000"/>
              </a:lnSpc>
            </a:pPr>
            <a:r>
              <a:rPr sz="900" b="0">
                <a:solidFill>
                  <a:srgbClr val="94A3B8"/>
                </a:solidFill>
                <a:latin typeface="Calibri"/>
              </a:rPr>
              <a:t>Diabetes Risk Prediction  ·  Intro to Data Science  ·  Sem 2</a:t>
            </a:r>
          </a:p>
        </p:txBody>
      </p:sp>
      <p:sp>
        <p:nvSpPr>
          <p:cNvPr id="4" name="TextBox 3"/>
          <p:cNvSpPr txBox="1"/>
          <p:nvPr/>
        </p:nvSpPr>
        <p:spPr>
          <a:xfrm>
            <a:off x="11094415" y="6510528"/>
            <a:ext cx="822960" cy="274320"/>
          </a:xfrm>
          <a:prstGeom prst="rect">
            <a:avLst/>
          </a:prstGeom>
          <a:noFill/>
        </p:spPr>
        <p:txBody>
          <a:bodyPr wrap="square" lIns="0" tIns="0" rIns="0" bIns="0" anchor="t">
            <a:spAutoFit/>
          </a:bodyPr>
          <a:lstStyle/>
          <a:p>
            <a:pPr algn="r">
              <a:lnSpc>
                <a:spcPct val="115000"/>
              </a:lnSpc>
            </a:pPr>
            <a:r>
              <a:rPr sz="900" b="0">
                <a:solidFill>
                  <a:srgbClr val="94A3B8"/>
                </a:solidFill>
                <a:latin typeface="Calibri"/>
              </a:rPr>
              <a:t>8 / 17</a:t>
            </a:r>
          </a:p>
        </p:txBody>
      </p:sp>
      <p:sp>
        <p:nvSpPr>
          <p:cNvPr id="5" name="TextBox 4"/>
          <p:cNvSpPr txBox="1"/>
          <p:nvPr/>
        </p:nvSpPr>
        <p:spPr>
          <a:xfrm>
            <a:off x="640080" y="502920"/>
            <a:ext cx="10972800" cy="274320"/>
          </a:xfrm>
          <a:prstGeom prst="rect">
            <a:avLst/>
          </a:prstGeom>
          <a:noFill/>
        </p:spPr>
        <p:txBody>
          <a:bodyPr wrap="square" lIns="0" tIns="0" rIns="0" bIns="0" anchor="t">
            <a:spAutoFit/>
          </a:bodyPr>
          <a:lstStyle/>
          <a:p>
            <a:pPr algn="l">
              <a:lnSpc>
                <a:spcPct val="115000"/>
              </a:lnSpc>
            </a:pPr>
            <a:r>
              <a:rPr sz="1000" b="1">
                <a:solidFill>
                  <a:srgbClr val="F59E0B"/>
                </a:solidFill>
                <a:latin typeface="Calibri"/>
              </a:rPr>
              <a:t>06  ·  EDA</a:t>
            </a:r>
          </a:p>
        </p:txBody>
      </p:sp>
      <p:sp>
        <p:nvSpPr>
          <p:cNvPr id="6" name="TextBox 5"/>
          <p:cNvSpPr txBox="1"/>
          <p:nvPr/>
        </p:nvSpPr>
        <p:spPr>
          <a:xfrm>
            <a:off x="640080" y="822960"/>
            <a:ext cx="10972800" cy="685800"/>
          </a:xfrm>
          <a:prstGeom prst="rect">
            <a:avLst/>
          </a:prstGeom>
          <a:noFill/>
        </p:spPr>
        <p:txBody>
          <a:bodyPr wrap="square" lIns="0" tIns="0" rIns="0" bIns="0" anchor="t">
            <a:spAutoFit/>
          </a:bodyPr>
          <a:lstStyle/>
          <a:p>
            <a:pPr algn="l">
              <a:lnSpc>
                <a:spcPct val="115000"/>
              </a:lnSpc>
            </a:pPr>
            <a:r>
              <a:rPr sz="2800" b="1">
                <a:solidFill>
                  <a:srgbClr val="1E293B"/>
                </a:solidFill>
                <a:latin typeface="Calibri"/>
              </a:rPr>
              <a:t>Exploratory data analysis</a:t>
            </a:r>
          </a:p>
        </p:txBody>
      </p:sp>
      <p:sp>
        <p:nvSpPr>
          <p:cNvPr id="7" name="Rectangle 6"/>
          <p:cNvSpPr/>
          <p:nvPr/>
        </p:nvSpPr>
        <p:spPr>
          <a:xfrm>
            <a:off x="640080" y="1463040"/>
            <a:ext cx="457200" cy="45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01_class_balance.png"/>
          <p:cNvPicPr>
            <a:picLocks noChangeAspect="1"/>
          </p:cNvPicPr>
          <p:nvPr/>
        </p:nvPicPr>
        <p:blipFill>
          <a:blip r:embed="rId3"/>
          <a:stretch>
            <a:fillRect/>
          </a:stretch>
        </p:blipFill>
        <p:spPr>
          <a:xfrm>
            <a:off x="640080" y="1920240"/>
            <a:ext cx="5303520" cy="2240280"/>
          </a:xfrm>
          <a:prstGeom prst="rect">
            <a:avLst/>
          </a:prstGeom>
        </p:spPr>
      </p:pic>
      <p:pic>
        <p:nvPicPr>
          <p:cNvPr id="9" name="Picture 8" descr="02_bmi_distribution.png"/>
          <p:cNvPicPr>
            <a:picLocks noChangeAspect="1"/>
          </p:cNvPicPr>
          <p:nvPr/>
        </p:nvPicPr>
        <p:blipFill>
          <a:blip r:embed="rId4"/>
          <a:stretch>
            <a:fillRect/>
          </a:stretch>
        </p:blipFill>
        <p:spPr>
          <a:xfrm>
            <a:off x="6263640" y="1920240"/>
            <a:ext cx="5303520" cy="2240280"/>
          </a:xfrm>
          <a:prstGeom prst="rect">
            <a:avLst/>
          </a:prstGeom>
        </p:spPr>
      </p:pic>
      <p:pic>
        <p:nvPicPr>
          <p:cNvPr id="10" name="Picture 9" descr="03_bmi_boxplot.png"/>
          <p:cNvPicPr>
            <a:picLocks noChangeAspect="1"/>
          </p:cNvPicPr>
          <p:nvPr/>
        </p:nvPicPr>
        <p:blipFill>
          <a:blip r:embed="rId5"/>
          <a:stretch>
            <a:fillRect/>
          </a:stretch>
        </p:blipFill>
        <p:spPr>
          <a:xfrm>
            <a:off x="640080" y="4343400"/>
            <a:ext cx="5303520" cy="2240280"/>
          </a:xfrm>
          <a:prstGeom prst="rect">
            <a:avLst/>
          </a:prstGeom>
        </p:spPr>
      </p:pic>
      <p:pic>
        <p:nvPicPr>
          <p:cNvPr id="11" name="Picture 10" descr="04_bp_chol.png"/>
          <p:cNvPicPr>
            <a:picLocks noChangeAspect="1"/>
          </p:cNvPicPr>
          <p:nvPr/>
        </p:nvPicPr>
        <p:blipFill>
          <a:blip r:embed="rId6"/>
          <a:stretch>
            <a:fillRect/>
          </a:stretch>
        </p:blipFill>
        <p:spPr>
          <a:xfrm>
            <a:off x="6263640" y="4343400"/>
            <a:ext cx="5303520" cy="224028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6510528"/>
            <a:ext cx="7315200" cy="274320"/>
          </a:xfrm>
          <a:prstGeom prst="rect">
            <a:avLst/>
          </a:prstGeom>
          <a:noFill/>
        </p:spPr>
        <p:txBody>
          <a:bodyPr wrap="square" lIns="0" tIns="0" rIns="0" bIns="0" anchor="t">
            <a:spAutoFit/>
          </a:bodyPr>
          <a:lstStyle/>
          <a:p>
            <a:pPr algn="l">
              <a:lnSpc>
                <a:spcPct val="115000"/>
              </a:lnSpc>
            </a:pPr>
            <a:r>
              <a:rPr sz="900" b="0">
                <a:solidFill>
                  <a:srgbClr val="94A3B8"/>
                </a:solidFill>
                <a:latin typeface="Calibri"/>
              </a:rPr>
              <a:t>Diabetes Risk Prediction  ·  Intro to Data Science  ·  Sem 2</a:t>
            </a:r>
          </a:p>
        </p:txBody>
      </p:sp>
      <p:sp>
        <p:nvSpPr>
          <p:cNvPr id="4" name="TextBox 3"/>
          <p:cNvSpPr txBox="1"/>
          <p:nvPr/>
        </p:nvSpPr>
        <p:spPr>
          <a:xfrm>
            <a:off x="11094415" y="6510528"/>
            <a:ext cx="822960" cy="274320"/>
          </a:xfrm>
          <a:prstGeom prst="rect">
            <a:avLst/>
          </a:prstGeom>
          <a:noFill/>
        </p:spPr>
        <p:txBody>
          <a:bodyPr wrap="square" lIns="0" tIns="0" rIns="0" bIns="0" anchor="t">
            <a:spAutoFit/>
          </a:bodyPr>
          <a:lstStyle/>
          <a:p>
            <a:pPr algn="r">
              <a:lnSpc>
                <a:spcPct val="115000"/>
              </a:lnSpc>
            </a:pPr>
            <a:r>
              <a:rPr sz="900" b="0">
                <a:solidFill>
                  <a:srgbClr val="94A3B8"/>
                </a:solidFill>
                <a:latin typeface="Calibri"/>
              </a:rPr>
              <a:t>9 / 17</a:t>
            </a:r>
          </a:p>
        </p:txBody>
      </p:sp>
      <p:sp>
        <p:nvSpPr>
          <p:cNvPr id="5" name="TextBox 4"/>
          <p:cNvSpPr txBox="1"/>
          <p:nvPr/>
        </p:nvSpPr>
        <p:spPr>
          <a:xfrm>
            <a:off x="640080" y="502920"/>
            <a:ext cx="10972800" cy="274320"/>
          </a:xfrm>
          <a:prstGeom prst="rect">
            <a:avLst/>
          </a:prstGeom>
          <a:noFill/>
        </p:spPr>
        <p:txBody>
          <a:bodyPr wrap="square" lIns="0" tIns="0" rIns="0" bIns="0" anchor="t">
            <a:spAutoFit/>
          </a:bodyPr>
          <a:lstStyle/>
          <a:p>
            <a:pPr algn="l">
              <a:lnSpc>
                <a:spcPct val="115000"/>
              </a:lnSpc>
            </a:pPr>
            <a:r>
              <a:rPr sz="1000" b="1">
                <a:solidFill>
                  <a:srgbClr val="F59E0B"/>
                </a:solidFill>
                <a:latin typeface="Calibri"/>
              </a:rPr>
              <a:t>07  ·  CORRELATION</a:t>
            </a:r>
          </a:p>
        </p:txBody>
      </p:sp>
      <p:sp>
        <p:nvSpPr>
          <p:cNvPr id="6" name="TextBox 5"/>
          <p:cNvSpPr txBox="1"/>
          <p:nvPr/>
        </p:nvSpPr>
        <p:spPr>
          <a:xfrm>
            <a:off x="640080" y="822960"/>
            <a:ext cx="10972800" cy="685800"/>
          </a:xfrm>
          <a:prstGeom prst="rect">
            <a:avLst/>
          </a:prstGeom>
          <a:noFill/>
        </p:spPr>
        <p:txBody>
          <a:bodyPr wrap="square" lIns="0" tIns="0" rIns="0" bIns="0" anchor="t">
            <a:spAutoFit/>
          </a:bodyPr>
          <a:lstStyle/>
          <a:p>
            <a:pPr algn="l">
              <a:lnSpc>
                <a:spcPct val="115000"/>
              </a:lnSpc>
            </a:pPr>
            <a:r>
              <a:rPr sz="2800" b="1">
                <a:solidFill>
                  <a:srgbClr val="1E293B"/>
                </a:solidFill>
                <a:latin typeface="Calibri"/>
              </a:rPr>
              <a:t>Which features matter most?</a:t>
            </a:r>
          </a:p>
        </p:txBody>
      </p:sp>
      <p:sp>
        <p:nvSpPr>
          <p:cNvPr id="7" name="Rectangle 6"/>
          <p:cNvSpPr/>
          <p:nvPr/>
        </p:nvSpPr>
        <p:spPr>
          <a:xfrm>
            <a:off x="640080" y="1463040"/>
            <a:ext cx="457200" cy="45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05_correlation_heatmap.png"/>
          <p:cNvPicPr>
            <a:picLocks noChangeAspect="1"/>
          </p:cNvPicPr>
          <p:nvPr/>
        </p:nvPicPr>
        <p:blipFill>
          <a:blip r:embed="rId3"/>
          <a:stretch>
            <a:fillRect/>
          </a:stretch>
        </p:blipFill>
        <p:spPr>
          <a:xfrm>
            <a:off x="365760" y="1783080"/>
            <a:ext cx="6400800" cy="4754880"/>
          </a:xfrm>
          <a:prstGeom prst="rect">
            <a:avLst/>
          </a:prstGeom>
        </p:spPr>
      </p:pic>
      <p:sp>
        <p:nvSpPr>
          <p:cNvPr id="9" name="TextBox 8"/>
          <p:cNvSpPr txBox="1"/>
          <p:nvPr/>
        </p:nvSpPr>
        <p:spPr>
          <a:xfrm>
            <a:off x="6949440" y="1828800"/>
            <a:ext cx="5029200" cy="365760"/>
          </a:xfrm>
          <a:prstGeom prst="rect">
            <a:avLst/>
          </a:prstGeom>
          <a:noFill/>
        </p:spPr>
        <p:txBody>
          <a:bodyPr wrap="square" lIns="0" tIns="0" rIns="0" bIns="0" anchor="t">
            <a:spAutoFit/>
          </a:bodyPr>
          <a:lstStyle/>
          <a:p>
            <a:pPr algn="l">
              <a:lnSpc>
                <a:spcPct val="115000"/>
              </a:lnSpc>
            </a:pPr>
            <a:r>
              <a:rPr sz="1100" b="1">
                <a:solidFill>
                  <a:srgbClr val="F59E0B"/>
                </a:solidFill>
                <a:latin typeface="Calibri"/>
              </a:rPr>
              <a:t>TOP 10 CORRELATED WITH DIABETES</a:t>
            </a:r>
          </a:p>
        </p:txBody>
      </p:sp>
      <p:sp>
        <p:nvSpPr>
          <p:cNvPr id="10" name="TextBox 9"/>
          <p:cNvSpPr txBox="1"/>
          <p:nvPr/>
        </p:nvSpPr>
        <p:spPr>
          <a:xfrm>
            <a:off x="6949440" y="2286000"/>
            <a:ext cx="2468880" cy="320040"/>
          </a:xfrm>
          <a:prstGeom prst="rect">
            <a:avLst/>
          </a:prstGeom>
          <a:noFill/>
        </p:spPr>
        <p:txBody>
          <a:bodyPr wrap="square" lIns="0" tIns="0" rIns="0" bIns="0" anchor="t">
            <a:spAutoFit/>
          </a:bodyPr>
          <a:lstStyle/>
          <a:p>
            <a:pPr algn="l">
              <a:lnSpc>
                <a:spcPct val="115000"/>
              </a:lnSpc>
            </a:pPr>
            <a:r>
              <a:rPr sz="1200" b="1">
                <a:solidFill>
                  <a:srgbClr val="1E293B"/>
                </a:solidFill>
                <a:latin typeface="Calibri"/>
              </a:rPr>
              <a:t>GenHlth</a:t>
            </a:r>
          </a:p>
        </p:txBody>
      </p:sp>
      <p:sp>
        <p:nvSpPr>
          <p:cNvPr id="11" name="Rectangle 10"/>
          <p:cNvSpPr/>
          <p:nvPr/>
        </p:nvSpPr>
        <p:spPr>
          <a:xfrm>
            <a:off x="9509760" y="2350008"/>
            <a:ext cx="1996592" cy="18288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1597792" y="2286000"/>
            <a:ext cx="731520" cy="320040"/>
          </a:xfrm>
          <a:prstGeom prst="rect">
            <a:avLst/>
          </a:prstGeom>
          <a:noFill/>
        </p:spPr>
        <p:txBody>
          <a:bodyPr wrap="square" lIns="0" tIns="0" rIns="0" bIns="0" anchor="t">
            <a:spAutoFit/>
          </a:bodyPr>
          <a:lstStyle/>
          <a:p>
            <a:pPr algn="l">
              <a:lnSpc>
                <a:spcPct val="115000"/>
              </a:lnSpc>
            </a:pPr>
            <a:r>
              <a:rPr sz="1100" b="0">
                <a:solidFill>
                  <a:srgbClr val="475569"/>
                </a:solidFill>
                <a:latin typeface="Calibri"/>
              </a:rPr>
              <a:t>0.40</a:t>
            </a:r>
          </a:p>
        </p:txBody>
      </p:sp>
      <p:sp>
        <p:nvSpPr>
          <p:cNvPr id="13" name="TextBox 12"/>
          <p:cNvSpPr txBox="1"/>
          <p:nvPr/>
        </p:nvSpPr>
        <p:spPr>
          <a:xfrm>
            <a:off x="6949440" y="2670048"/>
            <a:ext cx="2468880" cy="320040"/>
          </a:xfrm>
          <a:prstGeom prst="rect">
            <a:avLst/>
          </a:prstGeom>
          <a:noFill/>
        </p:spPr>
        <p:txBody>
          <a:bodyPr wrap="square" lIns="0" tIns="0" rIns="0" bIns="0" anchor="t">
            <a:spAutoFit/>
          </a:bodyPr>
          <a:lstStyle/>
          <a:p>
            <a:pPr algn="l">
              <a:lnSpc>
                <a:spcPct val="115000"/>
              </a:lnSpc>
            </a:pPr>
            <a:r>
              <a:rPr sz="1200" b="1">
                <a:solidFill>
                  <a:srgbClr val="1E293B"/>
                </a:solidFill>
                <a:latin typeface="Calibri"/>
              </a:rPr>
              <a:t>HighBP</a:t>
            </a:r>
          </a:p>
        </p:txBody>
      </p:sp>
      <p:sp>
        <p:nvSpPr>
          <p:cNvPr id="14" name="Rectangle 13"/>
          <p:cNvSpPr/>
          <p:nvPr/>
        </p:nvSpPr>
        <p:spPr>
          <a:xfrm>
            <a:off x="9509760" y="2734056"/>
            <a:ext cx="1870862" cy="18288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1472062" y="2670048"/>
            <a:ext cx="731520" cy="320040"/>
          </a:xfrm>
          <a:prstGeom prst="rect">
            <a:avLst/>
          </a:prstGeom>
          <a:noFill/>
        </p:spPr>
        <p:txBody>
          <a:bodyPr wrap="square" lIns="0" tIns="0" rIns="0" bIns="0" anchor="t">
            <a:spAutoFit/>
          </a:bodyPr>
          <a:lstStyle/>
          <a:p>
            <a:pPr algn="l">
              <a:lnSpc>
                <a:spcPct val="115000"/>
              </a:lnSpc>
            </a:pPr>
            <a:r>
              <a:rPr sz="1100" b="0">
                <a:solidFill>
                  <a:srgbClr val="475569"/>
                </a:solidFill>
                <a:latin typeface="Calibri"/>
              </a:rPr>
              <a:t>0.37</a:t>
            </a:r>
          </a:p>
        </p:txBody>
      </p:sp>
      <p:sp>
        <p:nvSpPr>
          <p:cNvPr id="16" name="TextBox 15"/>
          <p:cNvSpPr txBox="1"/>
          <p:nvPr/>
        </p:nvSpPr>
        <p:spPr>
          <a:xfrm>
            <a:off x="6949440" y="3054096"/>
            <a:ext cx="2468880" cy="320040"/>
          </a:xfrm>
          <a:prstGeom prst="rect">
            <a:avLst/>
          </a:prstGeom>
          <a:noFill/>
        </p:spPr>
        <p:txBody>
          <a:bodyPr wrap="square" lIns="0" tIns="0" rIns="0" bIns="0" anchor="t">
            <a:spAutoFit/>
          </a:bodyPr>
          <a:lstStyle/>
          <a:p>
            <a:pPr algn="l">
              <a:lnSpc>
                <a:spcPct val="115000"/>
              </a:lnSpc>
            </a:pPr>
            <a:r>
              <a:rPr sz="1200" b="1">
                <a:solidFill>
                  <a:srgbClr val="1E293B"/>
                </a:solidFill>
                <a:latin typeface="Calibri"/>
              </a:rPr>
              <a:t>BMI</a:t>
            </a:r>
          </a:p>
        </p:txBody>
      </p:sp>
      <p:sp>
        <p:nvSpPr>
          <p:cNvPr id="17" name="Rectangle 16"/>
          <p:cNvSpPr/>
          <p:nvPr/>
        </p:nvSpPr>
        <p:spPr>
          <a:xfrm>
            <a:off x="9509760" y="3118104"/>
            <a:ext cx="1438351" cy="18288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1039551" y="3054096"/>
            <a:ext cx="731520" cy="320040"/>
          </a:xfrm>
          <a:prstGeom prst="rect">
            <a:avLst/>
          </a:prstGeom>
          <a:noFill/>
        </p:spPr>
        <p:txBody>
          <a:bodyPr wrap="square" lIns="0" tIns="0" rIns="0" bIns="0" anchor="t">
            <a:spAutoFit/>
          </a:bodyPr>
          <a:lstStyle/>
          <a:p>
            <a:pPr algn="l">
              <a:lnSpc>
                <a:spcPct val="115000"/>
              </a:lnSpc>
            </a:pPr>
            <a:r>
              <a:rPr sz="1100" b="0">
                <a:solidFill>
                  <a:srgbClr val="475569"/>
                </a:solidFill>
                <a:latin typeface="Calibri"/>
              </a:rPr>
              <a:t>0.29</a:t>
            </a:r>
          </a:p>
        </p:txBody>
      </p:sp>
      <p:sp>
        <p:nvSpPr>
          <p:cNvPr id="19" name="TextBox 18"/>
          <p:cNvSpPr txBox="1"/>
          <p:nvPr/>
        </p:nvSpPr>
        <p:spPr>
          <a:xfrm>
            <a:off x="6949440" y="3438144"/>
            <a:ext cx="2468880" cy="320040"/>
          </a:xfrm>
          <a:prstGeom prst="rect">
            <a:avLst/>
          </a:prstGeom>
          <a:noFill/>
        </p:spPr>
        <p:txBody>
          <a:bodyPr wrap="square" lIns="0" tIns="0" rIns="0" bIns="0" anchor="t">
            <a:spAutoFit/>
          </a:bodyPr>
          <a:lstStyle/>
          <a:p>
            <a:pPr algn="l">
              <a:lnSpc>
                <a:spcPct val="115000"/>
              </a:lnSpc>
            </a:pPr>
            <a:r>
              <a:rPr sz="1200" b="1">
                <a:solidFill>
                  <a:srgbClr val="1E293B"/>
                </a:solidFill>
                <a:latin typeface="Calibri"/>
              </a:rPr>
              <a:t>HighChol</a:t>
            </a:r>
          </a:p>
        </p:txBody>
      </p:sp>
      <p:sp>
        <p:nvSpPr>
          <p:cNvPr id="20" name="Rectangle 19"/>
          <p:cNvSpPr/>
          <p:nvPr/>
        </p:nvSpPr>
        <p:spPr>
          <a:xfrm>
            <a:off x="9509760" y="3502152"/>
            <a:ext cx="1413205" cy="18288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1014405" y="3438144"/>
            <a:ext cx="731520" cy="320040"/>
          </a:xfrm>
          <a:prstGeom prst="rect">
            <a:avLst/>
          </a:prstGeom>
          <a:noFill/>
        </p:spPr>
        <p:txBody>
          <a:bodyPr wrap="square" lIns="0" tIns="0" rIns="0" bIns="0" anchor="t">
            <a:spAutoFit/>
          </a:bodyPr>
          <a:lstStyle/>
          <a:p>
            <a:pPr algn="l">
              <a:lnSpc>
                <a:spcPct val="115000"/>
              </a:lnSpc>
            </a:pPr>
            <a:r>
              <a:rPr sz="1100" b="0">
                <a:solidFill>
                  <a:srgbClr val="475569"/>
                </a:solidFill>
                <a:latin typeface="Calibri"/>
              </a:rPr>
              <a:t>0.28</a:t>
            </a:r>
          </a:p>
        </p:txBody>
      </p:sp>
      <p:sp>
        <p:nvSpPr>
          <p:cNvPr id="22" name="TextBox 21"/>
          <p:cNvSpPr txBox="1"/>
          <p:nvPr/>
        </p:nvSpPr>
        <p:spPr>
          <a:xfrm>
            <a:off x="6949440" y="3822192"/>
            <a:ext cx="2468880" cy="320040"/>
          </a:xfrm>
          <a:prstGeom prst="rect">
            <a:avLst/>
          </a:prstGeom>
          <a:noFill/>
        </p:spPr>
        <p:txBody>
          <a:bodyPr wrap="square" lIns="0" tIns="0" rIns="0" bIns="0" anchor="t">
            <a:spAutoFit/>
          </a:bodyPr>
          <a:lstStyle/>
          <a:p>
            <a:pPr algn="l">
              <a:lnSpc>
                <a:spcPct val="115000"/>
              </a:lnSpc>
            </a:pPr>
            <a:r>
              <a:rPr sz="1200" b="1">
                <a:solidFill>
                  <a:srgbClr val="1E293B"/>
                </a:solidFill>
                <a:latin typeface="Calibri"/>
              </a:rPr>
              <a:t>Age</a:t>
            </a:r>
          </a:p>
        </p:txBody>
      </p:sp>
      <p:sp>
        <p:nvSpPr>
          <p:cNvPr id="23" name="Rectangle 22"/>
          <p:cNvSpPr/>
          <p:nvPr/>
        </p:nvSpPr>
        <p:spPr>
          <a:xfrm>
            <a:off x="9509760" y="3886200"/>
            <a:ext cx="1383030" cy="18288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984230" y="3822192"/>
            <a:ext cx="731520" cy="320040"/>
          </a:xfrm>
          <a:prstGeom prst="rect">
            <a:avLst/>
          </a:prstGeom>
          <a:noFill/>
        </p:spPr>
        <p:txBody>
          <a:bodyPr wrap="square" lIns="0" tIns="0" rIns="0" bIns="0" anchor="t">
            <a:spAutoFit/>
          </a:bodyPr>
          <a:lstStyle/>
          <a:p>
            <a:pPr algn="l">
              <a:lnSpc>
                <a:spcPct val="115000"/>
              </a:lnSpc>
            </a:pPr>
            <a:r>
              <a:rPr sz="1100" b="0">
                <a:solidFill>
                  <a:srgbClr val="475569"/>
                </a:solidFill>
                <a:latin typeface="Calibri"/>
              </a:rPr>
              <a:t>0.28</a:t>
            </a:r>
          </a:p>
        </p:txBody>
      </p:sp>
      <p:sp>
        <p:nvSpPr>
          <p:cNvPr id="25" name="TextBox 24"/>
          <p:cNvSpPr txBox="1"/>
          <p:nvPr/>
        </p:nvSpPr>
        <p:spPr>
          <a:xfrm>
            <a:off x="6949440" y="4206240"/>
            <a:ext cx="2468880" cy="320040"/>
          </a:xfrm>
          <a:prstGeom prst="rect">
            <a:avLst/>
          </a:prstGeom>
          <a:noFill/>
        </p:spPr>
        <p:txBody>
          <a:bodyPr wrap="square" lIns="0" tIns="0" rIns="0" bIns="0" anchor="t">
            <a:spAutoFit/>
          </a:bodyPr>
          <a:lstStyle/>
          <a:p>
            <a:pPr algn="l">
              <a:lnSpc>
                <a:spcPct val="115000"/>
              </a:lnSpc>
            </a:pPr>
            <a:r>
              <a:rPr sz="1200" b="1">
                <a:solidFill>
                  <a:srgbClr val="1E293B"/>
                </a:solidFill>
                <a:latin typeface="Calibri"/>
              </a:rPr>
              <a:t>DiffWalk</a:t>
            </a:r>
          </a:p>
        </p:txBody>
      </p:sp>
      <p:sp>
        <p:nvSpPr>
          <p:cNvPr id="26" name="Rectangle 25"/>
          <p:cNvSpPr/>
          <p:nvPr/>
        </p:nvSpPr>
        <p:spPr>
          <a:xfrm>
            <a:off x="9509760" y="4270248"/>
            <a:ext cx="1342796" cy="18288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0943996" y="4206240"/>
            <a:ext cx="731520" cy="320040"/>
          </a:xfrm>
          <a:prstGeom prst="rect">
            <a:avLst/>
          </a:prstGeom>
          <a:noFill/>
        </p:spPr>
        <p:txBody>
          <a:bodyPr wrap="square" lIns="0" tIns="0" rIns="0" bIns="0" anchor="t">
            <a:spAutoFit/>
          </a:bodyPr>
          <a:lstStyle/>
          <a:p>
            <a:pPr algn="l">
              <a:lnSpc>
                <a:spcPct val="115000"/>
              </a:lnSpc>
            </a:pPr>
            <a:r>
              <a:rPr sz="1100" b="0">
                <a:solidFill>
                  <a:srgbClr val="475569"/>
                </a:solidFill>
                <a:latin typeface="Calibri"/>
              </a:rPr>
              <a:t>0.27</a:t>
            </a:r>
          </a:p>
        </p:txBody>
      </p:sp>
      <p:sp>
        <p:nvSpPr>
          <p:cNvPr id="28" name="TextBox 27"/>
          <p:cNvSpPr txBox="1"/>
          <p:nvPr/>
        </p:nvSpPr>
        <p:spPr>
          <a:xfrm>
            <a:off x="6949440" y="4590288"/>
            <a:ext cx="2468880" cy="320040"/>
          </a:xfrm>
          <a:prstGeom prst="rect">
            <a:avLst/>
          </a:prstGeom>
          <a:noFill/>
        </p:spPr>
        <p:txBody>
          <a:bodyPr wrap="square" lIns="0" tIns="0" rIns="0" bIns="0" anchor="t">
            <a:spAutoFit/>
          </a:bodyPr>
          <a:lstStyle/>
          <a:p>
            <a:pPr algn="l">
              <a:lnSpc>
                <a:spcPct val="115000"/>
              </a:lnSpc>
            </a:pPr>
            <a:r>
              <a:rPr sz="1200" b="1">
                <a:solidFill>
                  <a:srgbClr val="1E293B"/>
                </a:solidFill>
                <a:latin typeface="Calibri"/>
              </a:rPr>
              <a:t>Income</a:t>
            </a:r>
          </a:p>
        </p:txBody>
      </p:sp>
      <p:sp>
        <p:nvSpPr>
          <p:cNvPr id="29" name="Rectangle 28"/>
          <p:cNvSpPr/>
          <p:nvPr/>
        </p:nvSpPr>
        <p:spPr>
          <a:xfrm>
            <a:off x="9509760" y="4654296"/>
            <a:ext cx="1071219" cy="18288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0672419" y="4590288"/>
            <a:ext cx="731520" cy="320040"/>
          </a:xfrm>
          <a:prstGeom prst="rect">
            <a:avLst/>
          </a:prstGeom>
          <a:noFill/>
        </p:spPr>
        <p:txBody>
          <a:bodyPr wrap="square" lIns="0" tIns="0" rIns="0" bIns="0" anchor="t">
            <a:spAutoFit/>
          </a:bodyPr>
          <a:lstStyle/>
          <a:p>
            <a:pPr algn="l">
              <a:lnSpc>
                <a:spcPct val="115000"/>
              </a:lnSpc>
            </a:pPr>
            <a:r>
              <a:rPr sz="1100" b="0">
                <a:solidFill>
                  <a:srgbClr val="475569"/>
                </a:solidFill>
                <a:latin typeface="Calibri"/>
              </a:rPr>
              <a:t>0.21</a:t>
            </a:r>
          </a:p>
        </p:txBody>
      </p:sp>
      <p:sp>
        <p:nvSpPr>
          <p:cNvPr id="31" name="TextBox 30"/>
          <p:cNvSpPr txBox="1"/>
          <p:nvPr/>
        </p:nvSpPr>
        <p:spPr>
          <a:xfrm>
            <a:off x="6949440" y="4974336"/>
            <a:ext cx="2468880" cy="320040"/>
          </a:xfrm>
          <a:prstGeom prst="rect">
            <a:avLst/>
          </a:prstGeom>
          <a:noFill/>
        </p:spPr>
        <p:txBody>
          <a:bodyPr wrap="square" lIns="0" tIns="0" rIns="0" bIns="0" anchor="t">
            <a:spAutoFit/>
          </a:bodyPr>
          <a:lstStyle/>
          <a:p>
            <a:pPr algn="l">
              <a:lnSpc>
                <a:spcPct val="115000"/>
              </a:lnSpc>
            </a:pPr>
            <a:r>
              <a:rPr sz="1200" b="1">
                <a:solidFill>
                  <a:srgbClr val="1E293B"/>
                </a:solidFill>
                <a:latin typeface="Calibri"/>
              </a:rPr>
              <a:t>HeartDiseaseorAttack</a:t>
            </a:r>
          </a:p>
        </p:txBody>
      </p:sp>
      <p:sp>
        <p:nvSpPr>
          <p:cNvPr id="32" name="Rectangle 31"/>
          <p:cNvSpPr/>
          <p:nvPr/>
        </p:nvSpPr>
        <p:spPr>
          <a:xfrm>
            <a:off x="9509760" y="5038344"/>
            <a:ext cx="1041044" cy="18288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642244" y="4974336"/>
            <a:ext cx="731520" cy="320040"/>
          </a:xfrm>
          <a:prstGeom prst="rect">
            <a:avLst/>
          </a:prstGeom>
          <a:noFill/>
        </p:spPr>
        <p:txBody>
          <a:bodyPr wrap="square" lIns="0" tIns="0" rIns="0" bIns="0" anchor="t">
            <a:spAutoFit/>
          </a:bodyPr>
          <a:lstStyle/>
          <a:p>
            <a:pPr algn="l">
              <a:lnSpc>
                <a:spcPct val="115000"/>
              </a:lnSpc>
            </a:pPr>
            <a:r>
              <a:rPr sz="1100" b="0">
                <a:solidFill>
                  <a:srgbClr val="475569"/>
                </a:solidFill>
                <a:latin typeface="Calibri"/>
              </a:rPr>
              <a:t>0.21</a:t>
            </a:r>
          </a:p>
        </p:txBody>
      </p:sp>
      <p:sp>
        <p:nvSpPr>
          <p:cNvPr id="34" name="TextBox 33"/>
          <p:cNvSpPr txBox="1"/>
          <p:nvPr/>
        </p:nvSpPr>
        <p:spPr>
          <a:xfrm>
            <a:off x="6949440" y="5358384"/>
            <a:ext cx="2468880" cy="320040"/>
          </a:xfrm>
          <a:prstGeom prst="rect">
            <a:avLst/>
          </a:prstGeom>
          <a:noFill/>
        </p:spPr>
        <p:txBody>
          <a:bodyPr wrap="square" lIns="0" tIns="0" rIns="0" bIns="0" anchor="t">
            <a:spAutoFit/>
          </a:bodyPr>
          <a:lstStyle/>
          <a:p>
            <a:pPr algn="l">
              <a:lnSpc>
                <a:spcPct val="115000"/>
              </a:lnSpc>
            </a:pPr>
            <a:r>
              <a:rPr sz="1200" b="1">
                <a:solidFill>
                  <a:srgbClr val="1E293B"/>
                </a:solidFill>
                <a:latin typeface="Calibri"/>
              </a:rPr>
              <a:t>PhysHlth</a:t>
            </a:r>
          </a:p>
        </p:txBody>
      </p:sp>
      <p:sp>
        <p:nvSpPr>
          <p:cNvPr id="35" name="Rectangle 34"/>
          <p:cNvSpPr/>
          <p:nvPr/>
        </p:nvSpPr>
        <p:spPr>
          <a:xfrm>
            <a:off x="9509760" y="5422392"/>
            <a:ext cx="1041044" cy="18288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0642244" y="5358384"/>
            <a:ext cx="731520" cy="320040"/>
          </a:xfrm>
          <a:prstGeom prst="rect">
            <a:avLst/>
          </a:prstGeom>
          <a:noFill/>
        </p:spPr>
        <p:txBody>
          <a:bodyPr wrap="square" lIns="0" tIns="0" rIns="0" bIns="0" anchor="t">
            <a:spAutoFit/>
          </a:bodyPr>
          <a:lstStyle/>
          <a:p>
            <a:pPr algn="l">
              <a:lnSpc>
                <a:spcPct val="115000"/>
              </a:lnSpc>
            </a:pPr>
            <a:r>
              <a:rPr sz="1100" b="0">
                <a:solidFill>
                  <a:srgbClr val="475569"/>
                </a:solidFill>
                <a:latin typeface="Calibri"/>
              </a:rPr>
              <a:t>0.21</a:t>
            </a:r>
          </a:p>
        </p:txBody>
      </p:sp>
      <p:sp>
        <p:nvSpPr>
          <p:cNvPr id="37" name="TextBox 36"/>
          <p:cNvSpPr txBox="1"/>
          <p:nvPr/>
        </p:nvSpPr>
        <p:spPr>
          <a:xfrm>
            <a:off x="6949440" y="5742432"/>
            <a:ext cx="2468880" cy="320040"/>
          </a:xfrm>
          <a:prstGeom prst="rect">
            <a:avLst/>
          </a:prstGeom>
          <a:noFill/>
        </p:spPr>
        <p:txBody>
          <a:bodyPr wrap="square" lIns="0" tIns="0" rIns="0" bIns="0" anchor="t">
            <a:spAutoFit/>
          </a:bodyPr>
          <a:lstStyle/>
          <a:p>
            <a:pPr algn="l">
              <a:lnSpc>
                <a:spcPct val="115000"/>
              </a:lnSpc>
            </a:pPr>
            <a:r>
              <a:rPr sz="1200" b="1">
                <a:solidFill>
                  <a:srgbClr val="1E293B"/>
                </a:solidFill>
                <a:latin typeface="Calibri"/>
              </a:rPr>
              <a:t>Education</a:t>
            </a:r>
          </a:p>
        </p:txBody>
      </p:sp>
      <p:sp>
        <p:nvSpPr>
          <p:cNvPr id="38" name="Rectangle 37"/>
          <p:cNvSpPr/>
          <p:nvPr/>
        </p:nvSpPr>
        <p:spPr>
          <a:xfrm>
            <a:off x="9509760" y="5806440"/>
            <a:ext cx="799642" cy="18288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0400842" y="5742432"/>
            <a:ext cx="731520" cy="320040"/>
          </a:xfrm>
          <a:prstGeom prst="rect">
            <a:avLst/>
          </a:prstGeom>
          <a:noFill/>
        </p:spPr>
        <p:txBody>
          <a:bodyPr wrap="square" lIns="0" tIns="0" rIns="0" bIns="0" anchor="t">
            <a:spAutoFit/>
          </a:bodyPr>
          <a:lstStyle/>
          <a:p>
            <a:pPr algn="l">
              <a:lnSpc>
                <a:spcPct val="115000"/>
              </a:lnSpc>
            </a:pPr>
            <a:r>
              <a:rPr sz="1100" b="0">
                <a:solidFill>
                  <a:srgbClr val="475569"/>
                </a:solidFill>
                <a:latin typeface="Calibri"/>
              </a:rPr>
              <a:t>0.16</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6510528"/>
            <a:ext cx="7315200" cy="274320"/>
          </a:xfrm>
          <a:prstGeom prst="rect">
            <a:avLst/>
          </a:prstGeom>
          <a:noFill/>
        </p:spPr>
        <p:txBody>
          <a:bodyPr wrap="square" lIns="0" tIns="0" rIns="0" bIns="0" anchor="t">
            <a:spAutoFit/>
          </a:bodyPr>
          <a:lstStyle/>
          <a:p>
            <a:pPr algn="l">
              <a:lnSpc>
                <a:spcPct val="115000"/>
              </a:lnSpc>
            </a:pPr>
            <a:r>
              <a:rPr sz="900" b="0">
                <a:solidFill>
                  <a:srgbClr val="94A3B8"/>
                </a:solidFill>
                <a:latin typeface="Calibri"/>
              </a:rPr>
              <a:t>Diabetes Risk Prediction  ·  Intro to Data Science  ·  Sem 2</a:t>
            </a:r>
          </a:p>
        </p:txBody>
      </p:sp>
      <p:sp>
        <p:nvSpPr>
          <p:cNvPr id="4" name="TextBox 3"/>
          <p:cNvSpPr txBox="1"/>
          <p:nvPr/>
        </p:nvSpPr>
        <p:spPr>
          <a:xfrm>
            <a:off x="11094415" y="6510528"/>
            <a:ext cx="822960" cy="274320"/>
          </a:xfrm>
          <a:prstGeom prst="rect">
            <a:avLst/>
          </a:prstGeom>
          <a:noFill/>
        </p:spPr>
        <p:txBody>
          <a:bodyPr wrap="square" lIns="0" tIns="0" rIns="0" bIns="0" anchor="t">
            <a:spAutoFit/>
          </a:bodyPr>
          <a:lstStyle/>
          <a:p>
            <a:pPr algn="r">
              <a:lnSpc>
                <a:spcPct val="115000"/>
              </a:lnSpc>
            </a:pPr>
            <a:r>
              <a:rPr sz="900" b="0">
                <a:solidFill>
                  <a:srgbClr val="94A3B8"/>
                </a:solidFill>
                <a:latin typeface="Calibri"/>
              </a:rPr>
              <a:t>10 / 17</a:t>
            </a:r>
          </a:p>
        </p:txBody>
      </p:sp>
      <p:sp>
        <p:nvSpPr>
          <p:cNvPr id="5" name="TextBox 4"/>
          <p:cNvSpPr txBox="1"/>
          <p:nvPr/>
        </p:nvSpPr>
        <p:spPr>
          <a:xfrm>
            <a:off x="640080" y="502920"/>
            <a:ext cx="10972800" cy="274320"/>
          </a:xfrm>
          <a:prstGeom prst="rect">
            <a:avLst/>
          </a:prstGeom>
          <a:noFill/>
        </p:spPr>
        <p:txBody>
          <a:bodyPr wrap="square" lIns="0" tIns="0" rIns="0" bIns="0" anchor="t">
            <a:spAutoFit/>
          </a:bodyPr>
          <a:lstStyle/>
          <a:p>
            <a:pPr algn="l">
              <a:lnSpc>
                <a:spcPct val="115000"/>
              </a:lnSpc>
            </a:pPr>
            <a:r>
              <a:rPr sz="1000" b="1">
                <a:solidFill>
                  <a:srgbClr val="F59E0B"/>
                </a:solidFill>
                <a:latin typeface="Calibri"/>
              </a:rPr>
              <a:t>08  ·  SPLIT</a:t>
            </a:r>
          </a:p>
        </p:txBody>
      </p:sp>
      <p:sp>
        <p:nvSpPr>
          <p:cNvPr id="6" name="TextBox 5"/>
          <p:cNvSpPr txBox="1"/>
          <p:nvPr/>
        </p:nvSpPr>
        <p:spPr>
          <a:xfrm>
            <a:off x="640080" y="822960"/>
            <a:ext cx="10972800" cy="685800"/>
          </a:xfrm>
          <a:prstGeom prst="rect">
            <a:avLst/>
          </a:prstGeom>
          <a:noFill/>
        </p:spPr>
        <p:txBody>
          <a:bodyPr wrap="square" lIns="0" tIns="0" rIns="0" bIns="0" anchor="t">
            <a:spAutoFit/>
          </a:bodyPr>
          <a:lstStyle/>
          <a:p>
            <a:pPr algn="l">
              <a:lnSpc>
                <a:spcPct val="115000"/>
              </a:lnSpc>
            </a:pPr>
            <a:r>
              <a:rPr sz="2800" b="1">
                <a:solidFill>
                  <a:srgbClr val="1E293B"/>
                </a:solidFill>
                <a:latin typeface="Calibri"/>
              </a:rPr>
              <a:t>Train / test split — done before everything else</a:t>
            </a:r>
          </a:p>
        </p:txBody>
      </p:sp>
      <p:sp>
        <p:nvSpPr>
          <p:cNvPr id="7" name="Rectangle 6"/>
          <p:cNvSpPr/>
          <p:nvPr/>
        </p:nvSpPr>
        <p:spPr>
          <a:xfrm>
            <a:off x="640080" y="1463040"/>
            <a:ext cx="457200" cy="45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2011680"/>
            <a:ext cx="6400800" cy="3657600"/>
          </a:xfrm>
          <a:prstGeom prst="rect">
            <a:avLst/>
          </a:prstGeom>
          <a:noFill/>
        </p:spPr>
        <p:txBody>
          <a:bodyPr wrap="square" lIns="0" tIns="0" rIns="0" bIns="0">
            <a:spAutoFit/>
          </a:bodyPr>
          <a:lstStyle/>
          <a:p>
            <a:pPr algn="l">
              <a:lnSpc>
                <a:spcPct val="150000"/>
              </a:lnSpc>
              <a:spcAft>
                <a:spcPts val="1000"/>
              </a:spcAft>
            </a:pPr>
            <a:r>
              <a:rPr sz="1500" b="1">
                <a:solidFill>
                  <a:srgbClr val="F59E0B"/>
                </a:solidFill>
                <a:latin typeface="Calibri"/>
              </a:rPr>
              <a:t>■  </a:t>
            </a:r>
            <a:r>
              <a:rPr sz="1500">
                <a:solidFill>
                  <a:srgbClr val="475569"/>
                </a:solidFill>
                <a:latin typeface="Calibri"/>
              </a:rPr>
              <a:t>80 % training data  ·  20 % test data</a:t>
            </a:r>
          </a:p>
          <a:p>
            <a:pPr algn="l">
              <a:lnSpc>
                <a:spcPct val="150000"/>
              </a:lnSpc>
              <a:spcAft>
                <a:spcPts val="1000"/>
              </a:spcAft>
            </a:pPr>
            <a:r>
              <a:rPr sz="1500" b="1">
                <a:solidFill>
                  <a:srgbClr val="F59E0B"/>
                </a:solidFill>
                <a:latin typeface="Calibri"/>
              </a:rPr>
              <a:t>■  </a:t>
            </a:r>
            <a:r>
              <a:rPr sz="1500">
                <a:solidFill>
                  <a:srgbClr val="475569"/>
                </a:solidFill>
                <a:latin typeface="Calibri"/>
              </a:rPr>
              <a:t>Stratified by target → keeps 50 / 50 balance in both splits</a:t>
            </a:r>
          </a:p>
          <a:p>
            <a:pPr algn="l">
              <a:lnSpc>
                <a:spcPct val="150000"/>
              </a:lnSpc>
              <a:spcAft>
                <a:spcPts val="1000"/>
              </a:spcAft>
            </a:pPr>
            <a:r>
              <a:rPr sz="1500" b="1">
                <a:solidFill>
                  <a:srgbClr val="F59E0B"/>
                </a:solidFill>
                <a:latin typeface="Calibri"/>
              </a:rPr>
              <a:t>■  </a:t>
            </a:r>
            <a:r>
              <a:rPr sz="1500">
                <a:solidFill>
                  <a:srgbClr val="475569"/>
                </a:solidFill>
                <a:latin typeface="Calibri"/>
              </a:rPr>
              <a:t>random_state = 42 → reproducible results</a:t>
            </a:r>
          </a:p>
          <a:p>
            <a:pPr algn="l">
              <a:lnSpc>
                <a:spcPct val="150000"/>
              </a:lnSpc>
              <a:spcAft>
                <a:spcPts val="1000"/>
              </a:spcAft>
            </a:pPr>
            <a:r>
              <a:rPr sz="1500" b="1">
                <a:solidFill>
                  <a:srgbClr val="F59E0B"/>
                </a:solidFill>
                <a:latin typeface="Calibri"/>
              </a:rPr>
              <a:t>■  </a:t>
            </a:r>
            <a:r>
              <a:rPr sz="1500">
                <a:solidFill>
                  <a:srgbClr val="475569"/>
                </a:solidFill>
                <a:latin typeface="Calibri"/>
              </a:rPr>
              <a:t>Split BEFORE any preprocessing → prevents data leakage</a:t>
            </a:r>
          </a:p>
        </p:txBody>
      </p:sp>
      <p:sp>
        <p:nvSpPr>
          <p:cNvPr id="9" name="TextBox 8"/>
          <p:cNvSpPr txBox="1"/>
          <p:nvPr/>
        </p:nvSpPr>
        <p:spPr>
          <a:xfrm>
            <a:off x="7498079" y="1828800"/>
            <a:ext cx="4114800" cy="274320"/>
          </a:xfrm>
          <a:prstGeom prst="rect">
            <a:avLst/>
          </a:prstGeom>
          <a:noFill/>
        </p:spPr>
        <p:txBody>
          <a:bodyPr wrap="square" lIns="0" tIns="0" rIns="0" bIns="0" anchor="t">
            <a:spAutoFit/>
          </a:bodyPr>
          <a:lstStyle/>
          <a:p>
            <a:pPr algn="l">
              <a:lnSpc>
                <a:spcPct val="115000"/>
              </a:lnSpc>
            </a:pPr>
            <a:r>
              <a:rPr sz="1000" b="1">
                <a:solidFill>
                  <a:srgbClr val="F59E0B"/>
                </a:solidFill>
                <a:latin typeface="Calibri"/>
              </a:rPr>
              <a:t>DATA SPLIT</a:t>
            </a:r>
          </a:p>
        </p:txBody>
      </p:sp>
      <p:sp>
        <p:nvSpPr>
          <p:cNvPr id="10" name="Rectangle 9"/>
          <p:cNvSpPr/>
          <p:nvPr/>
        </p:nvSpPr>
        <p:spPr>
          <a:xfrm>
            <a:off x="7498079" y="2286000"/>
            <a:ext cx="3291840" cy="7315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10789919" y="2286000"/>
            <a:ext cx="822960" cy="7315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98079" y="3154680"/>
            <a:ext cx="3291840" cy="274320"/>
          </a:xfrm>
          <a:prstGeom prst="rect">
            <a:avLst/>
          </a:prstGeom>
          <a:noFill/>
        </p:spPr>
        <p:txBody>
          <a:bodyPr wrap="square" lIns="0" tIns="0" rIns="0" bIns="0" anchor="t">
            <a:spAutoFit/>
          </a:bodyPr>
          <a:lstStyle/>
          <a:p>
            <a:pPr algn="ctr">
              <a:lnSpc>
                <a:spcPct val="115000"/>
              </a:lnSpc>
            </a:pPr>
            <a:r>
              <a:rPr sz="1000" b="0">
                <a:solidFill>
                  <a:srgbClr val="1E293B"/>
                </a:solidFill>
                <a:latin typeface="Calibri"/>
              </a:rPr>
              <a:t>Train · 55 245 rows</a:t>
            </a:r>
          </a:p>
        </p:txBody>
      </p:sp>
      <p:sp>
        <p:nvSpPr>
          <p:cNvPr id="13" name="TextBox 12"/>
          <p:cNvSpPr txBox="1"/>
          <p:nvPr/>
        </p:nvSpPr>
        <p:spPr>
          <a:xfrm>
            <a:off x="10789919" y="3154680"/>
            <a:ext cx="822960" cy="274320"/>
          </a:xfrm>
          <a:prstGeom prst="rect">
            <a:avLst/>
          </a:prstGeom>
          <a:noFill/>
        </p:spPr>
        <p:txBody>
          <a:bodyPr wrap="square" lIns="0" tIns="0" rIns="0" bIns="0" anchor="t">
            <a:spAutoFit/>
          </a:bodyPr>
          <a:lstStyle/>
          <a:p>
            <a:pPr algn="ctr">
              <a:lnSpc>
                <a:spcPct val="115000"/>
              </a:lnSpc>
            </a:pPr>
            <a:r>
              <a:rPr sz="1000" b="0">
                <a:solidFill>
                  <a:srgbClr val="1E293B"/>
                </a:solidFill>
                <a:latin typeface="Calibri"/>
              </a:rPr>
              <a:t>Test · 13 812</a:t>
            </a:r>
          </a:p>
        </p:txBody>
      </p:sp>
      <p:sp>
        <p:nvSpPr>
          <p:cNvPr id="14" name="Rectangle 13"/>
          <p:cNvSpPr/>
          <p:nvPr/>
        </p:nvSpPr>
        <p:spPr>
          <a:xfrm>
            <a:off x="7498079" y="4114800"/>
            <a:ext cx="4114800" cy="2194560"/>
          </a:xfrm>
          <a:prstGeom prst="rect">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399" y="4297680"/>
            <a:ext cx="3749040" cy="320040"/>
          </a:xfrm>
          <a:prstGeom prst="rect">
            <a:avLst/>
          </a:prstGeom>
          <a:noFill/>
        </p:spPr>
        <p:txBody>
          <a:bodyPr wrap="square" lIns="0" tIns="0" rIns="0" bIns="0" anchor="t">
            <a:spAutoFit/>
          </a:bodyPr>
          <a:lstStyle/>
          <a:p>
            <a:pPr algn="l">
              <a:lnSpc>
                <a:spcPct val="115000"/>
              </a:lnSpc>
            </a:pPr>
            <a:r>
              <a:rPr sz="1000" b="1">
                <a:solidFill>
                  <a:srgbClr val="F59E0B"/>
                </a:solidFill>
                <a:latin typeface="Calibri"/>
              </a:rPr>
              <a:t>WHY SPLIT FIRST?</a:t>
            </a:r>
          </a:p>
        </p:txBody>
      </p:sp>
      <p:sp>
        <p:nvSpPr>
          <p:cNvPr id="16" name="TextBox 15"/>
          <p:cNvSpPr txBox="1"/>
          <p:nvPr/>
        </p:nvSpPr>
        <p:spPr>
          <a:xfrm>
            <a:off x="7772399" y="4709160"/>
            <a:ext cx="3749040" cy="1463040"/>
          </a:xfrm>
          <a:prstGeom prst="rect">
            <a:avLst/>
          </a:prstGeom>
          <a:noFill/>
        </p:spPr>
        <p:txBody>
          <a:bodyPr wrap="square" lIns="0" tIns="0" rIns="0" bIns="0" anchor="t">
            <a:spAutoFit/>
          </a:bodyPr>
          <a:lstStyle/>
          <a:p>
            <a:pPr algn="l">
              <a:lnSpc>
                <a:spcPct val="135000"/>
              </a:lnSpc>
            </a:pPr>
            <a:r>
              <a:rPr sz="1200" b="0">
                <a:solidFill>
                  <a:srgbClr val="1E293B"/>
                </a:solidFill>
                <a:latin typeface="Calibri"/>
              </a:rPr>
              <a:t>If we scaled, imputed, or sampled before splitting, information from the test set would leak into training. Accuracy would look great in our notebook but fail on new data.</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6510528"/>
            <a:ext cx="7315200" cy="274320"/>
          </a:xfrm>
          <a:prstGeom prst="rect">
            <a:avLst/>
          </a:prstGeom>
          <a:noFill/>
        </p:spPr>
        <p:txBody>
          <a:bodyPr wrap="square" lIns="0" tIns="0" rIns="0" bIns="0" anchor="t">
            <a:spAutoFit/>
          </a:bodyPr>
          <a:lstStyle/>
          <a:p>
            <a:pPr algn="l">
              <a:lnSpc>
                <a:spcPct val="115000"/>
              </a:lnSpc>
            </a:pPr>
            <a:r>
              <a:rPr sz="900" b="0">
                <a:solidFill>
                  <a:srgbClr val="94A3B8"/>
                </a:solidFill>
                <a:latin typeface="Calibri"/>
              </a:rPr>
              <a:t>Diabetes Risk Prediction  ·  Intro to Data Science  ·  Sem 2</a:t>
            </a:r>
          </a:p>
        </p:txBody>
      </p:sp>
      <p:sp>
        <p:nvSpPr>
          <p:cNvPr id="4" name="TextBox 3"/>
          <p:cNvSpPr txBox="1"/>
          <p:nvPr/>
        </p:nvSpPr>
        <p:spPr>
          <a:xfrm>
            <a:off x="11094415" y="6510528"/>
            <a:ext cx="822960" cy="274320"/>
          </a:xfrm>
          <a:prstGeom prst="rect">
            <a:avLst/>
          </a:prstGeom>
          <a:noFill/>
        </p:spPr>
        <p:txBody>
          <a:bodyPr wrap="square" lIns="0" tIns="0" rIns="0" bIns="0" anchor="t">
            <a:spAutoFit/>
          </a:bodyPr>
          <a:lstStyle/>
          <a:p>
            <a:pPr algn="r">
              <a:lnSpc>
                <a:spcPct val="115000"/>
              </a:lnSpc>
            </a:pPr>
            <a:r>
              <a:rPr sz="900" b="0">
                <a:solidFill>
                  <a:srgbClr val="94A3B8"/>
                </a:solidFill>
                <a:latin typeface="Calibri"/>
              </a:rPr>
              <a:t>11 / 17</a:t>
            </a:r>
          </a:p>
        </p:txBody>
      </p:sp>
      <p:sp>
        <p:nvSpPr>
          <p:cNvPr id="5" name="TextBox 4"/>
          <p:cNvSpPr txBox="1"/>
          <p:nvPr/>
        </p:nvSpPr>
        <p:spPr>
          <a:xfrm>
            <a:off x="640080" y="502920"/>
            <a:ext cx="10972800" cy="274320"/>
          </a:xfrm>
          <a:prstGeom prst="rect">
            <a:avLst/>
          </a:prstGeom>
          <a:noFill/>
        </p:spPr>
        <p:txBody>
          <a:bodyPr wrap="square" lIns="0" tIns="0" rIns="0" bIns="0" anchor="t">
            <a:spAutoFit/>
          </a:bodyPr>
          <a:lstStyle/>
          <a:p>
            <a:pPr algn="l">
              <a:lnSpc>
                <a:spcPct val="115000"/>
              </a:lnSpc>
            </a:pPr>
            <a:r>
              <a:rPr sz="1000" b="1">
                <a:solidFill>
                  <a:srgbClr val="F59E0B"/>
                </a:solidFill>
                <a:latin typeface="Calibri"/>
              </a:rPr>
              <a:t>09  ·  APPROACH</a:t>
            </a:r>
          </a:p>
        </p:txBody>
      </p:sp>
      <p:sp>
        <p:nvSpPr>
          <p:cNvPr id="6" name="TextBox 5"/>
          <p:cNvSpPr txBox="1"/>
          <p:nvPr/>
        </p:nvSpPr>
        <p:spPr>
          <a:xfrm>
            <a:off x="640080" y="822960"/>
            <a:ext cx="10972800" cy="685800"/>
          </a:xfrm>
          <a:prstGeom prst="rect">
            <a:avLst/>
          </a:prstGeom>
          <a:noFill/>
        </p:spPr>
        <p:txBody>
          <a:bodyPr wrap="square" lIns="0" tIns="0" rIns="0" bIns="0" anchor="t">
            <a:spAutoFit/>
          </a:bodyPr>
          <a:lstStyle/>
          <a:p>
            <a:pPr algn="l">
              <a:lnSpc>
                <a:spcPct val="115000"/>
              </a:lnSpc>
            </a:pPr>
            <a:r>
              <a:rPr sz="2800" b="1">
                <a:solidFill>
                  <a:srgbClr val="1E293B"/>
                </a:solidFill>
                <a:latin typeface="Calibri"/>
              </a:rPr>
              <a:t>Why supervised machine learning?</a:t>
            </a:r>
          </a:p>
        </p:txBody>
      </p:sp>
      <p:sp>
        <p:nvSpPr>
          <p:cNvPr id="7" name="Rectangle 6"/>
          <p:cNvSpPr/>
          <p:nvPr/>
        </p:nvSpPr>
        <p:spPr>
          <a:xfrm>
            <a:off x="640080" y="1463040"/>
            <a:ext cx="457200" cy="45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0080" y="2286000"/>
            <a:ext cx="3657600" cy="2834640"/>
          </a:xfrm>
          <a:prstGeom prst="rect">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40080" y="2286000"/>
            <a:ext cx="73152" cy="283464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2514600"/>
            <a:ext cx="3291840" cy="274320"/>
          </a:xfrm>
          <a:prstGeom prst="rect">
            <a:avLst/>
          </a:prstGeom>
          <a:noFill/>
        </p:spPr>
        <p:txBody>
          <a:bodyPr wrap="square" lIns="0" tIns="0" rIns="0" bIns="0" anchor="t">
            <a:spAutoFit/>
          </a:bodyPr>
          <a:lstStyle/>
          <a:p>
            <a:pPr algn="l">
              <a:lnSpc>
                <a:spcPct val="115000"/>
              </a:lnSpc>
            </a:pPr>
            <a:r>
              <a:rPr sz="1000" b="1">
                <a:solidFill>
                  <a:srgbClr val="F59E0B"/>
                </a:solidFill>
                <a:latin typeface="Calibri"/>
              </a:rPr>
              <a:t>LEARNING TYPE</a:t>
            </a:r>
          </a:p>
        </p:txBody>
      </p:sp>
      <p:sp>
        <p:nvSpPr>
          <p:cNvPr id="11" name="TextBox 10"/>
          <p:cNvSpPr txBox="1"/>
          <p:nvPr/>
        </p:nvSpPr>
        <p:spPr>
          <a:xfrm>
            <a:off x="914400" y="2834640"/>
            <a:ext cx="3291840" cy="548640"/>
          </a:xfrm>
          <a:prstGeom prst="rect">
            <a:avLst/>
          </a:prstGeom>
          <a:noFill/>
        </p:spPr>
        <p:txBody>
          <a:bodyPr wrap="square" lIns="0" tIns="0" rIns="0" bIns="0" anchor="t">
            <a:spAutoFit/>
          </a:bodyPr>
          <a:lstStyle/>
          <a:p>
            <a:pPr algn="l">
              <a:lnSpc>
                <a:spcPct val="115000"/>
              </a:lnSpc>
            </a:pPr>
            <a:r>
              <a:rPr sz="2000" b="1">
                <a:solidFill>
                  <a:srgbClr val="1E293B"/>
                </a:solidFill>
                <a:latin typeface="Calibri"/>
              </a:rPr>
              <a:t>Supervised</a:t>
            </a:r>
          </a:p>
        </p:txBody>
      </p:sp>
      <p:sp>
        <p:nvSpPr>
          <p:cNvPr id="12" name="TextBox 11"/>
          <p:cNvSpPr txBox="1"/>
          <p:nvPr/>
        </p:nvSpPr>
        <p:spPr>
          <a:xfrm>
            <a:off x="914400" y="3611880"/>
            <a:ext cx="3291840" cy="1371600"/>
          </a:xfrm>
          <a:prstGeom prst="rect">
            <a:avLst/>
          </a:prstGeom>
          <a:noFill/>
        </p:spPr>
        <p:txBody>
          <a:bodyPr wrap="square" lIns="0" tIns="0" rIns="0" bIns="0" anchor="t">
            <a:spAutoFit/>
          </a:bodyPr>
          <a:lstStyle/>
          <a:p>
            <a:pPr algn="l">
              <a:lnSpc>
                <a:spcPct val="135000"/>
              </a:lnSpc>
            </a:pPr>
            <a:r>
              <a:rPr sz="1200" b="0">
                <a:solidFill>
                  <a:srgbClr val="475569"/>
                </a:solidFill>
                <a:latin typeface="Calibri"/>
              </a:rPr>
              <a:t>The target column is labeled (0 / 1) — the model learns from known examples.</a:t>
            </a:r>
          </a:p>
        </p:txBody>
      </p:sp>
      <p:sp>
        <p:nvSpPr>
          <p:cNvPr id="13" name="Rectangle 12"/>
          <p:cNvSpPr/>
          <p:nvPr/>
        </p:nvSpPr>
        <p:spPr>
          <a:xfrm>
            <a:off x="4480560" y="2286000"/>
            <a:ext cx="3657600" cy="2834640"/>
          </a:xfrm>
          <a:prstGeom prst="rect">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480560" y="2286000"/>
            <a:ext cx="73152" cy="283464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754880" y="2514600"/>
            <a:ext cx="3291840" cy="274320"/>
          </a:xfrm>
          <a:prstGeom prst="rect">
            <a:avLst/>
          </a:prstGeom>
          <a:noFill/>
        </p:spPr>
        <p:txBody>
          <a:bodyPr wrap="square" lIns="0" tIns="0" rIns="0" bIns="0" anchor="t">
            <a:spAutoFit/>
          </a:bodyPr>
          <a:lstStyle/>
          <a:p>
            <a:pPr algn="l">
              <a:lnSpc>
                <a:spcPct val="115000"/>
              </a:lnSpc>
            </a:pPr>
            <a:r>
              <a:rPr sz="1000" b="1">
                <a:solidFill>
                  <a:srgbClr val="F59E0B"/>
                </a:solidFill>
                <a:latin typeface="Calibri"/>
              </a:rPr>
              <a:t>TASK</a:t>
            </a:r>
          </a:p>
        </p:txBody>
      </p:sp>
      <p:sp>
        <p:nvSpPr>
          <p:cNvPr id="16" name="TextBox 15"/>
          <p:cNvSpPr txBox="1"/>
          <p:nvPr/>
        </p:nvSpPr>
        <p:spPr>
          <a:xfrm>
            <a:off x="4754880" y="2834640"/>
            <a:ext cx="3291840" cy="548640"/>
          </a:xfrm>
          <a:prstGeom prst="rect">
            <a:avLst/>
          </a:prstGeom>
          <a:noFill/>
        </p:spPr>
        <p:txBody>
          <a:bodyPr wrap="square" lIns="0" tIns="0" rIns="0" bIns="0" anchor="t">
            <a:spAutoFit/>
          </a:bodyPr>
          <a:lstStyle/>
          <a:p>
            <a:pPr algn="l">
              <a:lnSpc>
                <a:spcPct val="115000"/>
              </a:lnSpc>
            </a:pPr>
            <a:r>
              <a:rPr sz="2000" b="1">
                <a:solidFill>
                  <a:srgbClr val="1E293B"/>
                </a:solidFill>
                <a:latin typeface="Calibri"/>
              </a:rPr>
              <a:t>Classification</a:t>
            </a:r>
          </a:p>
        </p:txBody>
      </p:sp>
      <p:sp>
        <p:nvSpPr>
          <p:cNvPr id="17" name="TextBox 16"/>
          <p:cNvSpPr txBox="1"/>
          <p:nvPr/>
        </p:nvSpPr>
        <p:spPr>
          <a:xfrm>
            <a:off x="4754880" y="3611880"/>
            <a:ext cx="3291840" cy="1371600"/>
          </a:xfrm>
          <a:prstGeom prst="rect">
            <a:avLst/>
          </a:prstGeom>
          <a:noFill/>
        </p:spPr>
        <p:txBody>
          <a:bodyPr wrap="square" lIns="0" tIns="0" rIns="0" bIns="0" anchor="t">
            <a:spAutoFit/>
          </a:bodyPr>
          <a:lstStyle/>
          <a:p>
            <a:pPr algn="l">
              <a:lnSpc>
                <a:spcPct val="135000"/>
              </a:lnSpc>
            </a:pPr>
            <a:r>
              <a:rPr sz="1200" b="0">
                <a:solidFill>
                  <a:srgbClr val="475569"/>
                </a:solidFill>
                <a:latin typeface="Calibri"/>
              </a:rPr>
              <a:t>We predict a discrete class, not a number. Two classes → binary classification.</a:t>
            </a:r>
          </a:p>
        </p:txBody>
      </p:sp>
      <p:sp>
        <p:nvSpPr>
          <p:cNvPr id="18" name="Rectangle 17"/>
          <p:cNvSpPr/>
          <p:nvPr/>
        </p:nvSpPr>
        <p:spPr>
          <a:xfrm>
            <a:off x="8321040" y="2286000"/>
            <a:ext cx="3657600" cy="2834640"/>
          </a:xfrm>
          <a:prstGeom prst="rect">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321040" y="2286000"/>
            <a:ext cx="73152" cy="283464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595360" y="2514600"/>
            <a:ext cx="3291840" cy="274320"/>
          </a:xfrm>
          <a:prstGeom prst="rect">
            <a:avLst/>
          </a:prstGeom>
          <a:noFill/>
        </p:spPr>
        <p:txBody>
          <a:bodyPr wrap="square" lIns="0" tIns="0" rIns="0" bIns="0" anchor="t">
            <a:spAutoFit/>
          </a:bodyPr>
          <a:lstStyle/>
          <a:p>
            <a:pPr algn="l">
              <a:lnSpc>
                <a:spcPct val="115000"/>
              </a:lnSpc>
            </a:pPr>
            <a:r>
              <a:rPr sz="1000" b="1">
                <a:solidFill>
                  <a:srgbClr val="F59E0B"/>
                </a:solidFill>
                <a:latin typeface="Calibri"/>
              </a:rPr>
              <a:t>OUTPUT</a:t>
            </a:r>
          </a:p>
        </p:txBody>
      </p:sp>
      <p:sp>
        <p:nvSpPr>
          <p:cNvPr id="21" name="TextBox 20"/>
          <p:cNvSpPr txBox="1"/>
          <p:nvPr/>
        </p:nvSpPr>
        <p:spPr>
          <a:xfrm>
            <a:off x="8595360" y="2834640"/>
            <a:ext cx="3291840" cy="548640"/>
          </a:xfrm>
          <a:prstGeom prst="rect">
            <a:avLst/>
          </a:prstGeom>
          <a:noFill/>
        </p:spPr>
        <p:txBody>
          <a:bodyPr wrap="square" lIns="0" tIns="0" rIns="0" bIns="0" anchor="t">
            <a:spAutoFit/>
          </a:bodyPr>
          <a:lstStyle/>
          <a:p>
            <a:pPr algn="l">
              <a:lnSpc>
                <a:spcPct val="115000"/>
              </a:lnSpc>
            </a:pPr>
            <a:r>
              <a:rPr sz="2000" b="1">
                <a:solidFill>
                  <a:srgbClr val="1E293B"/>
                </a:solidFill>
                <a:latin typeface="Calibri"/>
              </a:rPr>
              <a:t>Probability + label</a:t>
            </a:r>
          </a:p>
        </p:txBody>
      </p:sp>
      <p:sp>
        <p:nvSpPr>
          <p:cNvPr id="22" name="TextBox 21"/>
          <p:cNvSpPr txBox="1"/>
          <p:nvPr/>
        </p:nvSpPr>
        <p:spPr>
          <a:xfrm>
            <a:off x="8595360" y="3611880"/>
            <a:ext cx="3291840" cy="1371600"/>
          </a:xfrm>
          <a:prstGeom prst="rect">
            <a:avLst/>
          </a:prstGeom>
          <a:noFill/>
        </p:spPr>
        <p:txBody>
          <a:bodyPr wrap="square" lIns="0" tIns="0" rIns="0" bIns="0" anchor="t">
            <a:spAutoFit/>
          </a:bodyPr>
          <a:lstStyle/>
          <a:p>
            <a:pPr algn="l">
              <a:lnSpc>
                <a:spcPct val="135000"/>
              </a:lnSpc>
            </a:pPr>
            <a:r>
              <a:rPr sz="1200" b="0">
                <a:solidFill>
                  <a:srgbClr val="475569"/>
                </a:solidFill>
                <a:latin typeface="Calibri"/>
              </a:rPr>
              <a:t>Each prediction includes a confidence score, useful for risk-screening contexts.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6510528"/>
            <a:ext cx="7315200" cy="274320"/>
          </a:xfrm>
          <a:prstGeom prst="rect">
            <a:avLst/>
          </a:prstGeom>
          <a:noFill/>
        </p:spPr>
        <p:txBody>
          <a:bodyPr wrap="square" lIns="0" tIns="0" rIns="0" bIns="0" anchor="t">
            <a:spAutoFit/>
          </a:bodyPr>
          <a:lstStyle/>
          <a:p>
            <a:pPr algn="l">
              <a:lnSpc>
                <a:spcPct val="115000"/>
              </a:lnSpc>
            </a:pPr>
            <a:r>
              <a:rPr sz="900" b="0">
                <a:solidFill>
                  <a:srgbClr val="94A3B8"/>
                </a:solidFill>
                <a:latin typeface="Calibri"/>
              </a:rPr>
              <a:t>Diabetes Risk Prediction  ·  Intro to Data Science  ·  Sem 2</a:t>
            </a:r>
          </a:p>
        </p:txBody>
      </p:sp>
      <p:sp>
        <p:nvSpPr>
          <p:cNvPr id="4" name="TextBox 3"/>
          <p:cNvSpPr txBox="1"/>
          <p:nvPr/>
        </p:nvSpPr>
        <p:spPr>
          <a:xfrm>
            <a:off x="11094415" y="6510528"/>
            <a:ext cx="822960" cy="274320"/>
          </a:xfrm>
          <a:prstGeom prst="rect">
            <a:avLst/>
          </a:prstGeom>
          <a:noFill/>
        </p:spPr>
        <p:txBody>
          <a:bodyPr wrap="square" lIns="0" tIns="0" rIns="0" bIns="0" anchor="t">
            <a:spAutoFit/>
          </a:bodyPr>
          <a:lstStyle/>
          <a:p>
            <a:pPr algn="r">
              <a:lnSpc>
                <a:spcPct val="115000"/>
              </a:lnSpc>
            </a:pPr>
            <a:r>
              <a:rPr sz="900" b="0">
                <a:solidFill>
                  <a:srgbClr val="94A3B8"/>
                </a:solidFill>
                <a:latin typeface="Calibri"/>
              </a:rPr>
              <a:t>12 / 17</a:t>
            </a:r>
          </a:p>
        </p:txBody>
      </p:sp>
      <p:sp>
        <p:nvSpPr>
          <p:cNvPr id="5" name="TextBox 4"/>
          <p:cNvSpPr txBox="1"/>
          <p:nvPr/>
        </p:nvSpPr>
        <p:spPr>
          <a:xfrm>
            <a:off x="640080" y="502920"/>
            <a:ext cx="10972800" cy="274320"/>
          </a:xfrm>
          <a:prstGeom prst="rect">
            <a:avLst/>
          </a:prstGeom>
          <a:noFill/>
        </p:spPr>
        <p:txBody>
          <a:bodyPr wrap="square" lIns="0" tIns="0" rIns="0" bIns="0" anchor="t">
            <a:spAutoFit/>
          </a:bodyPr>
          <a:lstStyle/>
          <a:p>
            <a:pPr algn="l">
              <a:lnSpc>
                <a:spcPct val="115000"/>
              </a:lnSpc>
            </a:pPr>
            <a:r>
              <a:rPr sz="1000" b="1">
                <a:solidFill>
                  <a:srgbClr val="F59E0B"/>
                </a:solidFill>
                <a:latin typeface="Calibri"/>
              </a:rPr>
              <a:t>10  ·  CANDIDATES</a:t>
            </a:r>
          </a:p>
        </p:txBody>
      </p:sp>
      <p:sp>
        <p:nvSpPr>
          <p:cNvPr id="6" name="TextBox 5"/>
          <p:cNvSpPr txBox="1"/>
          <p:nvPr/>
        </p:nvSpPr>
        <p:spPr>
          <a:xfrm>
            <a:off x="640080" y="822960"/>
            <a:ext cx="10972800" cy="685800"/>
          </a:xfrm>
          <a:prstGeom prst="rect">
            <a:avLst/>
          </a:prstGeom>
          <a:noFill/>
        </p:spPr>
        <p:txBody>
          <a:bodyPr wrap="square" lIns="0" tIns="0" rIns="0" bIns="0" anchor="t">
            <a:spAutoFit/>
          </a:bodyPr>
          <a:lstStyle/>
          <a:p>
            <a:pPr algn="l">
              <a:lnSpc>
                <a:spcPct val="115000"/>
              </a:lnSpc>
            </a:pPr>
            <a:r>
              <a:rPr sz="2800" b="1">
                <a:solidFill>
                  <a:srgbClr val="1E293B"/>
                </a:solidFill>
                <a:latin typeface="Calibri"/>
              </a:rPr>
              <a:t>4 supervised classifiers tested</a:t>
            </a:r>
          </a:p>
        </p:txBody>
      </p:sp>
      <p:sp>
        <p:nvSpPr>
          <p:cNvPr id="7" name="Rectangle 6"/>
          <p:cNvSpPr/>
          <p:nvPr/>
        </p:nvSpPr>
        <p:spPr>
          <a:xfrm>
            <a:off x="640080" y="1463040"/>
            <a:ext cx="457200" cy="45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0080" y="2011680"/>
            <a:ext cx="5486400" cy="196596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40080" y="2011680"/>
            <a:ext cx="5486400" cy="41148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2075688"/>
            <a:ext cx="5120640" cy="365760"/>
          </a:xfrm>
          <a:prstGeom prst="rect">
            <a:avLst/>
          </a:prstGeom>
          <a:noFill/>
        </p:spPr>
        <p:txBody>
          <a:bodyPr wrap="square" lIns="0" tIns="0" rIns="0" bIns="0" anchor="t">
            <a:spAutoFit/>
          </a:bodyPr>
          <a:lstStyle/>
          <a:p>
            <a:pPr algn="l">
              <a:lnSpc>
                <a:spcPct val="115000"/>
              </a:lnSpc>
            </a:pPr>
            <a:r>
              <a:rPr sz="1100" b="1">
                <a:solidFill>
                  <a:srgbClr val="FFFFFF"/>
                </a:solidFill>
                <a:latin typeface="Calibri"/>
              </a:rPr>
              <a:t>LOGISTIC REGRESSION</a:t>
            </a:r>
          </a:p>
        </p:txBody>
      </p:sp>
      <p:sp>
        <p:nvSpPr>
          <p:cNvPr id="11" name="TextBox 10"/>
          <p:cNvSpPr txBox="1"/>
          <p:nvPr/>
        </p:nvSpPr>
        <p:spPr>
          <a:xfrm>
            <a:off x="914400" y="2514600"/>
            <a:ext cx="5120640" cy="457200"/>
          </a:xfrm>
          <a:prstGeom prst="rect">
            <a:avLst/>
          </a:prstGeom>
          <a:noFill/>
        </p:spPr>
        <p:txBody>
          <a:bodyPr wrap="square" lIns="0" tIns="0" rIns="0" bIns="0" anchor="t">
            <a:spAutoFit/>
          </a:bodyPr>
          <a:lstStyle/>
          <a:p>
            <a:pPr algn="l">
              <a:lnSpc>
                <a:spcPct val="115000"/>
              </a:lnSpc>
            </a:pPr>
            <a:r>
              <a:rPr sz="1200" b="0">
                <a:solidFill>
                  <a:srgbClr val="1E293B"/>
                </a:solidFill>
                <a:latin typeface="Calibri"/>
              </a:rPr>
              <a:t>Fits a probability line between the two classes</a:t>
            </a:r>
          </a:p>
        </p:txBody>
      </p:sp>
      <p:sp>
        <p:nvSpPr>
          <p:cNvPr id="12" name="TextBox 11"/>
          <p:cNvSpPr txBox="1"/>
          <p:nvPr/>
        </p:nvSpPr>
        <p:spPr>
          <a:xfrm>
            <a:off x="914400" y="3063240"/>
            <a:ext cx="914400" cy="320040"/>
          </a:xfrm>
          <a:prstGeom prst="rect">
            <a:avLst/>
          </a:prstGeom>
          <a:noFill/>
        </p:spPr>
        <p:txBody>
          <a:bodyPr wrap="square" lIns="0" tIns="0" rIns="0" bIns="0" anchor="t">
            <a:spAutoFit/>
          </a:bodyPr>
          <a:lstStyle/>
          <a:p>
            <a:pPr algn="l">
              <a:lnSpc>
                <a:spcPct val="115000"/>
              </a:lnSpc>
            </a:pPr>
            <a:r>
              <a:rPr sz="900" b="1">
                <a:solidFill>
                  <a:srgbClr val="16A34A"/>
                </a:solidFill>
                <a:latin typeface="Calibri"/>
              </a:rPr>
              <a:t>PROS</a:t>
            </a:r>
          </a:p>
        </p:txBody>
      </p:sp>
      <p:sp>
        <p:nvSpPr>
          <p:cNvPr id="13" name="TextBox 12"/>
          <p:cNvSpPr txBox="1"/>
          <p:nvPr/>
        </p:nvSpPr>
        <p:spPr>
          <a:xfrm>
            <a:off x="1828800" y="3063240"/>
            <a:ext cx="4114800" cy="320040"/>
          </a:xfrm>
          <a:prstGeom prst="rect">
            <a:avLst/>
          </a:prstGeom>
          <a:noFill/>
        </p:spPr>
        <p:txBody>
          <a:bodyPr wrap="square" lIns="0" tIns="0" rIns="0" bIns="0" anchor="t">
            <a:spAutoFit/>
          </a:bodyPr>
          <a:lstStyle/>
          <a:p>
            <a:pPr algn="l">
              <a:lnSpc>
                <a:spcPct val="115000"/>
              </a:lnSpc>
            </a:pPr>
            <a:r>
              <a:rPr sz="1100" b="0">
                <a:solidFill>
                  <a:srgbClr val="475569"/>
                </a:solidFill>
                <a:latin typeface="Calibri"/>
              </a:rPr>
              <a:t>Simple · interpretable</a:t>
            </a:r>
          </a:p>
        </p:txBody>
      </p:sp>
      <p:sp>
        <p:nvSpPr>
          <p:cNvPr id="14" name="TextBox 13"/>
          <p:cNvSpPr txBox="1"/>
          <p:nvPr/>
        </p:nvSpPr>
        <p:spPr>
          <a:xfrm>
            <a:off x="914400" y="3429000"/>
            <a:ext cx="914400" cy="320040"/>
          </a:xfrm>
          <a:prstGeom prst="rect">
            <a:avLst/>
          </a:prstGeom>
          <a:noFill/>
        </p:spPr>
        <p:txBody>
          <a:bodyPr wrap="square" lIns="0" tIns="0" rIns="0" bIns="0" anchor="t">
            <a:spAutoFit/>
          </a:bodyPr>
          <a:lstStyle/>
          <a:p>
            <a:pPr algn="l">
              <a:lnSpc>
                <a:spcPct val="115000"/>
              </a:lnSpc>
            </a:pPr>
            <a:r>
              <a:rPr sz="900" b="1">
                <a:solidFill>
                  <a:srgbClr val="DC2626"/>
                </a:solidFill>
                <a:latin typeface="Calibri"/>
              </a:rPr>
              <a:t>CONS</a:t>
            </a:r>
          </a:p>
        </p:txBody>
      </p:sp>
      <p:sp>
        <p:nvSpPr>
          <p:cNvPr id="15" name="TextBox 14"/>
          <p:cNvSpPr txBox="1"/>
          <p:nvPr/>
        </p:nvSpPr>
        <p:spPr>
          <a:xfrm>
            <a:off x="1828800" y="3429000"/>
            <a:ext cx="4114800" cy="320040"/>
          </a:xfrm>
          <a:prstGeom prst="rect">
            <a:avLst/>
          </a:prstGeom>
          <a:noFill/>
        </p:spPr>
        <p:txBody>
          <a:bodyPr wrap="square" lIns="0" tIns="0" rIns="0" bIns="0" anchor="t">
            <a:spAutoFit/>
          </a:bodyPr>
          <a:lstStyle/>
          <a:p>
            <a:pPr algn="l">
              <a:lnSpc>
                <a:spcPct val="115000"/>
              </a:lnSpc>
            </a:pPr>
            <a:r>
              <a:rPr sz="1100" b="0">
                <a:solidFill>
                  <a:srgbClr val="475569"/>
                </a:solidFill>
                <a:latin typeface="Calibri"/>
              </a:rPr>
              <a:t>Less accurate on non-linear patterns</a:t>
            </a:r>
          </a:p>
        </p:txBody>
      </p:sp>
      <p:sp>
        <p:nvSpPr>
          <p:cNvPr id="16" name="Rectangle 15"/>
          <p:cNvSpPr/>
          <p:nvPr/>
        </p:nvSpPr>
        <p:spPr>
          <a:xfrm>
            <a:off x="6263640" y="2011680"/>
            <a:ext cx="5486400" cy="196596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263640" y="2011680"/>
            <a:ext cx="5486400" cy="41148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537960" y="2075688"/>
            <a:ext cx="5120640" cy="365760"/>
          </a:xfrm>
          <a:prstGeom prst="rect">
            <a:avLst/>
          </a:prstGeom>
          <a:noFill/>
        </p:spPr>
        <p:txBody>
          <a:bodyPr wrap="square" lIns="0" tIns="0" rIns="0" bIns="0" anchor="t">
            <a:spAutoFit/>
          </a:bodyPr>
          <a:lstStyle/>
          <a:p>
            <a:pPr algn="l">
              <a:lnSpc>
                <a:spcPct val="115000"/>
              </a:lnSpc>
            </a:pPr>
            <a:r>
              <a:rPr sz="1100" b="1">
                <a:solidFill>
                  <a:srgbClr val="FFFFFF"/>
                </a:solidFill>
                <a:latin typeface="Calibri"/>
              </a:rPr>
              <a:t>DECISION TREE</a:t>
            </a:r>
          </a:p>
        </p:txBody>
      </p:sp>
      <p:sp>
        <p:nvSpPr>
          <p:cNvPr id="19" name="TextBox 18"/>
          <p:cNvSpPr txBox="1"/>
          <p:nvPr/>
        </p:nvSpPr>
        <p:spPr>
          <a:xfrm>
            <a:off x="6537960" y="2514600"/>
            <a:ext cx="5120640" cy="457200"/>
          </a:xfrm>
          <a:prstGeom prst="rect">
            <a:avLst/>
          </a:prstGeom>
          <a:noFill/>
        </p:spPr>
        <p:txBody>
          <a:bodyPr wrap="square" lIns="0" tIns="0" rIns="0" bIns="0" anchor="t">
            <a:spAutoFit/>
          </a:bodyPr>
          <a:lstStyle/>
          <a:p>
            <a:pPr algn="l">
              <a:lnSpc>
                <a:spcPct val="115000"/>
              </a:lnSpc>
            </a:pPr>
            <a:r>
              <a:rPr sz="1200" b="0">
                <a:solidFill>
                  <a:srgbClr val="1E293B"/>
                </a:solidFill>
                <a:latin typeface="Calibri"/>
              </a:rPr>
              <a:t>Asks yes/no questions to split the data</a:t>
            </a:r>
          </a:p>
        </p:txBody>
      </p:sp>
      <p:sp>
        <p:nvSpPr>
          <p:cNvPr id="20" name="TextBox 19"/>
          <p:cNvSpPr txBox="1"/>
          <p:nvPr/>
        </p:nvSpPr>
        <p:spPr>
          <a:xfrm>
            <a:off x="6537960" y="3063240"/>
            <a:ext cx="914400" cy="320040"/>
          </a:xfrm>
          <a:prstGeom prst="rect">
            <a:avLst/>
          </a:prstGeom>
          <a:noFill/>
        </p:spPr>
        <p:txBody>
          <a:bodyPr wrap="square" lIns="0" tIns="0" rIns="0" bIns="0" anchor="t">
            <a:spAutoFit/>
          </a:bodyPr>
          <a:lstStyle/>
          <a:p>
            <a:pPr algn="l">
              <a:lnSpc>
                <a:spcPct val="115000"/>
              </a:lnSpc>
            </a:pPr>
            <a:r>
              <a:rPr sz="900" b="1">
                <a:solidFill>
                  <a:srgbClr val="16A34A"/>
                </a:solidFill>
                <a:latin typeface="Calibri"/>
              </a:rPr>
              <a:t>PROS</a:t>
            </a:r>
          </a:p>
        </p:txBody>
      </p:sp>
      <p:sp>
        <p:nvSpPr>
          <p:cNvPr id="21" name="TextBox 20"/>
          <p:cNvSpPr txBox="1"/>
          <p:nvPr/>
        </p:nvSpPr>
        <p:spPr>
          <a:xfrm>
            <a:off x="7452360" y="3063240"/>
            <a:ext cx="4114800" cy="320040"/>
          </a:xfrm>
          <a:prstGeom prst="rect">
            <a:avLst/>
          </a:prstGeom>
          <a:noFill/>
        </p:spPr>
        <p:txBody>
          <a:bodyPr wrap="square" lIns="0" tIns="0" rIns="0" bIns="0" anchor="t">
            <a:spAutoFit/>
          </a:bodyPr>
          <a:lstStyle/>
          <a:p>
            <a:pPr algn="l">
              <a:lnSpc>
                <a:spcPct val="115000"/>
              </a:lnSpc>
            </a:pPr>
            <a:r>
              <a:rPr sz="1100" b="0">
                <a:solidFill>
                  <a:srgbClr val="475569"/>
                </a:solidFill>
                <a:latin typeface="Calibri"/>
              </a:rPr>
              <a:t>Easy to visualise</a:t>
            </a:r>
          </a:p>
        </p:txBody>
      </p:sp>
      <p:sp>
        <p:nvSpPr>
          <p:cNvPr id="22" name="TextBox 21"/>
          <p:cNvSpPr txBox="1"/>
          <p:nvPr/>
        </p:nvSpPr>
        <p:spPr>
          <a:xfrm>
            <a:off x="6537960" y="3429000"/>
            <a:ext cx="914400" cy="320040"/>
          </a:xfrm>
          <a:prstGeom prst="rect">
            <a:avLst/>
          </a:prstGeom>
          <a:noFill/>
        </p:spPr>
        <p:txBody>
          <a:bodyPr wrap="square" lIns="0" tIns="0" rIns="0" bIns="0" anchor="t">
            <a:spAutoFit/>
          </a:bodyPr>
          <a:lstStyle/>
          <a:p>
            <a:pPr algn="l">
              <a:lnSpc>
                <a:spcPct val="115000"/>
              </a:lnSpc>
            </a:pPr>
            <a:r>
              <a:rPr sz="900" b="1">
                <a:solidFill>
                  <a:srgbClr val="DC2626"/>
                </a:solidFill>
                <a:latin typeface="Calibri"/>
              </a:rPr>
              <a:t>CONS</a:t>
            </a:r>
          </a:p>
        </p:txBody>
      </p:sp>
      <p:sp>
        <p:nvSpPr>
          <p:cNvPr id="23" name="TextBox 22"/>
          <p:cNvSpPr txBox="1"/>
          <p:nvPr/>
        </p:nvSpPr>
        <p:spPr>
          <a:xfrm>
            <a:off x="7452360" y="3429000"/>
            <a:ext cx="4114800" cy="320040"/>
          </a:xfrm>
          <a:prstGeom prst="rect">
            <a:avLst/>
          </a:prstGeom>
          <a:noFill/>
        </p:spPr>
        <p:txBody>
          <a:bodyPr wrap="square" lIns="0" tIns="0" rIns="0" bIns="0" anchor="t">
            <a:spAutoFit/>
          </a:bodyPr>
          <a:lstStyle/>
          <a:p>
            <a:pPr algn="l">
              <a:lnSpc>
                <a:spcPct val="115000"/>
              </a:lnSpc>
            </a:pPr>
            <a:r>
              <a:rPr sz="1100" b="0">
                <a:solidFill>
                  <a:srgbClr val="475569"/>
                </a:solidFill>
                <a:latin typeface="Calibri"/>
              </a:rPr>
              <a:t>Prone to overfitting</a:t>
            </a:r>
          </a:p>
        </p:txBody>
      </p:sp>
      <p:sp>
        <p:nvSpPr>
          <p:cNvPr id="24" name="Rectangle 23"/>
          <p:cNvSpPr/>
          <p:nvPr/>
        </p:nvSpPr>
        <p:spPr>
          <a:xfrm>
            <a:off x="640080" y="4206240"/>
            <a:ext cx="5486400" cy="196596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40080" y="4206240"/>
            <a:ext cx="5486400" cy="41148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14400" y="4270248"/>
            <a:ext cx="5120640" cy="365760"/>
          </a:xfrm>
          <a:prstGeom prst="rect">
            <a:avLst/>
          </a:prstGeom>
          <a:noFill/>
        </p:spPr>
        <p:txBody>
          <a:bodyPr wrap="square" lIns="0" tIns="0" rIns="0" bIns="0" anchor="t">
            <a:spAutoFit/>
          </a:bodyPr>
          <a:lstStyle/>
          <a:p>
            <a:pPr algn="l">
              <a:lnSpc>
                <a:spcPct val="115000"/>
              </a:lnSpc>
            </a:pPr>
            <a:r>
              <a:rPr sz="1100" b="1">
                <a:solidFill>
                  <a:srgbClr val="FFFFFF"/>
                </a:solidFill>
                <a:latin typeface="Calibri"/>
              </a:rPr>
              <a:t>K-NEAREST NEIGHBORS</a:t>
            </a:r>
          </a:p>
        </p:txBody>
      </p:sp>
      <p:sp>
        <p:nvSpPr>
          <p:cNvPr id="27" name="TextBox 26"/>
          <p:cNvSpPr txBox="1"/>
          <p:nvPr/>
        </p:nvSpPr>
        <p:spPr>
          <a:xfrm>
            <a:off x="914400" y="4709160"/>
            <a:ext cx="5120640" cy="457200"/>
          </a:xfrm>
          <a:prstGeom prst="rect">
            <a:avLst/>
          </a:prstGeom>
          <a:noFill/>
        </p:spPr>
        <p:txBody>
          <a:bodyPr wrap="square" lIns="0" tIns="0" rIns="0" bIns="0" anchor="t">
            <a:spAutoFit/>
          </a:bodyPr>
          <a:lstStyle/>
          <a:p>
            <a:pPr algn="l">
              <a:lnSpc>
                <a:spcPct val="115000"/>
              </a:lnSpc>
            </a:pPr>
            <a:r>
              <a:rPr sz="1200" b="0">
                <a:solidFill>
                  <a:srgbClr val="1E293B"/>
                </a:solidFill>
                <a:latin typeface="Calibri"/>
              </a:rPr>
              <a:t>Predicts class by voting among nearest neighbours</a:t>
            </a:r>
          </a:p>
        </p:txBody>
      </p:sp>
      <p:sp>
        <p:nvSpPr>
          <p:cNvPr id="28" name="TextBox 27"/>
          <p:cNvSpPr txBox="1"/>
          <p:nvPr/>
        </p:nvSpPr>
        <p:spPr>
          <a:xfrm>
            <a:off x="914400" y="5257800"/>
            <a:ext cx="914400" cy="320040"/>
          </a:xfrm>
          <a:prstGeom prst="rect">
            <a:avLst/>
          </a:prstGeom>
          <a:noFill/>
        </p:spPr>
        <p:txBody>
          <a:bodyPr wrap="square" lIns="0" tIns="0" rIns="0" bIns="0" anchor="t">
            <a:spAutoFit/>
          </a:bodyPr>
          <a:lstStyle/>
          <a:p>
            <a:pPr algn="l">
              <a:lnSpc>
                <a:spcPct val="115000"/>
              </a:lnSpc>
            </a:pPr>
            <a:r>
              <a:rPr sz="900" b="1">
                <a:solidFill>
                  <a:srgbClr val="16A34A"/>
                </a:solidFill>
                <a:latin typeface="Calibri"/>
              </a:rPr>
              <a:t>PROS</a:t>
            </a:r>
          </a:p>
        </p:txBody>
      </p:sp>
      <p:sp>
        <p:nvSpPr>
          <p:cNvPr id="29" name="TextBox 28"/>
          <p:cNvSpPr txBox="1"/>
          <p:nvPr/>
        </p:nvSpPr>
        <p:spPr>
          <a:xfrm>
            <a:off x="1828800" y="5257800"/>
            <a:ext cx="4114800" cy="320040"/>
          </a:xfrm>
          <a:prstGeom prst="rect">
            <a:avLst/>
          </a:prstGeom>
          <a:noFill/>
        </p:spPr>
        <p:txBody>
          <a:bodyPr wrap="square" lIns="0" tIns="0" rIns="0" bIns="0" anchor="t">
            <a:spAutoFit/>
          </a:bodyPr>
          <a:lstStyle/>
          <a:p>
            <a:pPr algn="l">
              <a:lnSpc>
                <a:spcPct val="115000"/>
              </a:lnSpc>
            </a:pPr>
            <a:r>
              <a:rPr sz="1100" b="0">
                <a:solidFill>
                  <a:srgbClr val="475569"/>
                </a:solidFill>
                <a:latin typeface="Calibri"/>
              </a:rPr>
              <a:t>Intuitive</a:t>
            </a:r>
          </a:p>
        </p:txBody>
      </p:sp>
      <p:sp>
        <p:nvSpPr>
          <p:cNvPr id="30" name="TextBox 29"/>
          <p:cNvSpPr txBox="1"/>
          <p:nvPr/>
        </p:nvSpPr>
        <p:spPr>
          <a:xfrm>
            <a:off x="914400" y="5623560"/>
            <a:ext cx="914400" cy="320040"/>
          </a:xfrm>
          <a:prstGeom prst="rect">
            <a:avLst/>
          </a:prstGeom>
          <a:noFill/>
        </p:spPr>
        <p:txBody>
          <a:bodyPr wrap="square" lIns="0" tIns="0" rIns="0" bIns="0" anchor="t">
            <a:spAutoFit/>
          </a:bodyPr>
          <a:lstStyle/>
          <a:p>
            <a:pPr algn="l">
              <a:lnSpc>
                <a:spcPct val="115000"/>
              </a:lnSpc>
            </a:pPr>
            <a:r>
              <a:rPr sz="900" b="1">
                <a:solidFill>
                  <a:srgbClr val="DC2626"/>
                </a:solidFill>
                <a:latin typeface="Calibri"/>
              </a:rPr>
              <a:t>CONS</a:t>
            </a:r>
          </a:p>
        </p:txBody>
      </p:sp>
      <p:sp>
        <p:nvSpPr>
          <p:cNvPr id="31" name="TextBox 30"/>
          <p:cNvSpPr txBox="1"/>
          <p:nvPr/>
        </p:nvSpPr>
        <p:spPr>
          <a:xfrm>
            <a:off x="1828800" y="5623560"/>
            <a:ext cx="4114800" cy="320040"/>
          </a:xfrm>
          <a:prstGeom prst="rect">
            <a:avLst/>
          </a:prstGeom>
          <a:noFill/>
        </p:spPr>
        <p:txBody>
          <a:bodyPr wrap="square" lIns="0" tIns="0" rIns="0" bIns="0" anchor="t">
            <a:spAutoFit/>
          </a:bodyPr>
          <a:lstStyle/>
          <a:p>
            <a:pPr algn="l">
              <a:lnSpc>
                <a:spcPct val="115000"/>
              </a:lnSpc>
            </a:pPr>
            <a:r>
              <a:rPr sz="1100" b="0">
                <a:solidFill>
                  <a:srgbClr val="475569"/>
                </a:solidFill>
                <a:latin typeface="Calibri"/>
              </a:rPr>
              <a:t>Slow on large data · needs scaling</a:t>
            </a:r>
          </a:p>
        </p:txBody>
      </p:sp>
      <p:sp>
        <p:nvSpPr>
          <p:cNvPr id="32" name="Rectangle 31"/>
          <p:cNvSpPr/>
          <p:nvPr/>
        </p:nvSpPr>
        <p:spPr>
          <a:xfrm>
            <a:off x="6263640" y="4206240"/>
            <a:ext cx="5486400" cy="196596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6263640" y="4206240"/>
            <a:ext cx="5486400" cy="41148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537960" y="4270248"/>
            <a:ext cx="5120640" cy="365760"/>
          </a:xfrm>
          <a:prstGeom prst="rect">
            <a:avLst/>
          </a:prstGeom>
          <a:noFill/>
        </p:spPr>
        <p:txBody>
          <a:bodyPr wrap="square" lIns="0" tIns="0" rIns="0" bIns="0" anchor="t">
            <a:spAutoFit/>
          </a:bodyPr>
          <a:lstStyle/>
          <a:p>
            <a:pPr algn="l">
              <a:lnSpc>
                <a:spcPct val="115000"/>
              </a:lnSpc>
            </a:pPr>
            <a:r>
              <a:rPr sz="1100" b="1">
                <a:solidFill>
                  <a:srgbClr val="FFFFFF"/>
                </a:solidFill>
                <a:latin typeface="Calibri"/>
              </a:rPr>
              <a:t>RANDOM FOREST</a:t>
            </a:r>
          </a:p>
        </p:txBody>
      </p:sp>
      <p:sp>
        <p:nvSpPr>
          <p:cNvPr id="35" name="TextBox 34"/>
          <p:cNvSpPr txBox="1"/>
          <p:nvPr/>
        </p:nvSpPr>
        <p:spPr>
          <a:xfrm>
            <a:off x="6537960" y="4709160"/>
            <a:ext cx="5120640" cy="457200"/>
          </a:xfrm>
          <a:prstGeom prst="rect">
            <a:avLst/>
          </a:prstGeom>
          <a:noFill/>
        </p:spPr>
        <p:txBody>
          <a:bodyPr wrap="square" lIns="0" tIns="0" rIns="0" bIns="0" anchor="t">
            <a:spAutoFit/>
          </a:bodyPr>
          <a:lstStyle/>
          <a:p>
            <a:pPr algn="l">
              <a:lnSpc>
                <a:spcPct val="115000"/>
              </a:lnSpc>
            </a:pPr>
            <a:r>
              <a:rPr sz="1200" b="0">
                <a:solidFill>
                  <a:srgbClr val="1E293B"/>
                </a:solidFill>
                <a:latin typeface="Calibri"/>
              </a:rPr>
              <a:t>Combines many decision trees, votes the answer</a:t>
            </a:r>
          </a:p>
        </p:txBody>
      </p:sp>
      <p:sp>
        <p:nvSpPr>
          <p:cNvPr id="36" name="TextBox 35"/>
          <p:cNvSpPr txBox="1"/>
          <p:nvPr/>
        </p:nvSpPr>
        <p:spPr>
          <a:xfrm>
            <a:off x="6537960" y="5257800"/>
            <a:ext cx="914400" cy="320040"/>
          </a:xfrm>
          <a:prstGeom prst="rect">
            <a:avLst/>
          </a:prstGeom>
          <a:noFill/>
        </p:spPr>
        <p:txBody>
          <a:bodyPr wrap="square" lIns="0" tIns="0" rIns="0" bIns="0" anchor="t">
            <a:spAutoFit/>
          </a:bodyPr>
          <a:lstStyle/>
          <a:p>
            <a:pPr algn="l">
              <a:lnSpc>
                <a:spcPct val="115000"/>
              </a:lnSpc>
            </a:pPr>
            <a:r>
              <a:rPr sz="900" b="1">
                <a:solidFill>
                  <a:srgbClr val="16A34A"/>
                </a:solidFill>
                <a:latin typeface="Calibri"/>
              </a:rPr>
              <a:t>PROS</a:t>
            </a:r>
          </a:p>
        </p:txBody>
      </p:sp>
      <p:sp>
        <p:nvSpPr>
          <p:cNvPr id="37" name="TextBox 36"/>
          <p:cNvSpPr txBox="1"/>
          <p:nvPr/>
        </p:nvSpPr>
        <p:spPr>
          <a:xfrm>
            <a:off x="7452360" y="5257800"/>
            <a:ext cx="4114800" cy="320040"/>
          </a:xfrm>
          <a:prstGeom prst="rect">
            <a:avLst/>
          </a:prstGeom>
          <a:noFill/>
        </p:spPr>
        <p:txBody>
          <a:bodyPr wrap="square" lIns="0" tIns="0" rIns="0" bIns="0" anchor="t">
            <a:spAutoFit/>
          </a:bodyPr>
          <a:lstStyle/>
          <a:p>
            <a:pPr algn="l">
              <a:lnSpc>
                <a:spcPct val="115000"/>
              </a:lnSpc>
            </a:pPr>
            <a:r>
              <a:rPr sz="1100" b="0">
                <a:solidFill>
                  <a:srgbClr val="475569"/>
                </a:solidFill>
                <a:latin typeface="Calibri"/>
              </a:rPr>
              <a:t>Robust · feature imp.</a:t>
            </a:r>
          </a:p>
        </p:txBody>
      </p:sp>
      <p:sp>
        <p:nvSpPr>
          <p:cNvPr id="38" name="TextBox 37"/>
          <p:cNvSpPr txBox="1"/>
          <p:nvPr/>
        </p:nvSpPr>
        <p:spPr>
          <a:xfrm>
            <a:off x="6537960" y="5623560"/>
            <a:ext cx="914400" cy="320040"/>
          </a:xfrm>
          <a:prstGeom prst="rect">
            <a:avLst/>
          </a:prstGeom>
          <a:noFill/>
        </p:spPr>
        <p:txBody>
          <a:bodyPr wrap="square" lIns="0" tIns="0" rIns="0" bIns="0" anchor="t">
            <a:spAutoFit/>
          </a:bodyPr>
          <a:lstStyle/>
          <a:p>
            <a:pPr algn="l">
              <a:lnSpc>
                <a:spcPct val="115000"/>
              </a:lnSpc>
            </a:pPr>
            <a:r>
              <a:rPr sz="900" b="1">
                <a:solidFill>
                  <a:srgbClr val="DC2626"/>
                </a:solidFill>
                <a:latin typeface="Calibri"/>
              </a:rPr>
              <a:t>CONS</a:t>
            </a:r>
          </a:p>
        </p:txBody>
      </p:sp>
      <p:sp>
        <p:nvSpPr>
          <p:cNvPr id="39" name="TextBox 38"/>
          <p:cNvSpPr txBox="1"/>
          <p:nvPr/>
        </p:nvSpPr>
        <p:spPr>
          <a:xfrm>
            <a:off x="7452360" y="5623560"/>
            <a:ext cx="4114800" cy="320040"/>
          </a:xfrm>
          <a:prstGeom prst="rect">
            <a:avLst/>
          </a:prstGeom>
          <a:noFill/>
        </p:spPr>
        <p:txBody>
          <a:bodyPr wrap="square" lIns="0" tIns="0" rIns="0" bIns="0" anchor="t">
            <a:spAutoFit/>
          </a:bodyPr>
          <a:lstStyle/>
          <a:p>
            <a:pPr algn="l">
              <a:lnSpc>
                <a:spcPct val="115000"/>
              </a:lnSpc>
            </a:pPr>
            <a:r>
              <a:rPr sz="1100" b="0">
                <a:solidFill>
                  <a:srgbClr val="475569"/>
                </a:solidFill>
                <a:latin typeface="Calibri"/>
              </a:rPr>
              <a:t>Slower to train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6510528"/>
            <a:ext cx="7315200" cy="274320"/>
          </a:xfrm>
          <a:prstGeom prst="rect">
            <a:avLst/>
          </a:prstGeom>
          <a:noFill/>
        </p:spPr>
        <p:txBody>
          <a:bodyPr wrap="square" lIns="0" tIns="0" rIns="0" bIns="0" anchor="t">
            <a:spAutoFit/>
          </a:bodyPr>
          <a:lstStyle/>
          <a:p>
            <a:pPr algn="l">
              <a:lnSpc>
                <a:spcPct val="115000"/>
              </a:lnSpc>
            </a:pPr>
            <a:r>
              <a:rPr sz="900" b="0">
                <a:solidFill>
                  <a:srgbClr val="94A3B8"/>
                </a:solidFill>
                <a:latin typeface="Calibri"/>
              </a:rPr>
              <a:t>Diabetes Risk Prediction  ·  Intro to Data Science  ·  Sem 2</a:t>
            </a:r>
          </a:p>
        </p:txBody>
      </p:sp>
      <p:sp>
        <p:nvSpPr>
          <p:cNvPr id="4" name="TextBox 3"/>
          <p:cNvSpPr txBox="1"/>
          <p:nvPr/>
        </p:nvSpPr>
        <p:spPr>
          <a:xfrm>
            <a:off x="11094415" y="6510528"/>
            <a:ext cx="822960" cy="274320"/>
          </a:xfrm>
          <a:prstGeom prst="rect">
            <a:avLst/>
          </a:prstGeom>
          <a:noFill/>
        </p:spPr>
        <p:txBody>
          <a:bodyPr wrap="square" lIns="0" tIns="0" rIns="0" bIns="0" anchor="t">
            <a:spAutoFit/>
          </a:bodyPr>
          <a:lstStyle/>
          <a:p>
            <a:pPr algn="r">
              <a:lnSpc>
                <a:spcPct val="115000"/>
              </a:lnSpc>
            </a:pPr>
            <a:r>
              <a:rPr sz="900" b="0">
                <a:solidFill>
                  <a:srgbClr val="94A3B8"/>
                </a:solidFill>
                <a:latin typeface="Calibri"/>
              </a:rPr>
              <a:t>13 / 17</a:t>
            </a:r>
          </a:p>
        </p:txBody>
      </p:sp>
      <p:sp>
        <p:nvSpPr>
          <p:cNvPr id="5" name="TextBox 4"/>
          <p:cNvSpPr txBox="1"/>
          <p:nvPr/>
        </p:nvSpPr>
        <p:spPr>
          <a:xfrm>
            <a:off x="640080" y="502920"/>
            <a:ext cx="10972800" cy="274320"/>
          </a:xfrm>
          <a:prstGeom prst="rect">
            <a:avLst/>
          </a:prstGeom>
          <a:noFill/>
        </p:spPr>
        <p:txBody>
          <a:bodyPr wrap="square" lIns="0" tIns="0" rIns="0" bIns="0" anchor="t">
            <a:spAutoFit/>
          </a:bodyPr>
          <a:lstStyle/>
          <a:p>
            <a:pPr algn="l">
              <a:lnSpc>
                <a:spcPct val="115000"/>
              </a:lnSpc>
            </a:pPr>
            <a:r>
              <a:rPr sz="1000" b="1">
                <a:solidFill>
                  <a:srgbClr val="F59E0B"/>
                </a:solidFill>
                <a:latin typeface="Calibri"/>
              </a:rPr>
              <a:t>11  ·  RESULTS</a:t>
            </a:r>
          </a:p>
        </p:txBody>
      </p:sp>
      <p:sp>
        <p:nvSpPr>
          <p:cNvPr id="6" name="TextBox 5"/>
          <p:cNvSpPr txBox="1"/>
          <p:nvPr/>
        </p:nvSpPr>
        <p:spPr>
          <a:xfrm>
            <a:off x="640080" y="822960"/>
            <a:ext cx="10972800" cy="685800"/>
          </a:xfrm>
          <a:prstGeom prst="rect">
            <a:avLst/>
          </a:prstGeom>
          <a:noFill/>
        </p:spPr>
        <p:txBody>
          <a:bodyPr wrap="square" lIns="0" tIns="0" rIns="0" bIns="0" anchor="t">
            <a:spAutoFit/>
          </a:bodyPr>
          <a:lstStyle/>
          <a:p>
            <a:pPr algn="l">
              <a:lnSpc>
                <a:spcPct val="115000"/>
              </a:lnSpc>
            </a:pPr>
            <a:r>
              <a:rPr sz="2800" b="1">
                <a:solidFill>
                  <a:srgbClr val="1E293B"/>
                </a:solidFill>
                <a:latin typeface="Calibri"/>
              </a:rPr>
              <a:t>Model comparison — real numbers</a:t>
            </a:r>
          </a:p>
        </p:txBody>
      </p:sp>
      <p:sp>
        <p:nvSpPr>
          <p:cNvPr id="7" name="Rectangle 6"/>
          <p:cNvSpPr/>
          <p:nvPr/>
        </p:nvSpPr>
        <p:spPr>
          <a:xfrm>
            <a:off x="640080" y="1463040"/>
            <a:ext cx="457200" cy="45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08_model_comparison.png"/>
          <p:cNvPicPr>
            <a:picLocks noChangeAspect="1"/>
          </p:cNvPicPr>
          <p:nvPr/>
        </p:nvPicPr>
        <p:blipFill>
          <a:blip r:embed="rId3"/>
          <a:stretch>
            <a:fillRect/>
          </a:stretch>
        </p:blipFill>
        <p:spPr>
          <a:xfrm>
            <a:off x="457200" y="1828800"/>
            <a:ext cx="6858000" cy="3840480"/>
          </a:xfrm>
          <a:prstGeom prst="rect">
            <a:avLst/>
          </a:prstGeom>
        </p:spPr>
      </p:pic>
      <p:sp>
        <p:nvSpPr>
          <p:cNvPr id="9" name="TextBox 8"/>
          <p:cNvSpPr txBox="1"/>
          <p:nvPr/>
        </p:nvSpPr>
        <p:spPr>
          <a:xfrm>
            <a:off x="7680960" y="1828800"/>
            <a:ext cx="4114800" cy="365760"/>
          </a:xfrm>
          <a:prstGeom prst="rect">
            <a:avLst/>
          </a:prstGeom>
          <a:noFill/>
        </p:spPr>
        <p:txBody>
          <a:bodyPr wrap="square" lIns="0" tIns="0" rIns="0" bIns="0" anchor="t">
            <a:spAutoFit/>
          </a:bodyPr>
          <a:lstStyle/>
          <a:p>
            <a:pPr algn="l">
              <a:lnSpc>
                <a:spcPct val="115000"/>
              </a:lnSpc>
            </a:pPr>
            <a:r>
              <a:rPr sz="1100" b="1">
                <a:solidFill>
                  <a:srgbClr val="F59E0B"/>
                </a:solidFill>
                <a:latin typeface="Calibri"/>
              </a:rPr>
              <a:t>FULL METRICS</a:t>
            </a:r>
          </a:p>
        </p:txBody>
      </p:sp>
      <p:sp>
        <p:nvSpPr>
          <p:cNvPr id="10" name="Rectangle 9"/>
          <p:cNvSpPr/>
          <p:nvPr/>
        </p:nvSpPr>
        <p:spPr>
          <a:xfrm>
            <a:off x="7680960" y="2286000"/>
            <a:ext cx="3931920" cy="36576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26680" y="2350008"/>
            <a:ext cx="1371600" cy="274320"/>
          </a:xfrm>
          <a:prstGeom prst="rect">
            <a:avLst/>
          </a:prstGeom>
          <a:noFill/>
        </p:spPr>
        <p:txBody>
          <a:bodyPr wrap="square" lIns="0" tIns="0" rIns="0" bIns="0" anchor="t">
            <a:spAutoFit/>
          </a:bodyPr>
          <a:lstStyle/>
          <a:p>
            <a:pPr algn="l">
              <a:lnSpc>
                <a:spcPct val="115000"/>
              </a:lnSpc>
            </a:pPr>
            <a:r>
              <a:rPr sz="1000" b="1">
                <a:solidFill>
                  <a:srgbClr val="FFFFFF"/>
                </a:solidFill>
                <a:latin typeface="Calibri"/>
              </a:rPr>
              <a:t>Model</a:t>
            </a:r>
          </a:p>
        </p:txBody>
      </p:sp>
      <p:sp>
        <p:nvSpPr>
          <p:cNvPr id="12" name="TextBox 11"/>
          <p:cNvSpPr txBox="1"/>
          <p:nvPr/>
        </p:nvSpPr>
        <p:spPr>
          <a:xfrm>
            <a:off x="10104120" y="2350008"/>
            <a:ext cx="1371600" cy="274320"/>
          </a:xfrm>
          <a:prstGeom prst="rect">
            <a:avLst/>
          </a:prstGeom>
          <a:noFill/>
        </p:spPr>
        <p:txBody>
          <a:bodyPr wrap="square" lIns="0" tIns="0" rIns="0" bIns="0" anchor="t">
            <a:spAutoFit/>
          </a:bodyPr>
          <a:lstStyle/>
          <a:p>
            <a:pPr algn="l">
              <a:lnSpc>
                <a:spcPct val="115000"/>
              </a:lnSpc>
            </a:pPr>
            <a:r>
              <a:rPr sz="1000" b="1">
                <a:solidFill>
                  <a:srgbClr val="FFFFFF"/>
                </a:solidFill>
                <a:latin typeface="Calibri"/>
              </a:rPr>
              <a:t>Acc</a:t>
            </a:r>
          </a:p>
        </p:txBody>
      </p:sp>
      <p:sp>
        <p:nvSpPr>
          <p:cNvPr id="13" name="TextBox 12"/>
          <p:cNvSpPr txBox="1"/>
          <p:nvPr/>
        </p:nvSpPr>
        <p:spPr>
          <a:xfrm>
            <a:off x="10927080" y="2350008"/>
            <a:ext cx="1371600" cy="274320"/>
          </a:xfrm>
          <a:prstGeom prst="rect">
            <a:avLst/>
          </a:prstGeom>
          <a:noFill/>
        </p:spPr>
        <p:txBody>
          <a:bodyPr wrap="square" lIns="0" tIns="0" rIns="0" bIns="0" anchor="t">
            <a:spAutoFit/>
          </a:bodyPr>
          <a:lstStyle/>
          <a:p>
            <a:pPr algn="l">
              <a:lnSpc>
                <a:spcPct val="115000"/>
              </a:lnSpc>
            </a:pPr>
            <a:r>
              <a:rPr sz="1000" b="1">
                <a:solidFill>
                  <a:srgbClr val="FFFFFF"/>
                </a:solidFill>
                <a:latin typeface="Calibri"/>
              </a:rPr>
              <a:t>F1</a:t>
            </a:r>
          </a:p>
        </p:txBody>
      </p:sp>
      <p:sp>
        <p:nvSpPr>
          <p:cNvPr id="14" name="Rectangle 13"/>
          <p:cNvSpPr/>
          <p:nvPr/>
        </p:nvSpPr>
        <p:spPr>
          <a:xfrm>
            <a:off x="7680960" y="2651760"/>
            <a:ext cx="3931920" cy="457200"/>
          </a:xfrm>
          <a:prstGeom prst="rect">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26680" y="2761488"/>
            <a:ext cx="2286000" cy="320040"/>
          </a:xfrm>
          <a:prstGeom prst="rect">
            <a:avLst/>
          </a:prstGeom>
          <a:noFill/>
        </p:spPr>
        <p:txBody>
          <a:bodyPr wrap="square" lIns="0" tIns="0" rIns="0" bIns="0" anchor="t">
            <a:spAutoFit/>
          </a:bodyPr>
          <a:lstStyle/>
          <a:p>
            <a:pPr algn="l">
              <a:lnSpc>
                <a:spcPct val="115000"/>
              </a:lnSpc>
            </a:pPr>
            <a:r>
              <a:rPr sz="1000" b="0">
                <a:solidFill>
                  <a:srgbClr val="1E293B"/>
                </a:solidFill>
                <a:latin typeface="Calibri"/>
              </a:rPr>
              <a:t>Logistic Regression</a:t>
            </a:r>
          </a:p>
        </p:txBody>
      </p:sp>
      <p:sp>
        <p:nvSpPr>
          <p:cNvPr id="16" name="TextBox 15"/>
          <p:cNvSpPr txBox="1"/>
          <p:nvPr/>
        </p:nvSpPr>
        <p:spPr>
          <a:xfrm>
            <a:off x="10104120" y="2761488"/>
            <a:ext cx="731520" cy="320040"/>
          </a:xfrm>
          <a:prstGeom prst="rect">
            <a:avLst/>
          </a:prstGeom>
          <a:noFill/>
        </p:spPr>
        <p:txBody>
          <a:bodyPr wrap="square" lIns="0" tIns="0" rIns="0" bIns="0" anchor="t">
            <a:spAutoFit/>
          </a:bodyPr>
          <a:lstStyle/>
          <a:p>
            <a:pPr algn="l">
              <a:lnSpc>
                <a:spcPct val="115000"/>
              </a:lnSpc>
            </a:pPr>
            <a:r>
              <a:rPr sz="1000" b="0">
                <a:solidFill>
                  <a:srgbClr val="1E293B"/>
                </a:solidFill>
                <a:latin typeface="Calibri"/>
              </a:rPr>
              <a:t>0.745</a:t>
            </a:r>
          </a:p>
        </p:txBody>
      </p:sp>
      <p:sp>
        <p:nvSpPr>
          <p:cNvPr id="17" name="TextBox 16"/>
          <p:cNvSpPr txBox="1"/>
          <p:nvPr/>
        </p:nvSpPr>
        <p:spPr>
          <a:xfrm>
            <a:off x="10927080" y="2761488"/>
            <a:ext cx="731520" cy="320040"/>
          </a:xfrm>
          <a:prstGeom prst="rect">
            <a:avLst/>
          </a:prstGeom>
          <a:noFill/>
        </p:spPr>
        <p:txBody>
          <a:bodyPr wrap="square" lIns="0" tIns="0" rIns="0" bIns="0" anchor="t">
            <a:spAutoFit/>
          </a:bodyPr>
          <a:lstStyle/>
          <a:p>
            <a:pPr algn="l">
              <a:lnSpc>
                <a:spcPct val="115000"/>
              </a:lnSpc>
            </a:pPr>
            <a:r>
              <a:rPr sz="1000" b="0">
                <a:solidFill>
                  <a:srgbClr val="1E293B"/>
                </a:solidFill>
                <a:latin typeface="Calibri"/>
              </a:rPr>
              <a:t>0.755</a:t>
            </a:r>
          </a:p>
        </p:txBody>
      </p:sp>
      <p:sp>
        <p:nvSpPr>
          <p:cNvPr id="18" name="Rectangle 17"/>
          <p:cNvSpPr/>
          <p:nvPr/>
        </p:nvSpPr>
        <p:spPr>
          <a:xfrm>
            <a:off x="7680960" y="3108960"/>
            <a:ext cx="3931920" cy="45720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726680" y="3218688"/>
            <a:ext cx="2286000" cy="320040"/>
          </a:xfrm>
          <a:prstGeom prst="rect">
            <a:avLst/>
          </a:prstGeom>
          <a:noFill/>
        </p:spPr>
        <p:txBody>
          <a:bodyPr wrap="square" lIns="0" tIns="0" rIns="0" bIns="0" anchor="t">
            <a:spAutoFit/>
          </a:bodyPr>
          <a:lstStyle/>
          <a:p>
            <a:pPr algn="l">
              <a:lnSpc>
                <a:spcPct val="115000"/>
              </a:lnSpc>
            </a:pPr>
            <a:r>
              <a:rPr sz="1000" b="0">
                <a:solidFill>
                  <a:srgbClr val="1E293B"/>
                </a:solidFill>
                <a:latin typeface="Calibri"/>
              </a:rPr>
              <a:t>Decision Tree</a:t>
            </a:r>
          </a:p>
        </p:txBody>
      </p:sp>
      <p:sp>
        <p:nvSpPr>
          <p:cNvPr id="20" name="TextBox 19"/>
          <p:cNvSpPr txBox="1"/>
          <p:nvPr/>
        </p:nvSpPr>
        <p:spPr>
          <a:xfrm>
            <a:off x="10104120" y="3218688"/>
            <a:ext cx="731520" cy="320040"/>
          </a:xfrm>
          <a:prstGeom prst="rect">
            <a:avLst/>
          </a:prstGeom>
          <a:noFill/>
        </p:spPr>
        <p:txBody>
          <a:bodyPr wrap="square" lIns="0" tIns="0" rIns="0" bIns="0" anchor="t">
            <a:spAutoFit/>
          </a:bodyPr>
          <a:lstStyle/>
          <a:p>
            <a:pPr algn="l">
              <a:lnSpc>
                <a:spcPct val="115000"/>
              </a:lnSpc>
            </a:pPr>
            <a:r>
              <a:rPr sz="1000" b="0">
                <a:solidFill>
                  <a:srgbClr val="1E293B"/>
                </a:solidFill>
                <a:latin typeface="Calibri"/>
              </a:rPr>
              <a:t>0.732</a:t>
            </a:r>
          </a:p>
        </p:txBody>
      </p:sp>
      <p:sp>
        <p:nvSpPr>
          <p:cNvPr id="21" name="TextBox 20"/>
          <p:cNvSpPr txBox="1"/>
          <p:nvPr/>
        </p:nvSpPr>
        <p:spPr>
          <a:xfrm>
            <a:off x="10927080" y="3218688"/>
            <a:ext cx="731520" cy="320040"/>
          </a:xfrm>
          <a:prstGeom prst="rect">
            <a:avLst/>
          </a:prstGeom>
          <a:noFill/>
        </p:spPr>
        <p:txBody>
          <a:bodyPr wrap="square" lIns="0" tIns="0" rIns="0" bIns="0" anchor="t">
            <a:spAutoFit/>
          </a:bodyPr>
          <a:lstStyle/>
          <a:p>
            <a:pPr algn="l">
              <a:lnSpc>
                <a:spcPct val="115000"/>
              </a:lnSpc>
            </a:pPr>
            <a:r>
              <a:rPr sz="1000" b="0">
                <a:solidFill>
                  <a:srgbClr val="1E293B"/>
                </a:solidFill>
                <a:latin typeface="Calibri"/>
              </a:rPr>
              <a:t>0.747</a:t>
            </a:r>
          </a:p>
        </p:txBody>
      </p:sp>
      <p:sp>
        <p:nvSpPr>
          <p:cNvPr id="22" name="Rectangle 21"/>
          <p:cNvSpPr/>
          <p:nvPr/>
        </p:nvSpPr>
        <p:spPr>
          <a:xfrm>
            <a:off x="7680960" y="3566160"/>
            <a:ext cx="3931920" cy="457200"/>
          </a:xfrm>
          <a:prstGeom prst="rect">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726680" y="3675888"/>
            <a:ext cx="2286000" cy="320040"/>
          </a:xfrm>
          <a:prstGeom prst="rect">
            <a:avLst/>
          </a:prstGeom>
          <a:noFill/>
        </p:spPr>
        <p:txBody>
          <a:bodyPr wrap="square" lIns="0" tIns="0" rIns="0" bIns="0" anchor="t">
            <a:spAutoFit/>
          </a:bodyPr>
          <a:lstStyle/>
          <a:p>
            <a:pPr algn="l">
              <a:lnSpc>
                <a:spcPct val="115000"/>
              </a:lnSpc>
            </a:pPr>
            <a:r>
              <a:rPr sz="1000" b="0">
                <a:solidFill>
                  <a:srgbClr val="1E293B"/>
                </a:solidFill>
                <a:latin typeface="Calibri"/>
              </a:rPr>
              <a:t>K-Nearest Neighbors</a:t>
            </a:r>
          </a:p>
        </p:txBody>
      </p:sp>
      <p:sp>
        <p:nvSpPr>
          <p:cNvPr id="24" name="TextBox 23"/>
          <p:cNvSpPr txBox="1"/>
          <p:nvPr/>
        </p:nvSpPr>
        <p:spPr>
          <a:xfrm>
            <a:off x="10104120" y="3675888"/>
            <a:ext cx="731520" cy="320040"/>
          </a:xfrm>
          <a:prstGeom prst="rect">
            <a:avLst/>
          </a:prstGeom>
          <a:noFill/>
        </p:spPr>
        <p:txBody>
          <a:bodyPr wrap="square" lIns="0" tIns="0" rIns="0" bIns="0" anchor="t">
            <a:spAutoFit/>
          </a:bodyPr>
          <a:lstStyle/>
          <a:p>
            <a:pPr algn="l">
              <a:lnSpc>
                <a:spcPct val="115000"/>
              </a:lnSpc>
            </a:pPr>
            <a:r>
              <a:rPr sz="1000" b="0">
                <a:solidFill>
                  <a:srgbClr val="1E293B"/>
                </a:solidFill>
                <a:latin typeface="Calibri"/>
              </a:rPr>
              <a:t>0.735</a:t>
            </a:r>
          </a:p>
        </p:txBody>
      </p:sp>
      <p:sp>
        <p:nvSpPr>
          <p:cNvPr id="25" name="TextBox 24"/>
          <p:cNvSpPr txBox="1"/>
          <p:nvPr/>
        </p:nvSpPr>
        <p:spPr>
          <a:xfrm>
            <a:off x="10927080" y="3675888"/>
            <a:ext cx="731520" cy="320040"/>
          </a:xfrm>
          <a:prstGeom prst="rect">
            <a:avLst/>
          </a:prstGeom>
          <a:noFill/>
        </p:spPr>
        <p:txBody>
          <a:bodyPr wrap="square" lIns="0" tIns="0" rIns="0" bIns="0" anchor="t">
            <a:spAutoFit/>
          </a:bodyPr>
          <a:lstStyle/>
          <a:p>
            <a:pPr algn="l">
              <a:lnSpc>
                <a:spcPct val="115000"/>
              </a:lnSpc>
            </a:pPr>
            <a:r>
              <a:rPr sz="1000" b="0">
                <a:solidFill>
                  <a:srgbClr val="1E293B"/>
                </a:solidFill>
                <a:latin typeface="Calibri"/>
              </a:rPr>
              <a:t>0.752</a:t>
            </a:r>
          </a:p>
        </p:txBody>
      </p:sp>
      <p:sp>
        <p:nvSpPr>
          <p:cNvPr id="26" name="Rectangle 25"/>
          <p:cNvSpPr/>
          <p:nvPr/>
        </p:nvSpPr>
        <p:spPr>
          <a:xfrm>
            <a:off x="7680960" y="4023360"/>
            <a:ext cx="3931920" cy="45720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726680" y="4133088"/>
            <a:ext cx="2286000" cy="320040"/>
          </a:xfrm>
          <a:prstGeom prst="rect">
            <a:avLst/>
          </a:prstGeom>
          <a:noFill/>
        </p:spPr>
        <p:txBody>
          <a:bodyPr wrap="square" lIns="0" tIns="0" rIns="0" bIns="0" anchor="t">
            <a:spAutoFit/>
          </a:bodyPr>
          <a:lstStyle/>
          <a:p>
            <a:pPr algn="l">
              <a:lnSpc>
                <a:spcPct val="115000"/>
              </a:lnSpc>
            </a:pPr>
            <a:r>
              <a:rPr sz="1000" b="1">
                <a:solidFill>
                  <a:srgbClr val="0B4F4A"/>
                </a:solidFill>
                <a:latin typeface="Calibri"/>
              </a:rPr>
              <a:t>Random Forest</a:t>
            </a:r>
          </a:p>
        </p:txBody>
      </p:sp>
      <p:sp>
        <p:nvSpPr>
          <p:cNvPr id="28" name="TextBox 27"/>
          <p:cNvSpPr txBox="1"/>
          <p:nvPr/>
        </p:nvSpPr>
        <p:spPr>
          <a:xfrm>
            <a:off x="10104120" y="4133088"/>
            <a:ext cx="731520" cy="320040"/>
          </a:xfrm>
          <a:prstGeom prst="rect">
            <a:avLst/>
          </a:prstGeom>
          <a:noFill/>
        </p:spPr>
        <p:txBody>
          <a:bodyPr wrap="square" lIns="0" tIns="0" rIns="0" bIns="0" anchor="t">
            <a:spAutoFit/>
          </a:bodyPr>
          <a:lstStyle/>
          <a:p>
            <a:pPr algn="l">
              <a:lnSpc>
                <a:spcPct val="115000"/>
              </a:lnSpc>
            </a:pPr>
            <a:r>
              <a:rPr sz="1000" b="0">
                <a:solidFill>
                  <a:srgbClr val="1E293B"/>
                </a:solidFill>
                <a:latin typeface="Calibri"/>
              </a:rPr>
              <a:t>0.744</a:t>
            </a:r>
          </a:p>
        </p:txBody>
      </p:sp>
      <p:sp>
        <p:nvSpPr>
          <p:cNvPr id="29" name="TextBox 28"/>
          <p:cNvSpPr txBox="1"/>
          <p:nvPr/>
        </p:nvSpPr>
        <p:spPr>
          <a:xfrm>
            <a:off x="10927080" y="4133088"/>
            <a:ext cx="731520" cy="320040"/>
          </a:xfrm>
          <a:prstGeom prst="rect">
            <a:avLst/>
          </a:prstGeom>
          <a:noFill/>
        </p:spPr>
        <p:txBody>
          <a:bodyPr wrap="square" lIns="0" tIns="0" rIns="0" bIns="0" anchor="t">
            <a:spAutoFit/>
          </a:bodyPr>
          <a:lstStyle/>
          <a:p>
            <a:pPr algn="l">
              <a:lnSpc>
                <a:spcPct val="115000"/>
              </a:lnSpc>
            </a:pPr>
            <a:r>
              <a:rPr sz="1000" b="0">
                <a:solidFill>
                  <a:srgbClr val="1E293B"/>
                </a:solidFill>
                <a:latin typeface="Calibri"/>
              </a:rPr>
              <a:t>0.759</a:t>
            </a:r>
          </a:p>
        </p:txBody>
      </p:sp>
      <p:sp>
        <p:nvSpPr>
          <p:cNvPr id="30" name="Rectangle 29"/>
          <p:cNvSpPr/>
          <p:nvPr/>
        </p:nvSpPr>
        <p:spPr>
          <a:xfrm>
            <a:off x="7680960" y="4572000"/>
            <a:ext cx="3931920" cy="1691640"/>
          </a:xfrm>
          <a:prstGeom prst="rect">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772400" y="4709160"/>
            <a:ext cx="3657600" cy="274320"/>
          </a:xfrm>
          <a:prstGeom prst="rect">
            <a:avLst/>
          </a:prstGeom>
          <a:noFill/>
        </p:spPr>
        <p:txBody>
          <a:bodyPr wrap="square" lIns="0" tIns="0" rIns="0" bIns="0" anchor="t">
            <a:spAutoFit/>
          </a:bodyPr>
          <a:lstStyle/>
          <a:p>
            <a:pPr algn="l">
              <a:lnSpc>
                <a:spcPct val="115000"/>
              </a:lnSpc>
            </a:pPr>
            <a:r>
              <a:rPr sz="1000" b="1">
                <a:solidFill>
                  <a:srgbClr val="F59E0B"/>
                </a:solidFill>
                <a:latin typeface="Calibri"/>
              </a:rPr>
              <a:t>WINNER</a:t>
            </a:r>
          </a:p>
        </p:txBody>
      </p:sp>
      <p:sp>
        <p:nvSpPr>
          <p:cNvPr id="32" name="TextBox 31"/>
          <p:cNvSpPr txBox="1"/>
          <p:nvPr/>
        </p:nvSpPr>
        <p:spPr>
          <a:xfrm>
            <a:off x="7772400" y="5029200"/>
            <a:ext cx="3657600" cy="457200"/>
          </a:xfrm>
          <a:prstGeom prst="rect">
            <a:avLst/>
          </a:prstGeom>
          <a:noFill/>
        </p:spPr>
        <p:txBody>
          <a:bodyPr wrap="square" lIns="0" tIns="0" rIns="0" bIns="0" anchor="t">
            <a:spAutoFit/>
          </a:bodyPr>
          <a:lstStyle/>
          <a:p>
            <a:pPr algn="l">
              <a:lnSpc>
                <a:spcPct val="115000"/>
              </a:lnSpc>
            </a:pPr>
            <a:r>
              <a:rPr sz="1600" b="1">
                <a:solidFill>
                  <a:srgbClr val="0B4F4A"/>
                </a:solidFill>
                <a:latin typeface="Calibri"/>
              </a:rPr>
              <a:t>Random Forest</a:t>
            </a:r>
          </a:p>
        </p:txBody>
      </p:sp>
      <p:sp>
        <p:nvSpPr>
          <p:cNvPr id="33" name="TextBox 32"/>
          <p:cNvSpPr txBox="1"/>
          <p:nvPr/>
        </p:nvSpPr>
        <p:spPr>
          <a:xfrm>
            <a:off x="7772400" y="5532120"/>
            <a:ext cx="3749039" cy="731520"/>
          </a:xfrm>
          <a:prstGeom prst="rect">
            <a:avLst/>
          </a:prstGeom>
          <a:noFill/>
        </p:spPr>
        <p:txBody>
          <a:bodyPr wrap="square" lIns="0" tIns="0" rIns="0" bIns="0" anchor="t">
            <a:spAutoFit/>
          </a:bodyPr>
          <a:lstStyle/>
          <a:p>
            <a:pPr algn="l">
              <a:lnSpc>
                <a:spcPct val="130000"/>
              </a:lnSpc>
            </a:pPr>
            <a:r>
              <a:rPr sz="1100" b="0">
                <a:solidFill>
                  <a:srgbClr val="1E293B"/>
                </a:solidFill>
                <a:latin typeface="Calibri"/>
              </a:rPr>
              <a:t>Best F1 (0.759) and built-in feature importance.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6510528"/>
            <a:ext cx="7315200" cy="274320"/>
          </a:xfrm>
          <a:prstGeom prst="rect">
            <a:avLst/>
          </a:prstGeom>
          <a:noFill/>
        </p:spPr>
        <p:txBody>
          <a:bodyPr wrap="square" lIns="0" tIns="0" rIns="0" bIns="0" anchor="t">
            <a:spAutoFit/>
          </a:bodyPr>
          <a:lstStyle/>
          <a:p>
            <a:pPr algn="l">
              <a:lnSpc>
                <a:spcPct val="115000"/>
              </a:lnSpc>
            </a:pPr>
            <a:r>
              <a:rPr sz="900" b="0">
                <a:solidFill>
                  <a:srgbClr val="94A3B8"/>
                </a:solidFill>
                <a:latin typeface="Calibri"/>
              </a:rPr>
              <a:t>Diabetes Risk Prediction  ·  Intro to Data Science  ·  Sem 2</a:t>
            </a:r>
          </a:p>
        </p:txBody>
      </p:sp>
      <p:sp>
        <p:nvSpPr>
          <p:cNvPr id="4" name="TextBox 3"/>
          <p:cNvSpPr txBox="1"/>
          <p:nvPr/>
        </p:nvSpPr>
        <p:spPr>
          <a:xfrm>
            <a:off x="11094415" y="6510528"/>
            <a:ext cx="822960" cy="274320"/>
          </a:xfrm>
          <a:prstGeom prst="rect">
            <a:avLst/>
          </a:prstGeom>
          <a:noFill/>
        </p:spPr>
        <p:txBody>
          <a:bodyPr wrap="square" lIns="0" tIns="0" rIns="0" bIns="0" anchor="t">
            <a:spAutoFit/>
          </a:bodyPr>
          <a:lstStyle/>
          <a:p>
            <a:pPr algn="r">
              <a:lnSpc>
                <a:spcPct val="115000"/>
              </a:lnSpc>
            </a:pPr>
            <a:r>
              <a:rPr sz="900" b="0">
                <a:solidFill>
                  <a:srgbClr val="94A3B8"/>
                </a:solidFill>
                <a:latin typeface="Calibri"/>
              </a:rPr>
              <a:t>14 / 17</a:t>
            </a:r>
          </a:p>
        </p:txBody>
      </p:sp>
      <p:sp>
        <p:nvSpPr>
          <p:cNvPr id="5" name="TextBox 4"/>
          <p:cNvSpPr txBox="1"/>
          <p:nvPr/>
        </p:nvSpPr>
        <p:spPr>
          <a:xfrm>
            <a:off x="640080" y="502920"/>
            <a:ext cx="10972800" cy="274320"/>
          </a:xfrm>
          <a:prstGeom prst="rect">
            <a:avLst/>
          </a:prstGeom>
          <a:noFill/>
        </p:spPr>
        <p:txBody>
          <a:bodyPr wrap="square" lIns="0" tIns="0" rIns="0" bIns="0" anchor="t">
            <a:spAutoFit/>
          </a:bodyPr>
          <a:lstStyle/>
          <a:p>
            <a:pPr algn="l">
              <a:lnSpc>
                <a:spcPct val="115000"/>
              </a:lnSpc>
            </a:pPr>
            <a:r>
              <a:rPr sz="1000" b="1">
                <a:solidFill>
                  <a:srgbClr val="F59E0B"/>
                </a:solidFill>
                <a:latin typeface="Calibri"/>
              </a:rPr>
              <a:t>12  ·  FINAL MODEL</a:t>
            </a:r>
          </a:p>
        </p:txBody>
      </p:sp>
      <p:sp>
        <p:nvSpPr>
          <p:cNvPr id="6" name="TextBox 5"/>
          <p:cNvSpPr txBox="1"/>
          <p:nvPr/>
        </p:nvSpPr>
        <p:spPr>
          <a:xfrm>
            <a:off x="640080" y="822960"/>
            <a:ext cx="10972800" cy="685800"/>
          </a:xfrm>
          <a:prstGeom prst="rect">
            <a:avLst/>
          </a:prstGeom>
          <a:noFill/>
        </p:spPr>
        <p:txBody>
          <a:bodyPr wrap="square" lIns="0" tIns="0" rIns="0" bIns="0" anchor="t">
            <a:spAutoFit/>
          </a:bodyPr>
          <a:lstStyle/>
          <a:p>
            <a:pPr algn="l">
              <a:lnSpc>
                <a:spcPct val="115000"/>
              </a:lnSpc>
            </a:pPr>
            <a:r>
              <a:rPr sz="2800" b="1">
                <a:solidFill>
                  <a:srgbClr val="1E293B"/>
                </a:solidFill>
                <a:latin typeface="Calibri"/>
              </a:rPr>
              <a:t>Random Forest — detailed results</a:t>
            </a:r>
          </a:p>
        </p:txBody>
      </p:sp>
      <p:sp>
        <p:nvSpPr>
          <p:cNvPr id="7" name="Rectangle 6"/>
          <p:cNvSpPr/>
          <p:nvPr/>
        </p:nvSpPr>
        <p:spPr>
          <a:xfrm>
            <a:off x="640080" y="1463040"/>
            <a:ext cx="457200" cy="45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06_confusion_matrix.png"/>
          <p:cNvPicPr>
            <a:picLocks noChangeAspect="1"/>
          </p:cNvPicPr>
          <p:nvPr/>
        </p:nvPicPr>
        <p:blipFill>
          <a:blip r:embed="rId3"/>
          <a:stretch>
            <a:fillRect/>
          </a:stretch>
        </p:blipFill>
        <p:spPr>
          <a:xfrm>
            <a:off x="640080" y="2011680"/>
            <a:ext cx="4754880" cy="4206240"/>
          </a:xfrm>
          <a:prstGeom prst="rect">
            <a:avLst/>
          </a:prstGeom>
        </p:spPr>
      </p:pic>
      <p:sp>
        <p:nvSpPr>
          <p:cNvPr id="9" name="Rectangle 8"/>
          <p:cNvSpPr/>
          <p:nvPr/>
        </p:nvSpPr>
        <p:spPr>
          <a:xfrm>
            <a:off x="5943600" y="2011680"/>
            <a:ext cx="2743200" cy="1280160"/>
          </a:xfrm>
          <a:prstGeom prst="rect">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943600" y="2011680"/>
            <a:ext cx="73152" cy="128016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217920" y="2148840"/>
            <a:ext cx="2377440" cy="274320"/>
          </a:xfrm>
          <a:prstGeom prst="rect">
            <a:avLst/>
          </a:prstGeom>
          <a:noFill/>
        </p:spPr>
        <p:txBody>
          <a:bodyPr wrap="square" lIns="0" tIns="0" rIns="0" bIns="0" anchor="t">
            <a:spAutoFit/>
          </a:bodyPr>
          <a:lstStyle/>
          <a:p>
            <a:pPr algn="l">
              <a:lnSpc>
                <a:spcPct val="115000"/>
              </a:lnSpc>
            </a:pPr>
            <a:r>
              <a:rPr sz="1000" b="1">
                <a:solidFill>
                  <a:srgbClr val="F59E0B"/>
                </a:solidFill>
                <a:latin typeface="Calibri"/>
              </a:rPr>
              <a:t>ACCURACY</a:t>
            </a:r>
          </a:p>
        </p:txBody>
      </p:sp>
      <p:sp>
        <p:nvSpPr>
          <p:cNvPr id="12" name="TextBox 11"/>
          <p:cNvSpPr txBox="1"/>
          <p:nvPr/>
        </p:nvSpPr>
        <p:spPr>
          <a:xfrm>
            <a:off x="6217920" y="2468880"/>
            <a:ext cx="2377440" cy="640080"/>
          </a:xfrm>
          <a:prstGeom prst="rect">
            <a:avLst/>
          </a:prstGeom>
          <a:noFill/>
        </p:spPr>
        <p:txBody>
          <a:bodyPr wrap="square" lIns="0" tIns="0" rIns="0" bIns="0" anchor="t">
            <a:spAutoFit/>
          </a:bodyPr>
          <a:lstStyle/>
          <a:p>
            <a:pPr algn="l">
              <a:lnSpc>
                <a:spcPct val="115000"/>
              </a:lnSpc>
            </a:pPr>
            <a:r>
              <a:rPr sz="2400" b="1">
                <a:solidFill>
                  <a:srgbClr val="1E293B"/>
                </a:solidFill>
                <a:latin typeface="Calibri"/>
              </a:rPr>
              <a:t>74.36%</a:t>
            </a:r>
          </a:p>
        </p:txBody>
      </p:sp>
      <p:sp>
        <p:nvSpPr>
          <p:cNvPr id="13" name="Rectangle 12"/>
          <p:cNvSpPr/>
          <p:nvPr/>
        </p:nvSpPr>
        <p:spPr>
          <a:xfrm>
            <a:off x="8869680" y="2011680"/>
            <a:ext cx="2743200" cy="1280160"/>
          </a:xfrm>
          <a:prstGeom prst="rect">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869680" y="2011680"/>
            <a:ext cx="73152" cy="128016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44000" y="2148840"/>
            <a:ext cx="2377440" cy="274320"/>
          </a:xfrm>
          <a:prstGeom prst="rect">
            <a:avLst/>
          </a:prstGeom>
          <a:noFill/>
        </p:spPr>
        <p:txBody>
          <a:bodyPr wrap="square" lIns="0" tIns="0" rIns="0" bIns="0" anchor="t">
            <a:spAutoFit/>
          </a:bodyPr>
          <a:lstStyle/>
          <a:p>
            <a:pPr algn="l">
              <a:lnSpc>
                <a:spcPct val="115000"/>
              </a:lnSpc>
            </a:pPr>
            <a:r>
              <a:rPr sz="1000" b="1">
                <a:solidFill>
                  <a:srgbClr val="F59E0B"/>
                </a:solidFill>
                <a:latin typeface="Calibri"/>
              </a:rPr>
              <a:t>F1 SCORE</a:t>
            </a:r>
          </a:p>
        </p:txBody>
      </p:sp>
      <p:sp>
        <p:nvSpPr>
          <p:cNvPr id="16" name="TextBox 15"/>
          <p:cNvSpPr txBox="1"/>
          <p:nvPr/>
        </p:nvSpPr>
        <p:spPr>
          <a:xfrm>
            <a:off x="9144000" y="2468880"/>
            <a:ext cx="2377440" cy="640080"/>
          </a:xfrm>
          <a:prstGeom prst="rect">
            <a:avLst/>
          </a:prstGeom>
          <a:noFill/>
        </p:spPr>
        <p:txBody>
          <a:bodyPr wrap="square" lIns="0" tIns="0" rIns="0" bIns="0" anchor="t">
            <a:spAutoFit/>
          </a:bodyPr>
          <a:lstStyle/>
          <a:p>
            <a:pPr algn="l">
              <a:lnSpc>
                <a:spcPct val="115000"/>
              </a:lnSpc>
            </a:pPr>
            <a:r>
              <a:rPr sz="2400" b="1">
                <a:solidFill>
                  <a:srgbClr val="1E293B"/>
                </a:solidFill>
                <a:latin typeface="Calibri"/>
              </a:rPr>
              <a:t>0.759</a:t>
            </a:r>
          </a:p>
        </p:txBody>
      </p:sp>
      <p:sp>
        <p:nvSpPr>
          <p:cNvPr id="17" name="Rectangle 16"/>
          <p:cNvSpPr/>
          <p:nvPr/>
        </p:nvSpPr>
        <p:spPr>
          <a:xfrm>
            <a:off x="5943600" y="3474720"/>
            <a:ext cx="2743200" cy="1280160"/>
          </a:xfrm>
          <a:prstGeom prst="rect">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943600" y="3474720"/>
            <a:ext cx="73152" cy="128016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217920" y="3611880"/>
            <a:ext cx="2377440" cy="274320"/>
          </a:xfrm>
          <a:prstGeom prst="rect">
            <a:avLst/>
          </a:prstGeom>
          <a:noFill/>
        </p:spPr>
        <p:txBody>
          <a:bodyPr wrap="square" lIns="0" tIns="0" rIns="0" bIns="0" anchor="t">
            <a:spAutoFit/>
          </a:bodyPr>
          <a:lstStyle/>
          <a:p>
            <a:pPr algn="l">
              <a:lnSpc>
                <a:spcPct val="115000"/>
              </a:lnSpc>
            </a:pPr>
            <a:r>
              <a:rPr sz="1000" b="1">
                <a:solidFill>
                  <a:srgbClr val="F59E0B"/>
                </a:solidFill>
                <a:latin typeface="Calibri"/>
              </a:rPr>
              <a:t>PRECISION</a:t>
            </a:r>
          </a:p>
        </p:txBody>
      </p:sp>
      <p:sp>
        <p:nvSpPr>
          <p:cNvPr id="20" name="TextBox 19"/>
          <p:cNvSpPr txBox="1"/>
          <p:nvPr/>
        </p:nvSpPr>
        <p:spPr>
          <a:xfrm>
            <a:off x="6217920" y="3931920"/>
            <a:ext cx="2377440" cy="640080"/>
          </a:xfrm>
          <a:prstGeom prst="rect">
            <a:avLst/>
          </a:prstGeom>
          <a:noFill/>
        </p:spPr>
        <p:txBody>
          <a:bodyPr wrap="square" lIns="0" tIns="0" rIns="0" bIns="0" anchor="t">
            <a:spAutoFit/>
          </a:bodyPr>
          <a:lstStyle/>
          <a:p>
            <a:pPr algn="l">
              <a:lnSpc>
                <a:spcPct val="115000"/>
              </a:lnSpc>
            </a:pPr>
            <a:r>
              <a:rPr sz="2400" b="1">
                <a:solidFill>
                  <a:srgbClr val="1E293B"/>
                </a:solidFill>
                <a:latin typeface="Calibri"/>
              </a:rPr>
              <a:t>0.727</a:t>
            </a:r>
          </a:p>
        </p:txBody>
      </p:sp>
      <p:sp>
        <p:nvSpPr>
          <p:cNvPr id="21" name="TextBox 20"/>
          <p:cNvSpPr txBox="1"/>
          <p:nvPr/>
        </p:nvSpPr>
        <p:spPr>
          <a:xfrm>
            <a:off x="6217920" y="4434840"/>
            <a:ext cx="2377440" cy="274320"/>
          </a:xfrm>
          <a:prstGeom prst="rect">
            <a:avLst/>
          </a:prstGeom>
          <a:noFill/>
        </p:spPr>
        <p:txBody>
          <a:bodyPr wrap="square" lIns="0" tIns="0" rIns="0" bIns="0" anchor="t">
            <a:spAutoFit/>
          </a:bodyPr>
          <a:lstStyle/>
          <a:p>
            <a:pPr algn="l">
              <a:lnSpc>
                <a:spcPct val="115000"/>
              </a:lnSpc>
            </a:pPr>
            <a:r>
              <a:rPr sz="1000" b="0">
                <a:solidFill>
                  <a:srgbClr val="475569"/>
                </a:solidFill>
                <a:latin typeface="Calibri"/>
              </a:rPr>
              <a:t>Predicted diabetics that were correct</a:t>
            </a:r>
          </a:p>
        </p:txBody>
      </p:sp>
      <p:sp>
        <p:nvSpPr>
          <p:cNvPr id="22" name="Rectangle 21"/>
          <p:cNvSpPr/>
          <p:nvPr/>
        </p:nvSpPr>
        <p:spPr>
          <a:xfrm>
            <a:off x="8869680" y="3474720"/>
            <a:ext cx="2743200" cy="1280160"/>
          </a:xfrm>
          <a:prstGeom prst="rect">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8869680" y="3474720"/>
            <a:ext cx="73152" cy="128016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144000" y="3611880"/>
            <a:ext cx="2377440" cy="274320"/>
          </a:xfrm>
          <a:prstGeom prst="rect">
            <a:avLst/>
          </a:prstGeom>
          <a:noFill/>
        </p:spPr>
        <p:txBody>
          <a:bodyPr wrap="square" lIns="0" tIns="0" rIns="0" bIns="0" anchor="t">
            <a:spAutoFit/>
          </a:bodyPr>
          <a:lstStyle/>
          <a:p>
            <a:pPr algn="l">
              <a:lnSpc>
                <a:spcPct val="115000"/>
              </a:lnSpc>
            </a:pPr>
            <a:r>
              <a:rPr sz="1000" b="1">
                <a:solidFill>
                  <a:srgbClr val="F59E0B"/>
                </a:solidFill>
                <a:latin typeface="Calibri"/>
              </a:rPr>
              <a:t>RECALL</a:t>
            </a:r>
          </a:p>
        </p:txBody>
      </p:sp>
      <p:sp>
        <p:nvSpPr>
          <p:cNvPr id="25" name="TextBox 24"/>
          <p:cNvSpPr txBox="1"/>
          <p:nvPr/>
        </p:nvSpPr>
        <p:spPr>
          <a:xfrm>
            <a:off x="9144000" y="3931920"/>
            <a:ext cx="2377440" cy="640080"/>
          </a:xfrm>
          <a:prstGeom prst="rect">
            <a:avLst/>
          </a:prstGeom>
          <a:noFill/>
        </p:spPr>
        <p:txBody>
          <a:bodyPr wrap="square" lIns="0" tIns="0" rIns="0" bIns="0" anchor="t">
            <a:spAutoFit/>
          </a:bodyPr>
          <a:lstStyle/>
          <a:p>
            <a:pPr algn="l">
              <a:lnSpc>
                <a:spcPct val="115000"/>
              </a:lnSpc>
            </a:pPr>
            <a:r>
              <a:rPr sz="2400" b="1">
                <a:solidFill>
                  <a:srgbClr val="1E293B"/>
                </a:solidFill>
                <a:latin typeface="Calibri"/>
              </a:rPr>
              <a:t>0.794</a:t>
            </a:r>
          </a:p>
        </p:txBody>
      </p:sp>
      <p:sp>
        <p:nvSpPr>
          <p:cNvPr id="26" name="TextBox 25"/>
          <p:cNvSpPr txBox="1"/>
          <p:nvPr/>
        </p:nvSpPr>
        <p:spPr>
          <a:xfrm>
            <a:off x="9144000" y="4434840"/>
            <a:ext cx="2377440" cy="274320"/>
          </a:xfrm>
          <a:prstGeom prst="rect">
            <a:avLst/>
          </a:prstGeom>
          <a:noFill/>
        </p:spPr>
        <p:txBody>
          <a:bodyPr wrap="square" lIns="0" tIns="0" rIns="0" bIns="0" anchor="t">
            <a:spAutoFit/>
          </a:bodyPr>
          <a:lstStyle/>
          <a:p>
            <a:pPr algn="l">
              <a:lnSpc>
                <a:spcPct val="115000"/>
              </a:lnSpc>
            </a:pPr>
            <a:r>
              <a:rPr sz="1000" b="0">
                <a:solidFill>
                  <a:srgbClr val="475569"/>
                </a:solidFill>
                <a:latin typeface="Calibri"/>
              </a:rPr>
              <a:t>Actual diabetics we correctly caught</a:t>
            </a:r>
          </a:p>
        </p:txBody>
      </p:sp>
      <p:sp>
        <p:nvSpPr>
          <p:cNvPr id="27" name="Rectangle 26"/>
          <p:cNvSpPr/>
          <p:nvPr/>
        </p:nvSpPr>
        <p:spPr>
          <a:xfrm>
            <a:off x="5943600" y="4937760"/>
            <a:ext cx="5669280" cy="146304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172200" y="5074920"/>
            <a:ext cx="5303520" cy="274320"/>
          </a:xfrm>
          <a:prstGeom prst="rect">
            <a:avLst/>
          </a:prstGeom>
          <a:noFill/>
        </p:spPr>
        <p:txBody>
          <a:bodyPr wrap="square" lIns="0" tIns="0" rIns="0" bIns="0" anchor="t">
            <a:spAutoFit/>
          </a:bodyPr>
          <a:lstStyle/>
          <a:p>
            <a:pPr algn="l">
              <a:lnSpc>
                <a:spcPct val="115000"/>
              </a:lnSpc>
            </a:pPr>
            <a:r>
              <a:rPr sz="1000" b="1">
                <a:solidFill>
                  <a:srgbClr val="F59E0B"/>
                </a:solidFill>
                <a:latin typeface="Calibri"/>
              </a:rPr>
              <a:t>HYPERPARAMETERS</a:t>
            </a:r>
          </a:p>
        </p:txBody>
      </p:sp>
      <p:sp>
        <p:nvSpPr>
          <p:cNvPr id="29" name="TextBox 28"/>
          <p:cNvSpPr txBox="1"/>
          <p:nvPr/>
        </p:nvSpPr>
        <p:spPr>
          <a:xfrm>
            <a:off x="6172200" y="5440680"/>
            <a:ext cx="5303520" cy="914400"/>
          </a:xfrm>
          <a:prstGeom prst="rect">
            <a:avLst/>
          </a:prstGeom>
          <a:noFill/>
        </p:spPr>
        <p:txBody>
          <a:bodyPr wrap="square" lIns="0" tIns="0" rIns="0" bIns="0" anchor="t">
            <a:spAutoFit/>
          </a:bodyPr>
          <a:lstStyle/>
          <a:p>
            <a:pPr algn="l">
              <a:lnSpc>
                <a:spcPct val="140000"/>
              </a:lnSpc>
            </a:pPr>
            <a:r>
              <a:rPr sz="1200" b="0">
                <a:solidFill>
                  <a:srgbClr val="1E293B"/>
                </a:solidFill>
                <a:latin typeface="Calibri"/>
              </a:rPr>
              <a:t>n_estimators = 200   ·   max_depth = 15   ·   min_samples_leaf = 5</a:t>
            </a:r>
          </a:p>
          <a:p>
            <a:pPr algn="l">
              <a:lnSpc>
                <a:spcPct val="140000"/>
              </a:lnSpc>
            </a:pPr>
            <a:r>
              <a:rPr sz="1200" b="0">
                <a:solidFill>
                  <a:srgbClr val="1E293B"/>
                </a:solidFill>
                <a:latin typeface="Calibri"/>
              </a:rPr>
              <a:t>random_state = 42   ·   n_jobs = -1  (use all CPU cores)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6510528"/>
            <a:ext cx="7315200" cy="274320"/>
          </a:xfrm>
          <a:prstGeom prst="rect">
            <a:avLst/>
          </a:prstGeom>
          <a:noFill/>
        </p:spPr>
        <p:txBody>
          <a:bodyPr wrap="square" lIns="0" tIns="0" rIns="0" bIns="0" anchor="t">
            <a:spAutoFit/>
          </a:bodyPr>
          <a:lstStyle/>
          <a:p>
            <a:pPr algn="l">
              <a:lnSpc>
                <a:spcPct val="115000"/>
              </a:lnSpc>
            </a:pPr>
            <a:r>
              <a:rPr sz="900" b="0">
                <a:solidFill>
                  <a:srgbClr val="94A3B8"/>
                </a:solidFill>
                <a:latin typeface="Calibri"/>
              </a:rPr>
              <a:t>Diabetes Risk Prediction  ·  Intro to Data Science  ·  Sem 2</a:t>
            </a:r>
          </a:p>
        </p:txBody>
      </p:sp>
      <p:sp>
        <p:nvSpPr>
          <p:cNvPr id="4" name="TextBox 3"/>
          <p:cNvSpPr txBox="1"/>
          <p:nvPr/>
        </p:nvSpPr>
        <p:spPr>
          <a:xfrm>
            <a:off x="11094415" y="6510528"/>
            <a:ext cx="822960" cy="274320"/>
          </a:xfrm>
          <a:prstGeom prst="rect">
            <a:avLst/>
          </a:prstGeom>
          <a:noFill/>
        </p:spPr>
        <p:txBody>
          <a:bodyPr wrap="square" lIns="0" tIns="0" rIns="0" bIns="0" anchor="t">
            <a:spAutoFit/>
          </a:bodyPr>
          <a:lstStyle/>
          <a:p>
            <a:pPr algn="r">
              <a:lnSpc>
                <a:spcPct val="115000"/>
              </a:lnSpc>
            </a:pPr>
            <a:r>
              <a:rPr sz="900" b="0">
                <a:solidFill>
                  <a:srgbClr val="94A3B8"/>
                </a:solidFill>
                <a:latin typeface="Calibri"/>
              </a:rPr>
              <a:t>15 / 17</a:t>
            </a:r>
          </a:p>
        </p:txBody>
      </p:sp>
      <p:sp>
        <p:nvSpPr>
          <p:cNvPr id="5" name="TextBox 4"/>
          <p:cNvSpPr txBox="1"/>
          <p:nvPr/>
        </p:nvSpPr>
        <p:spPr>
          <a:xfrm>
            <a:off x="640080" y="502920"/>
            <a:ext cx="10972800" cy="274320"/>
          </a:xfrm>
          <a:prstGeom prst="rect">
            <a:avLst/>
          </a:prstGeom>
          <a:noFill/>
        </p:spPr>
        <p:txBody>
          <a:bodyPr wrap="square" lIns="0" tIns="0" rIns="0" bIns="0" anchor="t">
            <a:spAutoFit/>
          </a:bodyPr>
          <a:lstStyle/>
          <a:p>
            <a:pPr algn="l">
              <a:lnSpc>
                <a:spcPct val="115000"/>
              </a:lnSpc>
            </a:pPr>
            <a:r>
              <a:rPr sz="1000" b="1">
                <a:solidFill>
                  <a:srgbClr val="F59E0B"/>
                </a:solidFill>
                <a:latin typeface="Calibri"/>
              </a:rPr>
              <a:t>13  ·  INSIGHTS</a:t>
            </a:r>
          </a:p>
        </p:txBody>
      </p:sp>
      <p:sp>
        <p:nvSpPr>
          <p:cNvPr id="6" name="TextBox 5"/>
          <p:cNvSpPr txBox="1"/>
          <p:nvPr/>
        </p:nvSpPr>
        <p:spPr>
          <a:xfrm>
            <a:off x="640080" y="822960"/>
            <a:ext cx="10972800" cy="685800"/>
          </a:xfrm>
          <a:prstGeom prst="rect">
            <a:avLst/>
          </a:prstGeom>
          <a:noFill/>
        </p:spPr>
        <p:txBody>
          <a:bodyPr wrap="square" lIns="0" tIns="0" rIns="0" bIns="0" anchor="t">
            <a:spAutoFit/>
          </a:bodyPr>
          <a:lstStyle/>
          <a:p>
            <a:pPr algn="l">
              <a:lnSpc>
                <a:spcPct val="115000"/>
              </a:lnSpc>
            </a:pPr>
            <a:r>
              <a:rPr sz="2800" b="1">
                <a:solidFill>
                  <a:srgbClr val="1E293B"/>
                </a:solidFill>
                <a:latin typeface="Calibri"/>
              </a:rPr>
              <a:t>Top diabetes risk factors</a:t>
            </a:r>
          </a:p>
        </p:txBody>
      </p:sp>
      <p:sp>
        <p:nvSpPr>
          <p:cNvPr id="7" name="Rectangle 6"/>
          <p:cNvSpPr/>
          <p:nvPr/>
        </p:nvSpPr>
        <p:spPr>
          <a:xfrm>
            <a:off x="640080" y="1463040"/>
            <a:ext cx="457200" cy="45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07_feature_importance.png"/>
          <p:cNvPicPr>
            <a:picLocks noChangeAspect="1"/>
          </p:cNvPicPr>
          <p:nvPr/>
        </p:nvPicPr>
        <p:blipFill>
          <a:blip r:embed="rId3"/>
          <a:stretch>
            <a:fillRect/>
          </a:stretch>
        </p:blipFill>
        <p:spPr>
          <a:xfrm>
            <a:off x="365760" y="1737360"/>
            <a:ext cx="6217920" cy="4754880"/>
          </a:xfrm>
          <a:prstGeom prst="rect">
            <a:avLst/>
          </a:prstGeom>
        </p:spPr>
      </p:pic>
      <p:sp>
        <p:nvSpPr>
          <p:cNvPr id="9" name="TextBox 8"/>
          <p:cNvSpPr txBox="1"/>
          <p:nvPr/>
        </p:nvSpPr>
        <p:spPr>
          <a:xfrm>
            <a:off x="6858000" y="1828800"/>
            <a:ext cx="5029200" cy="365760"/>
          </a:xfrm>
          <a:prstGeom prst="rect">
            <a:avLst/>
          </a:prstGeom>
          <a:noFill/>
        </p:spPr>
        <p:txBody>
          <a:bodyPr wrap="square" lIns="0" tIns="0" rIns="0" bIns="0" anchor="t">
            <a:spAutoFit/>
          </a:bodyPr>
          <a:lstStyle/>
          <a:p>
            <a:pPr algn="l">
              <a:lnSpc>
                <a:spcPct val="115000"/>
              </a:lnSpc>
            </a:pPr>
            <a:r>
              <a:rPr sz="1100" b="1">
                <a:solidFill>
                  <a:srgbClr val="F59E0B"/>
                </a:solidFill>
                <a:latin typeface="Calibri"/>
              </a:rPr>
              <a:t>TOP 5 RISK FACTORS LEARNED</a:t>
            </a:r>
          </a:p>
        </p:txBody>
      </p:sp>
      <p:sp>
        <p:nvSpPr>
          <p:cNvPr id="10" name="TextBox 9"/>
          <p:cNvSpPr txBox="1"/>
          <p:nvPr/>
        </p:nvSpPr>
        <p:spPr>
          <a:xfrm>
            <a:off x="6858000" y="2331720"/>
            <a:ext cx="548640" cy="502920"/>
          </a:xfrm>
          <a:prstGeom prst="rect">
            <a:avLst/>
          </a:prstGeom>
          <a:noFill/>
        </p:spPr>
        <p:txBody>
          <a:bodyPr wrap="square" lIns="0" tIns="0" rIns="0" bIns="0" anchor="t">
            <a:spAutoFit/>
          </a:bodyPr>
          <a:lstStyle/>
          <a:p>
            <a:pPr algn="l">
              <a:lnSpc>
                <a:spcPct val="115000"/>
              </a:lnSpc>
            </a:pPr>
            <a:r>
              <a:rPr sz="2200" b="1">
                <a:solidFill>
                  <a:srgbClr val="0F766E"/>
                </a:solidFill>
                <a:latin typeface="Calibri"/>
              </a:rPr>
              <a:t>1.</a:t>
            </a:r>
          </a:p>
        </p:txBody>
      </p:sp>
      <p:sp>
        <p:nvSpPr>
          <p:cNvPr id="11" name="TextBox 10"/>
          <p:cNvSpPr txBox="1"/>
          <p:nvPr/>
        </p:nvSpPr>
        <p:spPr>
          <a:xfrm>
            <a:off x="7498079" y="2377440"/>
            <a:ext cx="3200400" cy="411480"/>
          </a:xfrm>
          <a:prstGeom prst="rect">
            <a:avLst/>
          </a:prstGeom>
          <a:noFill/>
        </p:spPr>
        <p:txBody>
          <a:bodyPr wrap="square" lIns="0" tIns="0" rIns="0" bIns="0" anchor="t">
            <a:spAutoFit/>
          </a:bodyPr>
          <a:lstStyle/>
          <a:p>
            <a:pPr algn="l">
              <a:lnSpc>
                <a:spcPct val="115000"/>
              </a:lnSpc>
            </a:pPr>
            <a:r>
              <a:rPr sz="1400" b="1">
                <a:solidFill>
                  <a:srgbClr val="1E293B"/>
                </a:solidFill>
                <a:latin typeface="Calibri"/>
              </a:rPr>
              <a:t>GenHlth</a:t>
            </a:r>
          </a:p>
        </p:txBody>
      </p:sp>
      <p:sp>
        <p:nvSpPr>
          <p:cNvPr id="12" name="TextBox 11"/>
          <p:cNvSpPr txBox="1"/>
          <p:nvPr/>
        </p:nvSpPr>
        <p:spPr>
          <a:xfrm>
            <a:off x="7498079" y="2697480"/>
            <a:ext cx="4114800" cy="274320"/>
          </a:xfrm>
          <a:prstGeom prst="rect">
            <a:avLst/>
          </a:prstGeom>
          <a:noFill/>
        </p:spPr>
        <p:txBody>
          <a:bodyPr wrap="square" lIns="0" tIns="0" rIns="0" bIns="0" anchor="t">
            <a:spAutoFit/>
          </a:bodyPr>
          <a:lstStyle/>
          <a:p>
            <a:pPr algn="l">
              <a:lnSpc>
                <a:spcPct val="115000"/>
              </a:lnSpc>
            </a:pPr>
            <a:r>
              <a:rPr sz="1100" b="0">
                <a:solidFill>
                  <a:srgbClr val="475569"/>
                </a:solidFill>
                <a:latin typeface="Calibri"/>
              </a:rPr>
              <a:t>importance = 0.191</a:t>
            </a:r>
          </a:p>
        </p:txBody>
      </p:sp>
      <p:sp>
        <p:nvSpPr>
          <p:cNvPr id="13" name="TextBox 12"/>
          <p:cNvSpPr txBox="1"/>
          <p:nvPr/>
        </p:nvSpPr>
        <p:spPr>
          <a:xfrm>
            <a:off x="6858000" y="3108960"/>
            <a:ext cx="548640" cy="502920"/>
          </a:xfrm>
          <a:prstGeom prst="rect">
            <a:avLst/>
          </a:prstGeom>
          <a:noFill/>
        </p:spPr>
        <p:txBody>
          <a:bodyPr wrap="square" lIns="0" tIns="0" rIns="0" bIns="0" anchor="t">
            <a:spAutoFit/>
          </a:bodyPr>
          <a:lstStyle/>
          <a:p>
            <a:pPr algn="l">
              <a:lnSpc>
                <a:spcPct val="115000"/>
              </a:lnSpc>
            </a:pPr>
            <a:r>
              <a:rPr sz="2200" b="1">
                <a:solidFill>
                  <a:srgbClr val="0F766E"/>
                </a:solidFill>
                <a:latin typeface="Calibri"/>
              </a:rPr>
              <a:t>2.</a:t>
            </a:r>
          </a:p>
        </p:txBody>
      </p:sp>
      <p:sp>
        <p:nvSpPr>
          <p:cNvPr id="14" name="TextBox 13"/>
          <p:cNvSpPr txBox="1"/>
          <p:nvPr/>
        </p:nvSpPr>
        <p:spPr>
          <a:xfrm>
            <a:off x="7498079" y="3154680"/>
            <a:ext cx="3200400" cy="411480"/>
          </a:xfrm>
          <a:prstGeom prst="rect">
            <a:avLst/>
          </a:prstGeom>
          <a:noFill/>
        </p:spPr>
        <p:txBody>
          <a:bodyPr wrap="square" lIns="0" tIns="0" rIns="0" bIns="0" anchor="t">
            <a:spAutoFit/>
          </a:bodyPr>
          <a:lstStyle/>
          <a:p>
            <a:pPr algn="l">
              <a:lnSpc>
                <a:spcPct val="115000"/>
              </a:lnSpc>
            </a:pPr>
            <a:r>
              <a:rPr sz="1400" b="1">
                <a:solidFill>
                  <a:srgbClr val="1E293B"/>
                </a:solidFill>
                <a:latin typeface="Calibri"/>
              </a:rPr>
              <a:t>HighBP</a:t>
            </a:r>
          </a:p>
        </p:txBody>
      </p:sp>
      <p:sp>
        <p:nvSpPr>
          <p:cNvPr id="15" name="TextBox 14"/>
          <p:cNvSpPr txBox="1"/>
          <p:nvPr/>
        </p:nvSpPr>
        <p:spPr>
          <a:xfrm>
            <a:off x="7498079" y="3474720"/>
            <a:ext cx="4114800" cy="274320"/>
          </a:xfrm>
          <a:prstGeom prst="rect">
            <a:avLst/>
          </a:prstGeom>
          <a:noFill/>
        </p:spPr>
        <p:txBody>
          <a:bodyPr wrap="square" lIns="0" tIns="0" rIns="0" bIns="0" anchor="t">
            <a:spAutoFit/>
          </a:bodyPr>
          <a:lstStyle/>
          <a:p>
            <a:pPr algn="l">
              <a:lnSpc>
                <a:spcPct val="115000"/>
              </a:lnSpc>
            </a:pPr>
            <a:r>
              <a:rPr sz="1100" b="0">
                <a:solidFill>
                  <a:srgbClr val="475569"/>
                </a:solidFill>
                <a:latin typeface="Calibri"/>
              </a:rPr>
              <a:t>importance = 0.166</a:t>
            </a:r>
          </a:p>
        </p:txBody>
      </p:sp>
      <p:sp>
        <p:nvSpPr>
          <p:cNvPr id="16" name="TextBox 15"/>
          <p:cNvSpPr txBox="1"/>
          <p:nvPr/>
        </p:nvSpPr>
        <p:spPr>
          <a:xfrm>
            <a:off x="6858000" y="3886200"/>
            <a:ext cx="548640" cy="502920"/>
          </a:xfrm>
          <a:prstGeom prst="rect">
            <a:avLst/>
          </a:prstGeom>
          <a:noFill/>
        </p:spPr>
        <p:txBody>
          <a:bodyPr wrap="square" lIns="0" tIns="0" rIns="0" bIns="0" anchor="t">
            <a:spAutoFit/>
          </a:bodyPr>
          <a:lstStyle/>
          <a:p>
            <a:pPr algn="l">
              <a:lnSpc>
                <a:spcPct val="115000"/>
              </a:lnSpc>
            </a:pPr>
            <a:r>
              <a:rPr sz="2200" b="1">
                <a:solidFill>
                  <a:srgbClr val="0F766E"/>
                </a:solidFill>
                <a:latin typeface="Calibri"/>
              </a:rPr>
              <a:t>3.</a:t>
            </a:r>
          </a:p>
        </p:txBody>
      </p:sp>
      <p:sp>
        <p:nvSpPr>
          <p:cNvPr id="17" name="TextBox 16"/>
          <p:cNvSpPr txBox="1"/>
          <p:nvPr/>
        </p:nvSpPr>
        <p:spPr>
          <a:xfrm>
            <a:off x="7498079" y="3931920"/>
            <a:ext cx="3200400" cy="411480"/>
          </a:xfrm>
          <a:prstGeom prst="rect">
            <a:avLst/>
          </a:prstGeom>
          <a:noFill/>
        </p:spPr>
        <p:txBody>
          <a:bodyPr wrap="square" lIns="0" tIns="0" rIns="0" bIns="0" anchor="t">
            <a:spAutoFit/>
          </a:bodyPr>
          <a:lstStyle/>
          <a:p>
            <a:pPr algn="l">
              <a:lnSpc>
                <a:spcPct val="115000"/>
              </a:lnSpc>
            </a:pPr>
            <a:r>
              <a:rPr sz="1400" b="1">
                <a:solidFill>
                  <a:srgbClr val="1E293B"/>
                </a:solidFill>
                <a:latin typeface="Calibri"/>
              </a:rPr>
              <a:t>BMI</a:t>
            </a:r>
          </a:p>
        </p:txBody>
      </p:sp>
      <p:sp>
        <p:nvSpPr>
          <p:cNvPr id="18" name="TextBox 17"/>
          <p:cNvSpPr txBox="1"/>
          <p:nvPr/>
        </p:nvSpPr>
        <p:spPr>
          <a:xfrm>
            <a:off x="7498079" y="4251960"/>
            <a:ext cx="4114800" cy="274320"/>
          </a:xfrm>
          <a:prstGeom prst="rect">
            <a:avLst/>
          </a:prstGeom>
          <a:noFill/>
        </p:spPr>
        <p:txBody>
          <a:bodyPr wrap="square" lIns="0" tIns="0" rIns="0" bIns="0" anchor="t">
            <a:spAutoFit/>
          </a:bodyPr>
          <a:lstStyle/>
          <a:p>
            <a:pPr algn="l">
              <a:lnSpc>
                <a:spcPct val="115000"/>
              </a:lnSpc>
            </a:pPr>
            <a:r>
              <a:rPr sz="1100" b="0">
                <a:solidFill>
                  <a:srgbClr val="475569"/>
                </a:solidFill>
                <a:latin typeface="Calibri"/>
              </a:rPr>
              <a:t>importance = 0.149</a:t>
            </a:r>
          </a:p>
        </p:txBody>
      </p:sp>
      <p:sp>
        <p:nvSpPr>
          <p:cNvPr id="19" name="TextBox 18"/>
          <p:cNvSpPr txBox="1"/>
          <p:nvPr/>
        </p:nvSpPr>
        <p:spPr>
          <a:xfrm>
            <a:off x="6858000" y="4663440"/>
            <a:ext cx="548640" cy="502920"/>
          </a:xfrm>
          <a:prstGeom prst="rect">
            <a:avLst/>
          </a:prstGeom>
          <a:noFill/>
        </p:spPr>
        <p:txBody>
          <a:bodyPr wrap="square" lIns="0" tIns="0" rIns="0" bIns="0" anchor="t">
            <a:spAutoFit/>
          </a:bodyPr>
          <a:lstStyle/>
          <a:p>
            <a:pPr algn="l">
              <a:lnSpc>
                <a:spcPct val="115000"/>
              </a:lnSpc>
            </a:pPr>
            <a:r>
              <a:rPr sz="2200" b="1">
                <a:solidFill>
                  <a:srgbClr val="0F766E"/>
                </a:solidFill>
                <a:latin typeface="Calibri"/>
              </a:rPr>
              <a:t>4.</a:t>
            </a:r>
          </a:p>
        </p:txBody>
      </p:sp>
      <p:sp>
        <p:nvSpPr>
          <p:cNvPr id="20" name="TextBox 19"/>
          <p:cNvSpPr txBox="1"/>
          <p:nvPr/>
        </p:nvSpPr>
        <p:spPr>
          <a:xfrm>
            <a:off x="7498079" y="4709160"/>
            <a:ext cx="3200400" cy="411480"/>
          </a:xfrm>
          <a:prstGeom prst="rect">
            <a:avLst/>
          </a:prstGeom>
          <a:noFill/>
        </p:spPr>
        <p:txBody>
          <a:bodyPr wrap="square" lIns="0" tIns="0" rIns="0" bIns="0" anchor="t">
            <a:spAutoFit/>
          </a:bodyPr>
          <a:lstStyle/>
          <a:p>
            <a:pPr algn="l">
              <a:lnSpc>
                <a:spcPct val="115000"/>
              </a:lnSpc>
            </a:pPr>
            <a:r>
              <a:rPr sz="1400" b="1">
                <a:solidFill>
                  <a:srgbClr val="1E293B"/>
                </a:solidFill>
                <a:latin typeface="Calibri"/>
              </a:rPr>
              <a:t>Age</a:t>
            </a:r>
          </a:p>
        </p:txBody>
      </p:sp>
      <p:sp>
        <p:nvSpPr>
          <p:cNvPr id="21" name="TextBox 20"/>
          <p:cNvSpPr txBox="1"/>
          <p:nvPr/>
        </p:nvSpPr>
        <p:spPr>
          <a:xfrm>
            <a:off x="7498079" y="5029200"/>
            <a:ext cx="4114800" cy="274320"/>
          </a:xfrm>
          <a:prstGeom prst="rect">
            <a:avLst/>
          </a:prstGeom>
          <a:noFill/>
        </p:spPr>
        <p:txBody>
          <a:bodyPr wrap="square" lIns="0" tIns="0" rIns="0" bIns="0" anchor="t">
            <a:spAutoFit/>
          </a:bodyPr>
          <a:lstStyle/>
          <a:p>
            <a:pPr algn="l">
              <a:lnSpc>
                <a:spcPct val="115000"/>
              </a:lnSpc>
            </a:pPr>
            <a:r>
              <a:rPr sz="1100" b="0">
                <a:solidFill>
                  <a:srgbClr val="475569"/>
                </a:solidFill>
                <a:latin typeface="Calibri"/>
              </a:rPr>
              <a:t>importance = 0.110</a:t>
            </a:r>
          </a:p>
        </p:txBody>
      </p:sp>
      <p:sp>
        <p:nvSpPr>
          <p:cNvPr id="22" name="TextBox 21"/>
          <p:cNvSpPr txBox="1"/>
          <p:nvPr/>
        </p:nvSpPr>
        <p:spPr>
          <a:xfrm>
            <a:off x="6858000" y="5440680"/>
            <a:ext cx="548640" cy="502920"/>
          </a:xfrm>
          <a:prstGeom prst="rect">
            <a:avLst/>
          </a:prstGeom>
          <a:noFill/>
        </p:spPr>
        <p:txBody>
          <a:bodyPr wrap="square" lIns="0" tIns="0" rIns="0" bIns="0" anchor="t">
            <a:spAutoFit/>
          </a:bodyPr>
          <a:lstStyle/>
          <a:p>
            <a:pPr algn="l">
              <a:lnSpc>
                <a:spcPct val="115000"/>
              </a:lnSpc>
            </a:pPr>
            <a:r>
              <a:rPr sz="2200" b="1">
                <a:solidFill>
                  <a:srgbClr val="0F766E"/>
                </a:solidFill>
                <a:latin typeface="Calibri"/>
              </a:rPr>
              <a:t>5.</a:t>
            </a:r>
          </a:p>
        </p:txBody>
      </p:sp>
      <p:sp>
        <p:nvSpPr>
          <p:cNvPr id="23" name="TextBox 22"/>
          <p:cNvSpPr txBox="1"/>
          <p:nvPr/>
        </p:nvSpPr>
        <p:spPr>
          <a:xfrm>
            <a:off x="7498079" y="5486400"/>
            <a:ext cx="3200400" cy="411480"/>
          </a:xfrm>
          <a:prstGeom prst="rect">
            <a:avLst/>
          </a:prstGeom>
          <a:noFill/>
        </p:spPr>
        <p:txBody>
          <a:bodyPr wrap="square" lIns="0" tIns="0" rIns="0" bIns="0" anchor="t">
            <a:spAutoFit/>
          </a:bodyPr>
          <a:lstStyle/>
          <a:p>
            <a:pPr algn="l">
              <a:lnSpc>
                <a:spcPct val="115000"/>
              </a:lnSpc>
            </a:pPr>
            <a:r>
              <a:rPr sz="1400" b="1">
                <a:solidFill>
                  <a:srgbClr val="1E293B"/>
                </a:solidFill>
                <a:latin typeface="Calibri"/>
              </a:rPr>
              <a:t>HighChol</a:t>
            </a:r>
          </a:p>
        </p:txBody>
      </p:sp>
      <p:sp>
        <p:nvSpPr>
          <p:cNvPr id="24" name="TextBox 23"/>
          <p:cNvSpPr txBox="1"/>
          <p:nvPr/>
        </p:nvSpPr>
        <p:spPr>
          <a:xfrm>
            <a:off x="7498079" y="5806440"/>
            <a:ext cx="4114800" cy="274320"/>
          </a:xfrm>
          <a:prstGeom prst="rect">
            <a:avLst/>
          </a:prstGeom>
          <a:noFill/>
        </p:spPr>
        <p:txBody>
          <a:bodyPr wrap="square" lIns="0" tIns="0" rIns="0" bIns="0" anchor="t">
            <a:spAutoFit/>
          </a:bodyPr>
          <a:lstStyle/>
          <a:p>
            <a:pPr algn="l">
              <a:lnSpc>
                <a:spcPct val="115000"/>
              </a:lnSpc>
            </a:pPr>
            <a:r>
              <a:rPr sz="1100" b="0">
                <a:solidFill>
                  <a:srgbClr val="475569"/>
                </a:solidFill>
                <a:latin typeface="Calibri"/>
              </a:rPr>
              <a:t>importance = 0.079</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6510528"/>
            <a:ext cx="7315200" cy="274320"/>
          </a:xfrm>
          <a:prstGeom prst="rect">
            <a:avLst/>
          </a:prstGeom>
          <a:noFill/>
        </p:spPr>
        <p:txBody>
          <a:bodyPr wrap="square" lIns="0" tIns="0" rIns="0" bIns="0" anchor="t">
            <a:spAutoFit/>
          </a:bodyPr>
          <a:lstStyle/>
          <a:p>
            <a:pPr algn="l">
              <a:lnSpc>
                <a:spcPct val="115000"/>
              </a:lnSpc>
            </a:pPr>
            <a:r>
              <a:rPr sz="900" b="0">
                <a:solidFill>
                  <a:srgbClr val="94A3B8"/>
                </a:solidFill>
                <a:latin typeface="Calibri"/>
              </a:rPr>
              <a:t>Diabetes Risk Prediction  ·  Intro to Data Science  ·  Sem 2</a:t>
            </a:r>
          </a:p>
        </p:txBody>
      </p:sp>
      <p:sp>
        <p:nvSpPr>
          <p:cNvPr id="4" name="TextBox 3"/>
          <p:cNvSpPr txBox="1"/>
          <p:nvPr/>
        </p:nvSpPr>
        <p:spPr>
          <a:xfrm>
            <a:off x="11094415" y="6510528"/>
            <a:ext cx="822960" cy="274320"/>
          </a:xfrm>
          <a:prstGeom prst="rect">
            <a:avLst/>
          </a:prstGeom>
          <a:noFill/>
        </p:spPr>
        <p:txBody>
          <a:bodyPr wrap="square" lIns="0" tIns="0" rIns="0" bIns="0" anchor="t">
            <a:spAutoFit/>
          </a:bodyPr>
          <a:lstStyle/>
          <a:p>
            <a:pPr algn="r">
              <a:lnSpc>
                <a:spcPct val="115000"/>
              </a:lnSpc>
            </a:pPr>
            <a:r>
              <a:rPr sz="900" b="0">
                <a:solidFill>
                  <a:srgbClr val="94A3B8"/>
                </a:solidFill>
                <a:latin typeface="Calibri"/>
              </a:rPr>
              <a:t>16 / 17</a:t>
            </a:r>
          </a:p>
        </p:txBody>
      </p:sp>
      <p:sp>
        <p:nvSpPr>
          <p:cNvPr id="5" name="TextBox 4"/>
          <p:cNvSpPr txBox="1"/>
          <p:nvPr/>
        </p:nvSpPr>
        <p:spPr>
          <a:xfrm>
            <a:off x="640080" y="502920"/>
            <a:ext cx="10972800" cy="274320"/>
          </a:xfrm>
          <a:prstGeom prst="rect">
            <a:avLst/>
          </a:prstGeom>
          <a:noFill/>
        </p:spPr>
        <p:txBody>
          <a:bodyPr wrap="square" lIns="0" tIns="0" rIns="0" bIns="0" anchor="t">
            <a:spAutoFit/>
          </a:bodyPr>
          <a:lstStyle/>
          <a:p>
            <a:pPr algn="l">
              <a:lnSpc>
                <a:spcPct val="115000"/>
              </a:lnSpc>
            </a:pPr>
            <a:r>
              <a:rPr sz="1000" b="1">
                <a:solidFill>
                  <a:srgbClr val="F59E0B"/>
                </a:solidFill>
                <a:latin typeface="Calibri"/>
              </a:rPr>
              <a:t>14  ·  DEPLOYMENT</a:t>
            </a:r>
          </a:p>
        </p:txBody>
      </p:sp>
      <p:sp>
        <p:nvSpPr>
          <p:cNvPr id="6" name="TextBox 5"/>
          <p:cNvSpPr txBox="1"/>
          <p:nvPr/>
        </p:nvSpPr>
        <p:spPr>
          <a:xfrm>
            <a:off x="640080" y="822960"/>
            <a:ext cx="10972800" cy="685800"/>
          </a:xfrm>
          <a:prstGeom prst="rect">
            <a:avLst/>
          </a:prstGeom>
          <a:noFill/>
        </p:spPr>
        <p:txBody>
          <a:bodyPr wrap="square" lIns="0" tIns="0" rIns="0" bIns="0" anchor="t">
            <a:spAutoFit/>
          </a:bodyPr>
          <a:lstStyle/>
          <a:p>
            <a:pPr algn="l">
              <a:lnSpc>
                <a:spcPct val="115000"/>
              </a:lnSpc>
            </a:pPr>
            <a:r>
              <a:rPr sz="2800" b="1">
                <a:solidFill>
                  <a:srgbClr val="1E293B"/>
                </a:solidFill>
                <a:latin typeface="Calibri"/>
              </a:rPr>
              <a:t>Streamlit web application</a:t>
            </a:r>
          </a:p>
        </p:txBody>
      </p:sp>
      <p:sp>
        <p:nvSpPr>
          <p:cNvPr id="7" name="Rectangle 6"/>
          <p:cNvSpPr/>
          <p:nvPr/>
        </p:nvSpPr>
        <p:spPr>
          <a:xfrm>
            <a:off x="640080" y="1463040"/>
            <a:ext cx="457200" cy="45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2011680"/>
            <a:ext cx="5943600" cy="2771593"/>
          </a:xfrm>
          <a:prstGeom prst="rect">
            <a:avLst/>
          </a:prstGeom>
          <a:noFill/>
        </p:spPr>
        <p:txBody>
          <a:bodyPr wrap="square" lIns="0" tIns="0" rIns="0" bIns="0">
            <a:spAutoFit/>
          </a:bodyPr>
          <a:lstStyle/>
          <a:p>
            <a:pPr algn="l">
              <a:lnSpc>
                <a:spcPct val="145000"/>
              </a:lnSpc>
              <a:spcAft>
                <a:spcPts val="800"/>
              </a:spcAft>
            </a:pPr>
            <a:r>
              <a:rPr sz="1400" b="1" dirty="0">
                <a:solidFill>
                  <a:srgbClr val="F59E0B"/>
                </a:solidFill>
                <a:latin typeface="Calibri"/>
              </a:rPr>
              <a:t>■  </a:t>
            </a:r>
            <a:r>
              <a:rPr sz="1400" dirty="0">
                <a:solidFill>
                  <a:srgbClr val="475569"/>
                </a:solidFill>
                <a:latin typeface="Calibri"/>
              </a:rPr>
              <a:t>Interactive form built with </a:t>
            </a:r>
            <a:r>
              <a:rPr sz="1400" dirty="0" err="1">
                <a:solidFill>
                  <a:srgbClr val="475569"/>
                </a:solidFill>
                <a:latin typeface="Calibri"/>
              </a:rPr>
              <a:t>Streamlit</a:t>
            </a:r>
            <a:r>
              <a:rPr sz="1400" dirty="0">
                <a:solidFill>
                  <a:srgbClr val="475569"/>
                </a:solidFill>
                <a:latin typeface="Calibri"/>
              </a:rPr>
              <a:t> (Python web framework).</a:t>
            </a:r>
          </a:p>
          <a:p>
            <a:pPr algn="l">
              <a:lnSpc>
                <a:spcPct val="145000"/>
              </a:lnSpc>
              <a:spcAft>
                <a:spcPts val="800"/>
              </a:spcAft>
            </a:pPr>
            <a:r>
              <a:rPr sz="1400" b="1" dirty="0">
                <a:solidFill>
                  <a:srgbClr val="F59E0B"/>
                </a:solidFill>
                <a:latin typeface="Calibri"/>
              </a:rPr>
              <a:t>■  </a:t>
            </a:r>
            <a:r>
              <a:rPr sz="1400" dirty="0">
                <a:solidFill>
                  <a:srgbClr val="475569"/>
                </a:solidFill>
                <a:latin typeface="Calibri"/>
              </a:rPr>
              <a:t>User enters 21 health indicators in plain English.</a:t>
            </a:r>
          </a:p>
          <a:p>
            <a:pPr algn="l">
              <a:lnSpc>
                <a:spcPct val="145000"/>
              </a:lnSpc>
              <a:spcAft>
                <a:spcPts val="800"/>
              </a:spcAft>
            </a:pPr>
            <a:r>
              <a:rPr sz="1400" b="1" dirty="0">
                <a:solidFill>
                  <a:srgbClr val="F59E0B"/>
                </a:solidFill>
                <a:latin typeface="Calibri"/>
              </a:rPr>
              <a:t>■  </a:t>
            </a:r>
            <a:r>
              <a:rPr sz="1400" dirty="0">
                <a:solidFill>
                  <a:srgbClr val="475569"/>
                </a:solidFill>
                <a:latin typeface="Calibri"/>
              </a:rPr>
              <a:t>Trained model loaded once and cached for speed.</a:t>
            </a:r>
          </a:p>
          <a:p>
            <a:pPr algn="l">
              <a:lnSpc>
                <a:spcPct val="145000"/>
              </a:lnSpc>
              <a:spcAft>
                <a:spcPts val="800"/>
              </a:spcAft>
            </a:pPr>
            <a:r>
              <a:rPr sz="1400" b="1" dirty="0">
                <a:solidFill>
                  <a:srgbClr val="F59E0B"/>
                </a:solidFill>
                <a:latin typeface="Calibri"/>
              </a:rPr>
              <a:t>■  </a:t>
            </a:r>
            <a:r>
              <a:rPr sz="1400" dirty="0">
                <a:solidFill>
                  <a:srgbClr val="475569"/>
                </a:solidFill>
                <a:latin typeface="Calibri"/>
              </a:rPr>
              <a:t>Output: risk label + probability + confidence bar.</a:t>
            </a:r>
          </a:p>
          <a:p>
            <a:pPr algn="l">
              <a:lnSpc>
                <a:spcPct val="145000"/>
              </a:lnSpc>
              <a:spcAft>
                <a:spcPts val="800"/>
              </a:spcAft>
            </a:pPr>
            <a:r>
              <a:rPr sz="1400" b="1" dirty="0">
                <a:solidFill>
                  <a:srgbClr val="F59E0B"/>
                </a:solidFill>
                <a:latin typeface="Calibri"/>
              </a:rPr>
              <a:t>■  </a:t>
            </a:r>
            <a:r>
              <a:rPr sz="1400" dirty="0">
                <a:solidFill>
                  <a:srgbClr val="475569"/>
                </a:solidFill>
                <a:latin typeface="Calibri"/>
              </a:rPr>
              <a:t>Code on </a:t>
            </a:r>
            <a:r>
              <a:rPr sz="1400" dirty="0">
                <a:solidFill>
                  <a:srgbClr val="475569"/>
                </a:solidFill>
                <a:latin typeface="Calibri"/>
                <a:hlinkClick r:id="rId3"/>
              </a:rPr>
              <a:t>GitHub</a:t>
            </a:r>
            <a:r>
              <a:rPr sz="1400" dirty="0">
                <a:solidFill>
                  <a:srgbClr val="475569"/>
                </a:solidFill>
                <a:latin typeface="Calibri"/>
              </a:rPr>
              <a:t>  ·  deployed free on </a:t>
            </a:r>
            <a:r>
              <a:rPr sz="1400" dirty="0">
                <a:solidFill>
                  <a:srgbClr val="475569"/>
                </a:solidFill>
                <a:latin typeface="Calibri"/>
                <a:hlinkClick r:id="rId4"/>
              </a:rPr>
              <a:t>Streamlit Cloud</a:t>
            </a:r>
            <a:r>
              <a:rPr sz="1400" dirty="0">
                <a:solidFill>
                  <a:srgbClr val="475569"/>
                </a:solidFill>
                <a:latin typeface="Calibri"/>
              </a:rPr>
              <a:t>.</a:t>
            </a:r>
            <a:endParaRPr lang="en-US" sz="1400" dirty="0">
              <a:solidFill>
                <a:srgbClr val="475569"/>
              </a:solidFill>
              <a:latin typeface="Calibri"/>
            </a:endParaRPr>
          </a:p>
          <a:p>
            <a:pPr algn="l">
              <a:lnSpc>
                <a:spcPct val="145000"/>
              </a:lnSpc>
              <a:spcAft>
                <a:spcPts val="800"/>
              </a:spcAft>
            </a:pPr>
            <a:endParaRPr lang="en-US" sz="1400" dirty="0">
              <a:solidFill>
                <a:srgbClr val="475569"/>
              </a:solidFill>
              <a:latin typeface="Calibri"/>
            </a:endParaRPr>
          </a:p>
          <a:p>
            <a:pPr algn="l">
              <a:lnSpc>
                <a:spcPct val="145000"/>
              </a:lnSpc>
              <a:spcAft>
                <a:spcPts val="800"/>
              </a:spcAft>
            </a:pPr>
            <a:endParaRPr sz="1400" dirty="0">
              <a:solidFill>
                <a:srgbClr val="475569"/>
              </a:solidFill>
              <a:latin typeface="Calibri"/>
            </a:endParaRPr>
          </a:p>
        </p:txBody>
      </p:sp>
      <p:sp>
        <p:nvSpPr>
          <p:cNvPr id="9" name="Rectangle 8"/>
          <p:cNvSpPr/>
          <p:nvPr/>
        </p:nvSpPr>
        <p:spPr>
          <a:xfrm>
            <a:off x="7132320" y="2011680"/>
            <a:ext cx="4480560" cy="4206240"/>
          </a:xfrm>
          <a:prstGeom prst="rect">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132320" y="2011680"/>
            <a:ext cx="4480560" cy="41148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406640" y="2075688"/>
            <a:ext cx="4114800" cy="365760"/>
          </a:xfrm>
          <a:prstGeom prst="rect">
            <a:avLst/>
          </a:prstGeom>
          <a:noFill/>
        </p:spPr>
        <p:txBody>
          <a:bodyPr wrap="square" lIns="0" tIns="0" rIns="0" bIns="0" anchor="t">
            <a:spAutoFit/>
          </a:bodyPr>
          <a:lstStyle/>
          <a:p>
            <a:pPr algn="l">
              <a:lnSpc>
                <a:spcPct val="115000"/>
              </a:lnSpc>
            </a:pPr>
            <a:r>
              <a:rPr sz="1100" b="1" dirty="0">
                <a:solidFill>
                  <a:srgbClr val="FFFFFF"/>
                </a:solidFill>
                <a:latin typeface="Calibri"/>
              </a:rPr>
              <a:t>DIABETES RISK PREDICTION</a:t>
            </a:r>
          </a:p>
        </p:txBody>
      </p:sp>
      <p:sp>
        <p:nvSpPr>
          <p:cNvPr id="12" name="TextBox 11"/>
          <p:cNvSpPr txBox="1"/>
          <p:nvPr/>
        </p:nvSpPr>
        <p:spPr>
          <a:xfrm>
            <a:off x="7406640" y="2651760"/>
            <a:ext cx="1828800" cy="274320"/>
          </a:xfrm>
          <a:prstGeom prst="rect">
            <a:avLst/>
          </a:prstGeom>
          <a:noFill/>
        </p:spPr>
        <p:txBody>
          <a:bodyPr wrap="square" lIns="0" tIns="0" rIns="0" bIns="0" anchor="t">
            <a:spAutoFit/>
          </a:bodyPr>
          <a:lstStyle/>
          <a:p>
            <a:pPr algn="l">
              <a:lnSpc>
                <a:spcPct val="115000"/>
              </a:lnSpc>
            </a:pPr>
            <a:r>
              <a:rPr sz="1000" b="1">
                <a:solidFill>
                  <a:srgbClr val="475569"/>
                </a:solidFill>
                <a:latin typeface="Calibri"/>
              </a:rPr>
              <a:t>BMI</a:t>
            </a:r>
          </a:p>
        </p:txBody>
      </p:sp>
      <p:sp>
        <p:nvSpPr>
          <p:cNvPr id="13" name="Rectangle 12"/>
          <p:cNvSpPr/>
          <p:nvPr/>
        </p:nvSpPr>
        <p:spPr>
          <a:xfrm>
            <a:off x="9326880" y="2670048"/>
            <a:ext cx="1828800" cy="27432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418320" y="2688336"/>
            <a:ext cx="1645920" cy="274320"/>
          </a:xfrm>
          <a:prstGeom prst="rect">
            <a:avLst/>
          </a:prstGeom>
          <a:noFill/>
        </p:spPr>
        <p:txBody>
          <a:bodyPr wrap="square" lIns="0" tIns="0" rIns="0" bIns="0" anchor="t">
            <a:spAutoFit/>
          </a:bodyPr>
          <a:lstStyle/>
          <a:p>
            <a:pPr algn="l">
              <a:lnSpc>
                <a:spcPct val="115000"/>
              </a:lnSpc>
            </a:pPr>
            <a:r>
              <a:rPr sz="1000" b="0">
                <a:solidFill>
                  <a:srgbClr val="1E293B"/>
                </a:solidFill>
                <a:latin typeface="Calibri"/>
              </a:rPr>
              <a:t>27</a:t>
            </a:r>
          </a:p>
        </p:txBody>
      </p:sp>
      <p:sp>
        <p:nvSpPr>
          <p:cNvPr id="15" name="TextBox 14"/>
          <p:cNvSpPr txBox="1"/>
          <p:nvPr/>
        </p:nvSpPr>
        <p:spPr>
          <a:xfrm>
            <a:off x="7406640" y="3017520"/>
            <a:ext cx="1828800" cy="274320"/>
          </a:xfrm>
          <a:prstGeom prst="rect">
            <a:avLst/>
          </a:prstGeom>
          <a:noFill/>
        </p:spPr>
        <p:txBody>
          <a:bodyPr wrap="square" lIns="0" tIns="0" rIns="0" bIns="0" anchor="t">
            <a:spAutoFit/>
          </a:bodyPr>
          <a:lstStyle/>
          <a:p>
            <a:pPr algn="l">
              <a:lnSpc>
                <a:spcPct val="115000"/>
              </a:lnSpc>
            </a:pPr>
            <a:r>
              <a:rPr sz="1000" b="1">
                <a:solidFill>
                  <a:srgbClr val="475569"/>
                </a:solidFill>
                <a:latin typeface="Calibri"/>
              </a:rPr>
              <a:t>High BP</a:t>
            </a:r>
          </a:p>
        </p:txBody>
      </p:sp>
      <p:sp>
        <p:nvSpPr>
          <p:cNvPr id="16" name="Rectangle 15"/>
          <p:cNvSpPr/>
          <p:nvPr/>
        </p:nvSpPr>
        <p:spPr>
          <a:xfrm>
            <a:off x="9326880" y="3035808"/>
            <a:ext cx="1828800" cy="27432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418320" y="3054096"/>
            <a:ext cx="1645920" cy="274320"/>
          </a:xfrm>
          <a:prstGeom prst="rect">
            <a:avLst/>
          </a:prstGeom>
          <a:noFill/>
        </p:spPr>
        <p:txBody>
          <a:bodyPr wrap="square" lIns="0" tIns="0" rIns="0" bIns="0" anchor="t">
            <a:spAutoFit/>
          </a:bodyPr>
          <a:lstStyle/>
          <a:p>
            <a:pPr algn="l">
              <a:lnSpc>
                <a:spcPct val="115000"/>
              </a:lnSpc>
            </a:pPr>
            <a:r>
              <a:rPr sz="1000" b="0" dirty="0">
                <a:solidFill>
                  <a:srgbClr val="1E293B"/>
                </a:solidFill>
                <a:latin typeface="Calibri"/>
              </a:rPr>
              <a:t>Yes</a:t>
            </a:r>
          </a:p>
        </p:txBody>
      </p:sp>
      <p:sp>
        <p:nvSpPr>
          <p:cNvPr id="18" name="TextBox 17"/>
          <p:cNvSpPr txBox="1"/>
          <p:nvPr/>
        </p:nvSpPr>
        <p:spPr>
          <a:xfrm>
            <a:off x="7406640" y="3383280"/>
            <a:ext cx="1828800" cy="274320"/>
          </a:xfrm>
          <a:prstGeom prst="rect">
            <a:avLst/>
          </a:prstGeom>
          <a:noFill/>
        </p:spPr>
        <p:txBody>
          <a:bodyPr wrap="square" lIns="0" tIns="0" rIns="0" bIns="0" anchor="t">
            <a:spAutoFit/>
          </a:bodyPr>
          <a:lstStyle/>
          <a:p>
            <a:pPr algn="l">
              <a:lnSpc>
                <a:spcPct val="115000"/>
              </a:lnSpc>
            </a:pPr>
            <a:r>
              <a:rPr sz="1000" b="1">
                <a:solidFill>
                  <a:srgbClr val="475569"/>
                </a:solidFill>
                <a:latin typeface="Calibri"/>
              </a:rPr>
              <a:t>High Chol</a:t>
            </a:r>
          </a:p>
        </p:txBody>
      </p:sp>
      <p:sp>
        <p:nvSpPr>
          <p:cNvPr id="19" name="Rectangle 18"/>
          <p:cNvSpPr/>
          <p:nvPr/>
        </p:nvSpPr>
        <p:spPr>
          <a:xfrm>
            <a:off x="9326880" y="3401568"/>
            <a:ext cx="1828800" cy="27432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418320" y="3419856"/>
            <a:ext cx="1645920" cy="274320"/>
          </a:xfrm>
          <a:prstGeom prst="rect">
            <a:avLst/>
          </a:prstGeom>
          <a:noFill/>
        </p:spPr>
        <p:txBody>
          <a:bodyPr wrap="square" lIns="0" tIns="0" rIns="0" bIns="0" anchor="t">
            <a:spAutoFit/>
          </a:bodyPr>
          <a:lstStyle/>
          <a:p>
            <a:pPr algn="l">
              <a:lnSpc>
                <a:spcPct val="115000"/>
              </a:lnSpc>
            </a:pPr>
            <a:r>
              <a:rPr sz="1000" b="0">
                <a:solidFill>
                  <a:srgbClr val="1E293B"/>
                </a:solidFill>
                <a:latin typeface="Calibri"/>
              </a:rPr>
              <a:t>No</a:t>
            </a:r>
          </a:p>
        </p:txBody>
      </p:sp>
      <p:sp>
        <p:nvSpPr>
          <p:cNvPr id="21" name="TextBox 20"/>
          <p:cNvSpPr txBox="1"/>
          <p:nvPr/>
        </p:nvSpPr>
        <p:spPr>
          <a:xfrm>
            <a:off x="7406640" y="3749040"/>
            <a:ext cx="1828800" cy="274320"/>
          </a:xfrm>
          <a:prstGeom prst="rect">
            <a:avLst/>
          </a:prstGeom>
          <a:noFill/>
        </p:spPr>
        <p:txBody>
          <a:bodyPr wrap="square" lIns="0" tIns="0" rIns="0" bIns="0" anchor="t">
            <a:spAutoFit/>
          </a:bodyPr>
          <a:lstStyle/>
          <a:p>
            <a:pPr algn="l">
              <a:lnSpc>
                <a:spcPct val="115000"/>
              </a:lnSpc>
            </a:pPr>
            <a:r>
              <a:rPr sz="1000" b="1">
                <a:solidFill>
                  <a:srgbClr val="475569"/>
                </a:solidFill>
                <a:latin typeface="Calibri"/>
              </a:rPr>
              <a:t>General Hlth</a:t>
            </a:r>
          </a:p>
        </p:txBody>
      </p:sp>
      <p:sp>
        <p:nvSpPr>
          <p:cNvPr id="22" name="Rectangle 21"/>
          <p:cNvSpPr/>
          <p:nvPr/>
        </p:nvSpPr>
        <p:spPr>
          <a:xfrm>
            <a:off x="9326880" y="3767328"/>
            <a:ext cx="1828800" cy="27432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418320" y="3785616"/>
            <a:ext cx="1645920" cy="274320"/>
          </a:xfrm>
          <a:prstGeom prst="rect">
            <a:avLst/>
          </a:prstGeom>
          <a:noFill/>
        </p:spPr>
        <p:txBody>
          <a:bodyPr wrap="square" lIns="0" tIns="0" rIns="0" bIns="0" anchor="t">
            <a:spAutoFit/>
          </a:bodyPr>
          <a:lstStyle/>
          <a:p>
            <a:pPr algn="l">
              <a:lnSpc>
                <a:spcPct val="115000"/>
              </a:lnSpc>
            </a:pPr>
            <a:r>
              <a:rPr sz="1000" b="0">
                <a:solidFill>
                  <a:srgbClr val="1E293B"/>
                </a:solidFill>
                <a:latin typeface="Calibri"/>
              </a:rPr>
              <a:t>3 - Good</a:t>
            </a:r>
          </a:p>
        </p:txBody>
      </p:sp>
      <p:sp>
        <p:nvSpPr>
          <p:cNvPr id="24" name="TextBox 23"/>
          <p:cNvSpPr txBox="1"/>
          <p:nvPr/>
        </p:nvSpPr>
        <p:spPr>
          <a:xfrm>
            <a:off x="7406640" y="4114800"/>
            <a:ext cx="1828800" cy="274320"/>
          </a:xfrm>
          <a:prstGeom prst="rect">
            <a:avLst/>
          </a:prstGeom>
          <a:noFill/>
        </p:spPr>
        <p:txBody>
          <a:bodyPr wrap="square" lIns="0" tIns="0" rIns="0" bIns="0" anchor="t">
            <a:spAutoFit/>
          </a:bodyPr>
          <a:lstStyle/>
          <a:p>
            <a:pPr algn="l">
              <a:lnSpc>
                <a:spcPct val="115000"/>
              </a:lnSpc>
            </a:pPr>
            <a:r>
              <a:rPr sz="1000" b="1">
                <a:solidFill>
                  <a:srgbClr val="475569"/>
                </a:solidFill>
                <a:latin typeface="Calibri"/>
              </a:rPr>
              <a:t>Age group</a:t>
            </a:r>
          </a:p>
        </p:txBody>
      </p:sp>
      <p:sp>
        <p:nvSpPr>
          <p:cNvPr id="25" name="Rectangle 24"/>
          <p:cNvSpPr/>
          <p:nvPr/>
        </p:nvSpPr>
        <p:spPr>
          <a:xfrm>
            <a:off x="9326880" y="4133088"/>
            <a:ext cx="1828800" cy="27432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418320" y="4151376"/>
            <a:ext cx="1645920" cy="274320"/>
          </a:xfrm>
          <a:prstGeom prst="rect">
            <a:avLst/>
          </a:prstGeom>
          <a:noFill/>
        </p:spPr>
        <p:txBody>
          <a:bodyPr wrap="square" lIns="0" tIns="0" rIns="0" bIns="0" anchor="t">
            <a:spAutoFit/>
          </a:bodyPr>
          <a:lstStyle/>
          <a:p>
            <a:pPr algn="l">
              <a:lnSpc>
                <a:spcPct val="115000"/>
              </a:lnSpc>
            </a:pPr>
            <a:r>
              <a:rPr sz="1000" b="0">
                <a:solidFill>
                  <a:srgbClr val="1E293B"/>
                </a:solidFill>
                <a:latin typeface="Calibri"/>
              </a:rPr>
              <a:t>50-54</a:t>
            </a:r>
          </a:p>
        </p:txBody>
      </p:sp>
      <p:sp>
        <p:nvSpPr>
          <p:cNvPr id="27" name="Rounded Rectangle 26"/>
          <p:cNvSpPr/>
          <p:nvPr/>
        </p:nvSpPr>
        <p:spPr>
          <a:xfrm>
            <a:off x="7406640" y="4617720"/>
            <a:ext cx="3931920" cy="457200"/>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406640" y="4727448"/>
            <a:ext cx="3931920" cy="274320"/>
          </a:xfrm>
          <a:prstGeom prst="rect">
            <a:avLst/>
          </a:prstGeom>
          <a:noFill/>
        </p:spPr>
        <p:txBody>
          <a:bodyPr wrap="square" lIns="0" tIns="0" rIns="0" bIns="0" anchor="t">
            <a:spAutoFit/>
          </a:bodyPr>
          <a:lstStyle/>
          <a:p>
            <a:pPr algn="ctr">
              <a:lnSpc>
                <a:spcPct val="115000"/>
              </a:lnSpc>
            </a:pPr>
            <a:r>
              <a:rPr sz="1200" b="1">
                <a:solidFill>
                  <a:srgbClr val="FFFFFF"/>
                </a:solidFill>
                <a:latin typeface="Calibri"/>
              </a:rPr>
              <a:t>PREDICT</a:t>
            </a:r>
          </a:p>
        </p:txBody>
      </p:sp>
      <p:sp>
        <p:nvSpPr>
          <p:cNvPr id="29" name="Rectangle 28"/>
          <p:cNvSpPr/>
          <p:nvPr/>
        </p:nvSpPr>
        <p:spPr>
          <a:xfrm>
            <a:off x="7406640" y="5257800"/>
            <a:ext cx="3931920" cy="777240"/>
          </a:xfrm>
          <a:prstGeom prst="rect">
            <a:avLst/>
          </a:prstGeom>
          <a:solidFill>
            <a:srgbClr val="F1F5F9"/>
          </a:solidFill>
          <a:ln w="952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589520" y="5349240"/>
            <a:ext cx="3657600" cy="274320"/>
          </a:xfrm>
          <a:prstGeom prst="rect">
            <a:avLst/>
          </a:prstGeom>
          <a:noFill/>
        </p:spPr>
        <p:txBody>
          <a:bodyPr wrap="square" lIns="0" tIns="0" rIns="0" bIns="0" anchor="t">
            <a:spAutoFit/>
          </a:bodyPr>
          <a:lstStyle/>
          <a:p>
            <a:pPr algn="l">
              <a:lnSpc>
                <a:spcPct val="115000"/>
              </a:lnSpc>
            </a:pPr>
            <a:r>
              <a:rPr sz="1100" b="1">
                <a:solidFill>
                  <a:srgbClr val="DC2626"/>
                </a:solidFill>
                <a:latin typeface="Calibri"/>
              </a:rPr>
              <a:t>HIGH RISK</a:t>
            </a:r>
          </a:p>
        </p:txBody>
      </p:sp>
      <p:sp>
        <p:nvSpPr>
          <p:cNvPr id="31" name="TextBox 30"/>
          <p:cNvSpPr txBox="1"/>
          <p:nvPr/>
        </p:nvSpPr>
        <p:spPr>
          <a:xfrm>
            <a:off x="7589520" y="5669280"/>
            <a:ext cx="3657600" cy="274320"/>
          </a:xfrm>
          <a:prstGeom prst="rect">
            <a:avLst/>
          </a:prstGeom>
          <a:noFill/>
        </p:spPr>
        <p:txBody>
          <a:bodyPr wrap="square" lIns="0" tIns="0" rIns="0" bIns="0" anchor="t">
            <a:spAutoFit/>
          </a:bodyPr>
          <a:lstStyle/>
          <a:p>
            <a:pPr algn="l">
              <a:lnSpc>
                <a:spcPct val="115000"/>
              </a:lnSpc>
            </a:pPr>
            <a:r>
              <a:rPr sz="1100" b="0">
                <a:solidFill>
                  <a:srgbClr val="1E293B"/>
                </a:solidFill>
                <a:latin typeface="Calibri"/>
              </a:rPr>
              <a:t>probability  68 %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6510528"/>
            <a:ext cx="7315200" cy="274320"/>
          </a:xfrm>
          <a:prstGeom prst="rect">
            <a:avLst/>
          </a:prstGeom>
          <a:noFill/>
        </p:spPr>
        <p:txBody>
          <a:bodyPr wrap="square" lIns="0" tIns="0" rIns="0" bIns="0" anchor="t">
            <a:spAutoFit/>
          </a:bodyPr>
          <a:lstStyle/>
          <a:p>
            <a:pPr algn="l">
              <a:lnSpc>
                <a:spcPct val="115000"/>
              </a:lnSpc>
            </a:pPr>
            <a:r>
              <a:rPr sz="900" b="0">
                <a:solidFill>
                  <a:srgbClr val="94A3B8"/>
                </a:solidFill>
                <a:latin typeface="Calibri"/>
              </a:rPr>
              <a:t>Diabetes Risk Prediction  ·  Intro to Data Science  ·  Sem 2</a:t>
            </a:r>
          </a:p>
        </p:txBody>
      </p:sp>
      <p:sp>
        <p:nvSpPr>
          <p:cNvPr id="4" name="TextBox 3"/>
          <p:cNvSpPr txBox="1"/>
          <p:nvPr/>
        </p:nvSpPr>
        <p:spPr>
          <a:xfrm>
            <a:off x="11094415" y="6510528"/>
            <a:ext cx="822960" cy="274320"/>
          </a:xfrm>
          <a:prstGeom prst="rect">
            <a:avLst/>
          </a:prstGeom>
          <a:noFill/>
        </p:spPr>
        <p:txBody>
          <a:bodyPr wrap="square" lIns="0" tIns="0" rIns="0" bIns="0" anchor="t">
            <a:spAutoFit/>
          </a:bodyPr>
          <a:lstStyle/>
          <a:p>
            <a:pPr algn="r">
              <a:lnSpc>
                <a:spcPct val="115000"/>
              </a:lnSpc>
            </a:pPr>
            <a:r>
              <a:rPr sz="900" b="0">
                <a:solidFill>
                  <a:srgbClr val="94A3B8"/>
                </a:solidFill>
                <a:latin typeface="Calibri"/>
              </a:rPr>
              <a:t>17 / 17</a:t>
            </a:r>
          </a:p>
        </p:txBody>
      </p:sp>
      <p:sp>
        <p:nvSpPr>
          <p:cNvPr id="5" name="TextBox 4"/>
          <p:cNvSpPr txBox="1"/>
          <p:nvPr/>
        </p:nvSpPr>
        <p:spPr>
          <a:xfrm>
            <a:off x="640080" y="502920"/>
            <a:ext cx="10972800" cy="274320"/>
          </a:xfrm>
          <a:prstGeom prst="rect">
            <a:avLst/>
          </a:prstGeom>
          <a:noFill/>
        </p:spPr>
        <p:txBody>
          <a:bodyPr wrap="square" lIns="0" tIns="0" rIns="0" bIns="0" anchor="t">
            <a:spAutoFit/>
          </a:bodyPr>
          <a:lstStyle/>
          <a:p>
            <a:pPr algn="l">
              <a:lnSpc>
                <a:spcPct val="115000"/>
              </a:lnSpc>
            </a:pPr>
            <a:r>
              <a:rPr sz="1000" b="1">
                <a:solidFill>
                  <a:srgbClr val="F59E0B"/>
                </a:solidFill>
                <a:latin typeface="Calibri"/>
              </a:rPr>
              <a:t>15  ·  WRAP-UP</a:t>
            </a:r>
          </a:p>
        </p:txBody>
      </p:sp>
      <p:sp>
        <p:nvSpPr>
          <p:cNvPr id="6" name="TextBox 5"/>
          <p:cNvSpPr txBox="1"/>
          <p:nvPr/>
        </p:nvSpPr>
        <p:spPr>
          <a:xfrm>
            <a:off x="640080" y="822960"/>
            <a:ext cx="10972800" cy="685800"/>
          </a:xfrm>
          <a:prstGeom prst="rect">
            <a:avLst/>
          </a:prstGeom>
          <a:noFill/>
        </p:spPr>
        <p:txBody>
          <a:bodyPr wrap="square" lIns="0" tIns="0" rIns="0" bIns="0" anchor="t">
            <a:spAutoFit/>
          </a:bodyPr>
          <a:lstStyle/>
          <a:p>
            <a:pPr algn="l">
              <a:lnSpc>
                <a:spcPct val="115000"/>
              </a:lnSpc>
            </a:pPr>
            <a:r>
              <a:rPr sz="2800" b="1">
                <a:solidFill>
                  <a:srgbClr val="1E293B"/>
                </a:solidFill>
                <a:latin typeface="Calibri"/>
              </a:rPr>
              <a:t>Limitations · Conclusion · Q&amp;A</a:t>
            </a:r>
          </a:p>
        </p:txBody>
      </p:sp>
      <p:sp>
        <p:nvSpPr>
          <p:cNvPr id="7" name="Rectangle 6"/>
          <p:cNvSpPr/>
          <p:nvPr/>
        </p:nvSpPr>
        <p:spPr>
          <a:xfrm>
            <a:off x="640080" y="1463040"/>
            <a:ext cx="457200" cy="45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2011680"/>
            <a:ext cx="5486400" cy="320040"/>
          </a:xfrm>
          <a:prstGeom prst="rect">
            <a:avLst/>
          </a:prstGeom>
          <a:noFill/>
        </p:spPr>
        <p:txBody>
          <a:bodyPr wrap="square" lIns="0" tIns="0" rIns="0" bIns="0" anchor="t">
            <a:spAutoFit/>
          </a:bodyPr>
          <a:lstStyle/>
          <a:p>
            <a:pPr algn="l">
              <a:lnSpc>
                <a:spcPct val="115000"/>
              </a:lnSpc>
            </a:pPr>
            <a:r>
              <a:rPr sz="1100" b="1">
                <a:solidFill>
                  <a:srgbClr val="F59E0B"/>
                </a:solidFill>
                <a:latin typeface="Calibri"/>
              </a:rPr>
              <a:t>LIMITATIONS</a:t>
            </a:r>
          </a:p>
        </p:txBody>
      </p:sp>
      <p:sp>
        <p:nvSpPr>
          <p:cNvPr id="9" name="TextBox 8"/>
          <p:cNvSpPr txBox="1"/>
          <p:nvPr/>
        </p:nvSpPr>
        <p:spPr>
          <a:xfrm>
            <a:off x="640080" y="2331720"/>
            <a:ext cx="5486400" cy="2103120"/>
          </a:xfrm>
          <a:prstGeom prst="rect">
            <a:avLst/>
          </a:prstGeom>
          <a:noFill/>
        </p:spPr>
        <p:txBody>
          <a:bodyPr wrap="square" lIns="0" tIns="0" rIns="0" bIns="0">
            <a:spAutoFit/>
          </a:bodyPr>
          <a:lstStyle/>
          <a:p>
            <a:pPr algn="l">
              <a:lnSpc>
                <a:spcPct val="135000"/>
              </a:lnSpc>
              <a:spcAft>
                <a:spcPts val="400"/>
              </a:spcAft>
            </a:pPr>
            <a:r>
              <a:rPr sz="1200" b="1">
                <a:solidFill>
                  <a:srgbClr val="DC2626"/>
                </a:solidFill>
                <a:latin typeface="Calibri"/>
              </a:rPr>
              <a:t>·  </a:t>
            </a:r>
            <a:r>
              <a:rPr sz="1200">
                <a:solidFill>
                  <a:srgbClr val="475569"/>
                </a:solidFill>
                <a:latin typeface="Calibri"/>
              </a:rPr>
              <a:t>Self-reported survey data is noisy.</a:t>
            </a:r>
          </a:p>
          <a:p>
            <a:pPr algn="l">
              <a:lnSpc>
                <a:spcPct val="135000"/>
              </a:lnSpc>
              <a:spcAft>
                <a:spcPts val="400"/>
              </a:spcAft>
            </a:pPr>
            <a:r>
              <a:rPr sz="1200" b="1">
                <a:solidFill>
                  <a:srgbClr val="DC2626"/>
                </a:solidFill>
                <a:latin typeface="Calibri"/>
              </a:rPr>
              <a:t>·  </a:t>
            </a:r>
            <a:r>
              <a:rPr sz="1200">
                <a:solidFill>
                  <a:srgbClr val="475569"/>
                </a:solidFill>
                <a:latin typeface="Calibri"/>
              </a:rPr>
              <a:t>No lab values (no HbA1c or glucose).</a:t>
            </a:r>
          </a:p>
          <a:p>
            <a:pPr algn="l">
              <a:lnSpc>
                <a:spcPct val="135000"/>
              </a:lnSpc>
              <a:spcAft>
                <a:spcPts val="400"/>
              </a:spcAft>
            </a:pPr>
            <a:r>
              <a:rPr sz="1200" b="1">
                <a:solidFill>
                  <a:srgbClr val="DC2626"/>
                </a:solidFill>
                <a:latin typeface="Calibri"/>
              </a:rPr>
              <a:t>·  </a:t>
            </a:r>
            <a:r>
              <a:rPr sz="1200">
                <a:solidFill>
                  <a:srgbClr val="475569"/>
                </a:solidFill>
                <a:latin typeface="Calibri"/>
              </a:rPr>
              <a:t>Balanced data  ≠  real-world prevalence (~14%).</a:t>
            </a:r>
          </a:p>
          <a:p>
            <a:pPr algn="l">
              <a:lnSpc>
                <a:spcPct val="135000"/>
              </a:lnSpc>
              <a:spcAft>
                <a:spcPts val="400"/>
              </a:spcAft>
            </a:pPr>
            <a:r>
              <a:rPr sz="1200" b="1">
                <a:solidFill>
                  <a:srgbClr val="DC2626"/>
                </a:solidFill>
                <a:latin typeface="Calibri"/>
              </a:rPr>
              <a:t>·  </a:t>
            </a:r>
            <a:r>
              <a:rPr sz="1200">
                <a:solidFill>
                  <a:srgbClr val="475569"/>
                </a:solidFill>
                <a:latin typeface="Calibri"/>
              </a:rPr>
              <a:t>Class 1 mixes diabetic + prediabetic.</a:t>
            </a:r>
          </a:p>
        </p:txBody>
      </p:sp>
      <p:sp>
        <p:nvSpPr>
          <p:cNvPr id="10" name="TextBox 9"/>
          <p:cNvSpPr txBox="1"/>
          <p:nvPr/>
        </p:nvSpPr>
        <p:spPr>
          <a:xfrm>
            <a:off x="640080" y="4572000"/>
            <a:ext cx="5486400" cy="320040"/>
          </a:xfrm>
          <a:prstGeom prst="rect">
            <a:avLst/>
          </a:prstGeom>
          <a:noFill/>
        </p:spPr>
        <p:txBody>
          <a:bodyPr wrap="square" lIns="0" tIns="0" rIns="0" bIns="0" anchor="t">
            <a:spAutoFit/>
          </a:bodyPr>
          <a:lstStyle/>
          <a:p>
            <a:pPr algn="l">
              <a:lnSpc>
                <a:spcPct val="115000"/>
              </a:lnSpc>
            </a:pPr>
            <a:r>
              <a:rPr sz="1100" b="1">
                <a:solidFill>
                  <a:srgbClr val="F59E0B"/>
                </a:solidFill>
                <a:latin typeface="Calibri"/>
              </a:rPr>
              <a:t>CONCLUSION</a:t>
            </a:r>
          </a:p>
        </p:txBody>
      </p:sp>
      <p:sp>
        <p:nvSpPr>
          <p:cNvPr id="11" name="TextBox 10"/>
          <p:cNvSpPr txBox="1"/>
          <p:nvPr/>
        </p:nvSpPr>
        <p:spPr>
          <a:xfrm>
            <a:off x="640080" y="4892040"/>
            <a:ext cx="5486400" cy="1828800"/>
          </a:xfrm>
          <a:prstGeom prst="rect">
            <a:avLst/>
          </a:prstGeom>
          <a:noFill/>
        </p:spPr>
        <p:txBody>
          <a:bodyPr wrap="square" lIns="0" tIns="0" rIns="0" bIns="0">
            <a:spAutoFit/>
          </a:bodyPr>
          <a:lstStyle/>
          <a:p>
            <a:pPr algn="l">
              <a:lnSpc>
                <a:spcPct val="135000"/>
              </a:lnSpc>
              <a:spcAft>
                <a:spcPts val="400"/>
              </a:spcAft>
            </a:pPr>
            <a:r>
              <a:rPr sz="1200" b="1">
                <a:solidFill>
                  <a:srgbClr val="16A34A"/>
                </a:solidFill>
                <a:latin typeface="Calibri"/>
              </a:rPr>
              <a:t>·  </a:t>
            </a:r>
            <a:r>
              <a:rPr sz="1200">
                <a:solidFill>
                  <a:srgbClr val="475569"/>
                </a:solidFill>
                <a:latin typeface="Calibri"/>
              </a:rPr>
              <a:t>Random Forest classifier  ·  74.4% test accuracy  ·  0.759 F1 score.</a:t>
            </a:r>
          </a:p>
          <a:p>
            <a:pPr algn="l">
              <a:lnSpc>
                <a:spcPct val="135000"/>
              </a:lnSpc>
              <a:spcAft>
                <a:spcPts val="400"/>
              </a:spcAft>
            </a:pPr>
            <a:r>
              <a:rPr sz="1200" b="1">
                <a:solidFill>
                  <a:srgbClr val="16A34A"/>
                </a:solidFill>
                <a:latin typeface="Calibri"/>
              </a:rPr>
              <a:t>·  </a:t>
            </a:r>
            <a:r>
              <a:rPr sz="1200">
                <a:solidFill>
                  <a:srgbClr val="475569"/>
                </a:solidFill>
                <a:latin typeface="Calibri"/>
              </a:rPr>
              <a:t>Identified 5 dominant risk factors aligned with medical literature.</a:t>
            </a:r>
          </a:p>
          <a:p>
            <a:pPr algn="l">
              <a:lnSpc>
                <a:spcPct val="135000"/>
              </a:lnSpc>
              <a:spcAft>
                <a:spcPts val="400"/>
              </a:spcAft>
            </a:pPr>
            <a:r>
              <a:rPr sz="1200" b="1">
                <a:solidFill>
                  <a:srgbClr val="16A34A"/>
                </a:solidFill>
                <a:latin typeface="Calibri"/>
              </a:rPr>
              <a:t>·  </a:t>
            </a:r>
            <a:r>
              <a:rPr sz="1200">
                <a:solidFill>
                  <a:srgbClr val="475569"/>
                </a:solidFill>
                <a:latin typeface="Calibri"/>
              </a:rPr>
              <a:t>Delivered a working web app and reproducible notebook.</a:t>
            </a:r>
          </a:p>
        </p:txBody>
      </p:sp>
      <p:sp>
        <p:nvSpPr>
          <p:cNvPr id="12" name="TextBox 11"/>
          <p:cNvSpPr txBox="1"/>
          <p:nvPr/>
        </p:nvSpPr>
        <p:spPr>
          <a:xfrm>
            <a:off x="6583680" y="2011680"/>
            <a:ext cx="5029200" cy="320040"/>
          </a:xfrm>
          <a:prstGeom prst="rect">
            <a:avLst/>
          </a:prstGeom>
          <a:noFill/>
        </p:spPr>
        <p:txBody>
          <a:bodyPr wrap="square" lIns="0" tIns="0" rIns="0" bIns="0" anchor="t">
            <a:spAutoFit/>
          </a:bodyPr>
          <a:lstStyle/>
          <a:p>
            <a:pPr algn="l">
              <a:lnSpc>
                <a:spcPct val="115000"/>
              </a:lnSpc>
            </a:pPr>
            <a:r>
              <a:rPr sz="1100" b="1">
                <a:solidFill>
                  <a:srgbClr val="F59E0B"/>
                </a:solidFill>
                <a:latin typeface="Calibri"/>
              </a:rPr>
              <a:t>LIKELY QUESTIONS</a:t>
            </a:r>
          </a:p>
        </p:txBody>
      </p:sp>
      <p:sp>
        <p:nvSpPr>
          <p:cNvPr id="13" name="TextBox 12"/>
          <p:cNvSpPr txBox="1"/>
          <p:nvPr/>
        </p:nvSpPr>
        <p:spPr>
          <a:xfrm>
            <a:off x="6583680" y="2331720"/>
            <a:ext cx="5029200" cy="274320"/>
          </a:xfrm>
          <a:prstGeom prst="rect">
            <a:avLst/>
          </a:prstGeom>
          <a:noFill/>
        </p:spPr>
        <p:txBody>
          <a:bodyPr wrap="square" lIns="0" tIns="0" rIns="0" bIns="0" anchor="t">
            <a:spAutoFit/>
          </a:bodyPr>
          <a:lstStyle/>
          <a:p>
            <a:pPr algn="l">
              <a:lnSpc>
                <a:spcPct val="115000"/>
              </a:lnSpc>
            </a:pPr>
            <a:r>
              <a:rPr sz="1000" b="1">
                <a:solidFill>
                  <a:srgbClr val="1E293B"/>
                </a:solidFill>
                <a:latin typeface="Calibri"/>
              </a:rPr>
              <a:t>Why Random Forest over Logistic Reg?</a:t>
            </a:r>
          </a:p>
        </p:txBody>
      </p:sp>
      <p:sp>
        <p:nvSpPr>
          <p:cNvPr id="14" name="TextBox 13"/>
          <p:cNvSpPr txBox="1"/>
          <p:nvPr/>
        </p:nvSpPr>
        <p:spPr>
          <a:xfrm>
            <a:off x="6583680" y="2587752"/>
            <a:ext cx="5029200" cy="274320"/>
          </a:xfrm>
          <a:prstGeom prst="rect">
            <a:avLst/>
          </a:prstGeom>
          <a:noFill/>
        </p:spPr>
        <p:txBody>
          <a:bodyPr wrap="square" lIns="0" tIns="0" rIns="0" bIns="0" anchor="t">
            <a:spAutoFit/>
          </a:bodyPr>
          <a:lstStyle/>
          <a:p>
            <a:pPr algn="l">
              <a:lnSpc>
                <a:spcPct val="115000"/>
              </a:lnSpc>
            </a:pPr>
            <a:r>
              <a:rPr sz="1000" b="0">
                <a:solidFill>
                  <a:srgbClr val="475569"/>
                </a:solidFill>
                <a:latin typeface="Calibri"/>
              </a:rPr>
              <a:t>Best F1 + feature importance for free.</a:t>
            </a:r>
          </a:p>
        </p:txBody>
      </p:sp>
      <p:sp>
        <p:nvSpPr>
          <p:cNvPr id="15" name="TextBox 14"/>
          <p:cNvSpPr txBox="1"/>
          <p:nvPr/>
        </p:nvSpPr>
        <p:spPr>
          <a:xfrm>
            <a:off x="6583680" y="2971800"/>
            <a:ext cx="5029200" cy="274320"/>
          </a:xfrm>
          <a:prstGeom prst="rect">
            <a:avLst/>
          </a:prstGeom>
          <a:noFill/>
        </p:spPr>
        <p:txBody>
          <a:bodyPr wrap="square" lIns="0" tIns="0" rIns="0" bIns="0" anchor="t">
            <a:spAutoFit/>
          </a:bodyPr>
          <a:lstStyle/>
          <a:p>
            <a:pPr algn="l">
              <a:lnSpc>
                <a:spcPct val="115000"/>
              </a:lnSpc>
            </a:pPr>
            <a:r>
              <a:rPr sz="1000" b="1">
                <a:solidFill>
                  <a:srgbClr val="1E293B"/>
                </a:solidFill>
                <a:latin typeface="Calibri"/>
              </a:rPr>
              <a:t>Why only 74% accuracy?</a:t>
            </a:r>
          </a:p>
        </p:txBody>
      </p:sp>
      <p:sp>
        <p:nvSpPr>
          <p:cNvPr id="16" name="TextBox 15"/>
          <p:cNvSpPr txBox="1"/>
          <p:nvPr/>
        </p:nvSpPr>
        <p:spPr>
          <a:xfrm>
            <a:off x="6583680" y="3227832"/>
            <a:ext cx="5029200" cy="274320"/>
          </a:xfrm>
          <a:prstGeom prst="rect">
            <a:avLst/>
          </a:prstGeom>
          <a:noFill/>
        </p:spPr>
        <p:txBody>
          <a:bodyPr wrap="square" lIns="0" tIns="0" rIns="0" bIns="0" anchor="t">
            <a:spAutoFit/>
          </a:bodyPr>
          <a:lstStyle/>
          <a:p>
            <a:pPr algn="l">
              <a:lnSpc>
                <a:spcPct val="115000"/>
              </a:lnSpc>
            </a:pPr>
            <a:r>
              <a:rPr sz="1000" b="0">
                <a:solidFill>
                  <a:srgbClr val="475569"/>
                </a:solidFill>
                <a:latin typeface="Calibri"/>
              </a:rPr>
              <a:t>Self-reported data caps it; matches published research.</a:t>
            </a:r>
          </a:p>
        </p:txBody>
      </p:sp>
      <p:sp>
        <p:nvSpPr>
          <p:cNvPr id="17" name="TextBox 16"/>
          <p:cNvSpPr txBox="1"/>
          <p:nvPr/>
        </p:nvSpPr>
        <p:spPr>
          <a:xfrm>
            <a:off x="6583680" y="3611880"/>
            <a:ext cx="5029200" cy="274320"/>
          </a:xfrm>
          <a:prstGeom prst="rect">
            <a:avLst/>
          </a:prstGeom>
          <a:noFill/>
        </p:spPr>
        <p:txBody>
          <a:bodyPr wrap="square" lIns="0" tIns="0" rIns="0" bIns="0" anchor="t">
            <a:spAutoFit/>
          </a:bodyPr>
          <a:lstStyle/>
          <a:p>
            <a:pPr algn="l">
              <a:lnSpc>
                <a:spcPct val="115000"/>
              </a:lnSpc>
            </a:pPr>
            <a:r>
              <a:rPr sz="1000" b="1">
                <a:solidFill>
                  <a:srgbClr val="1E293B"/>
                </a:solidFill>
                <a:latin typeface="Calibri"/>
              </a:rPr>
              <a:t>Why drop duplicates?</a:t>
            </a:r>
          </a:p>
        </p:txBody>
      </p:sp>
      <p:sp>
        <p:nvSpPr>
          <p:cNvPr id="18" name="TextBox 17"/>
          <p:cNvSpPr txBox="1"/>
          <p:nvPr/>
        </p:nvSpPr>
        <p:spPr>
          <a:xfrm>
            <a:off x="6583680" y="3867912"/>
            <a:ext cx="5029200" cy="274320"/>
          </a:xfrm>
          <a:prstGeom prst="rect">
            <a:avLst/>
          </a:prstGeom>
          <a:noFill/>
        </p:spPr>
        <p:txBody>
          <a:bodyPr wrap="square" lIns="0" tIns="0" rIns="0" bIns="0" anchor="t">
            <a:spAutoFit/>
          </a:bodyPr>
          <a:lstStyle/>
          <a:p>
            <a:pPr algn="l">
              <a:lnSpc>
                <a:spcPct val="115000"/>
              </a:lnSpc>
            </a:pPr>
            <a:r>
              <a:rPr sz="1000" b="0">
                <a:solidFill>
                  <a:srgbClr val="475569"/>
                </a:solidFill>
                <a:latin typeface="Calibri"/>
              </a:rPr>
              <a:t>Prevents test-set inflation (data leakage).</a:t>
            </a:r>
          </a:p>
        </p:txBody>
      </p:sp>
      <p:sp>
        <p:nvSpPr>
          <p:cNvPr id="19" name="TextBox 18"/>
          <p:cNvSpPr txBox="1"/>
          <p:nvPr/>
        </p:nvSpPr>
        <p:spPr>
          <a:xfrm>
            <a:off x="6583680" y="4251960"/>
            <a:ext cx="5029200" cy="274320"/>
          </a:xfrm>
          <a:prstGeom prst="rect">
            <a:avLst/>
          </a:prstGeom>
          <a:noFill/>
        </p:spPr>
        <p:txBody>
          <a:bodyPr wrap="square" lIns="0" tIns="0" rIns="0" bIns="0" anchor="t">
            <a:spAutoFit/>
          </a:bodyPr>
          <a:lstStyle/>
          <a:p>
            <a:pPr algn="l">
              <a:lnSpc>
                <a:spcPct val="115000"/>
              </a:lnSpc>
            </a:pPr>
            <a:r>
              <a:rPr sz="1000" b="1">
                <a:solidFill>
                  <a:srgbClr val="1E293B"/>
                </a:solidFill>
                <a:latin typeface="Calibri"/>
              </a:rPr>
              <a:t>Supervised or unsupervised?</a:t>
            </a:r>
          </a:p>
        </p:txBody>
      </p:sp>
      <p:sp>
        <p:nvSpPr>
          <p:cNvPr id="20" name="TextBox 19"/>
          <p:cNvSpPr txBox="1"/>
          <p:nvPr/>
        </p:nvSpPr>
        <p:spPr>
          <a:xfrm>
            <a:off x="6583680" y="4507992"/>
            <a:ext cx="5029200" cy="274320"/>
          </a:xfrm>
          <a:prstGeom prst="rect">
            <a:avLst/>
          </a:prstGeom>
          <a:noFill/>
        </p:spPr>
        <p:txBody>
          <a:bodyPr wrap="square" lIns="0" tIns="0" rIns="0" bIns="0" anchor="t">
            <a:spAutoFit/>
          </a:bodyPr>
          <a:lstStyle/>
          <a:p>
            <a:pPr algn="l">
              <a:lnSpc>
                <a:spcPct val="115000"/>
              </a:lnSpc>
            </a:pPr>
            <a:r>
              <a:rPr sz="1000" b="0">
                <a:solidFill>
                  <a:srgbClr val="475569"/>
                </a:solidFill>
                <a:latin typeface="Calibri"/>
              </a:rPr>
              <a:t>Supervised - target is labeled 0 / 1.</a:t>
            </a:r>
          </a:p>
        </p:txBody>
      </p:sp>
      <p:sp>
        <p:nvSpPr>
          <p:cNvPr id="21" name="TextBox 20"/>
          <p:cNvSpPr txBox="1"/>
          <p:nvPr/>
        </p:nvSpPr>
        <p:spPr>
          <a:xfrm>
            <a:off x="6583680" y="4892040"/>
            <a:ext cx="5029200" cy="274320"/>
          </a:xfrm>
          <a:prstGeom prst="rect">
            <a:avLst/>
          </a:prstGeom>
          <a:noFill/>
        </p:spPr>
        <p:txBody>
          <a:bodyPr wrap="square" lIns="0" tIns="0" rIns="0" bIns="0" anchor="t">
            <a:spAutoFit/>
          </a:bodyPr>
          <a:lstStyle/>
          <a:p>
            <a:pPr algn="l">
              <a:lnSpc>
                <a:spcPct val="115000"/>
              </a:lnSpc>
            </a:pPr>
            <a:r>
              <a:rPr sz="1000" b="1">
                <a:solidFill>
                  <a:srgbClr val="1E293B"/>
                </a:solidFill>
                <a:latin typeface="Calibri"/>
              </a:rPr>
              <a:t>How would you improve it?</a:t>
            </a:r>
          </a:p>
        </p:txBody>
      </p:sp>
      <p:sp>
        <p:nvSpPr>
          <p:cNvPr id="22" name="TextBox 21"/>
          <p:cNvSpPr txBox="1"/>
          <p:nvPr/>
        </p:nvSpPr>
        <p:spPr>
          <a:xfrm>
            <a:off x="6583680" y="5148072"/>
            <a:ext cx="5029200" cy="274320"/>
          </a:xfrm>
          <a:prstGeom prst="rect">
            <a:avLst/>
          </a:prstGeom>
          <a:noFill/>
        </p:spPr>
        <p:txBody>
          <a:bodyPr wrap="square" lIns="0" tIns="0" rIns="0" bIns="0" anchor="t">
            <a:spAutoFit/>
          </a:bodyPr>
          <a:lstStyle/>
          <a:p>
            <a:pPr algn="l">
              <a:lnSpc>
                <a:spcPct val="115000"/>
              </a:lnSpc>
            </a:pPr>
            <a:r>
              <a:rPr sz="1000" b="0">
                <a:solidFill>
                  <a:srgbClr val="475569"/>
                </a:solidFill>
                <a:latin typeface="Calibri"/>
              </a:rPr>
              <a:t>Add lab values · try XGBoost · tune hyperparameters.</a:t>
            </a:r>
          </a:p>
        </p:txBody>
      </p:sp>
      <p:sp>
        <p:nvSpPr>
          <p:cNvPr id="23" name="Rounded Rectangle 22"/>
          <p:cNvSpPr/>
          <p:nvPr/>
        </p:nvSpPr>
        <p:spPr>
          <a:xfrm>
            <a:off x="640080" y="5943600"/>
            <a:ext cx="10972800" cy="411480"/>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0080" y="6035040"/>
            <a:ext cx="10972800" cy="233205"/>
          </a:xfrm>
          <a:prstGeom prst="rect">
            <a:avLst/>
          </a:prstGeom>
          <a:noFill/>
        </p:spPr>
        <p:txBody>
          <a:bodyPr wrap="square" lIns="0" tIns="0" rIns="0" bIns="0" anchor="t">
            <a:spAutoFit/>
          </a:bodyPr>
          <a:lstStyle/>
          <a:p>
            <a:pPr algn="ctr">
              <a:lnSpc>
                <a:spcPct val="115000"/>
              </a:lnSpc>
            </a:pPr>
            <a:r>
              <a:rPr sz="1400" b="1" dirty="0">
                <a:solidFill>
                  <a:srgbClr val="FFFFFF"/>
                </a:solidFill>
                <a:latin typeface="Calibri"/>
              </a:rPr>
              <a:t>Thank you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TotalTime>
  <Words>2116</Words>
  <Application>Microsoft Office PowerPoint</Application>
  <PresentationFormat>Widescreen</PresentationFormat>
  <Paragraphs>349</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muhammad anma</cp:lastModifiedBy>
  <cp:revision>4</cp:revision>
  <dcterms:created xsi:type="dcterms:W3CDTF">2013-01-27T09:14:16Z</dcterms:created>
  <dcterms:modified xsi:type="dcterms:W3CDTF">2026-06-23T13:33:15Z</dcterms:modified>
  <cp:category/>
</cp:coreProperties>
</file>